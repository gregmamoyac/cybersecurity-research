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7"/>
  </p:notesMasterIdLst>
  <p:handoutMasterIdLst>
    <p:handoutMasterId r:id="rId18"/>
  </p:handoutMasterIdLst>
  <p:sldIdLst>
    <p:sldId id="256" r:id="rId5"/>
    <p:sldId id="277" r:id="rId6"/>
    <p:sldId id="289" r:id="rId7"/>
    <p:sldId id="266" r:id="rId8"/>
    <p:sldId id="282" r:id="rId9"/>
    <p:sldId id="290" r:id="rId10"/>
    <p:sldId id="293" r:id="rId11"/>
    <p:sldId id="264" r:id="rId12"/>
    <p:sldId id="295" r:id="rId13"/>
    <p:sldId id="298" r:id="rId14"/>
    <p:sldId id="29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7465" autoAdjust="0"/>
  </p:normalViewPr>
  <p:slideViewPr>
    <p:cSldViewPr snapToGrid="0">
      <p:cViewPr varScale="1">
        <p:scale>
          <a:sx n="68" d="100"/>
          <a:sy n="68" d="100"/>
        </p:scale>
        <p:origin x="744" y="60"/>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12/1/2024</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12/1/2024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is on the cybersecurity breach surrounding RSA</a:t>
            </a:r>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2667770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sz="1800" b="0" dirty="0">
                <a:latin typeface="Segoe Pro" panose="020B0502040504020203" pitchFamily="34" charset="0"/>
                <a:ea typeface="Segoe UI" panose="020B0502040204020203" pitchFamily="34" charset="0"/>
                <a:cs typeface="Segoe UI" panose="020B0502040204020203" pitchFamily="34" charset="0"/>
              </a:rPr>
              <a:t>RSA was founded by Ron Rivest, Adi Shamir, and Leonard Adleman</a:t>
            </a:r>
          </a:p>
          <a:p>
            <a:pPr marL="285750" indent="-285750">
              <a:buFont typeface="Arial" panose="020B0604020202020204" pitchFamily="34" charset="0"/>
              <a:buChar char="•"/>
            </a:pPr>
            <a:endParaRPr lang="en-US" sz="1800" b="0" dirty="0">
              <a:latin typeface="Segoe Pro" panose="020B0502040504020203" pitchFamily="34" charset="0"/>
              <a:ea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800" b="0" dirty="0">
                <a:latin typeface="Segoe Pro" panose="020B0502040504020203" pitchFamily="34" charset="0"/>
                <a:ea typeface="Segoe UI" panose="020B0502040204020203" pitchFamily="34" charset="0"/>
                <a:cs typeface="Segoe UI" panose="020B0502040204020203" pitchFamily="34" charset="0"/>
              </a:rPr>
              <a:t>The company found the RSA public key cryptography algorithm and are most famous for the SecureID token fobs that generate pins for 2 factor authentication</a:t>
            </a:r>
          </a:p>
          <a:p>
            <a:pPr marL="285750" indent="-285750">
              <a:buFont typeface="Arial" panose="020B0604020202020204" pitchFamily="34" charset="0"/>
              <a:buChar char="•"/>
            </a:pPr>
            <a:endParaRPr lang="en-US" sz="1800" b="0" dirty="0">
              <a:latin typeface="Segoe Pro" panose="020B0502040504020203" pitchFamily="34" charset="0"/>
              <a:ea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800" b="0" dirty="0">
                <a:latin typeface="Segoe Pro" panose="020B0502040504020203" pitchFamily="34" charset="0"/>
                <a:ea typeface="Segoe UI" panose="020B0502040204020203" pitchFamily="34" charset="0"/>
                <a:cs typeface="Segoe UI" panose="020B0502040204020203" pitchFamily="34" charset="0"/>
              </a:rPr>
              <a:t>RSA also offers cybersecurity and digital risk management solutions as well as authentication services like the SecureID tokens for all work environment types</a:t>
            </a:r>
          </a:p>
          <a:p>
            <a:pPr marL="285750" indent="-285750">
              <a:buFont typeface="Arial" panose="020B0604020202020204" pitchFamily="34" charset="0"/>
              <a:buChar char="•"/>
            </a:pPr>
            <a:endParaRPr lang="en-US" sz="1800" b="0" dirty="0">
              <a:latin typeface="Segoe Pro" panose="020B0502040504020203" pitchFamily="34" charset="0"/>
              <a:ea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800" b="0" dirty="0">
                <a:latin typeface="Segoe Pro" panose="020B0502040504020203" pitchFamily="34" charset="0"/>
                <a:ea typeface="Segoe UI" panose="020B0502040204020203" pitchFamily="34" charset="0"/>
                <a:cs typeface="Segoe UI" panose="020B0502040204020203" pitchFamily="34" charset="0"/>
              </a:rPr>
              <a:t>Clients include government contractors and defense contractors like Northrup Grumman and Lockheed Martin</a:t>
            </a:r>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dirty="0"/>
          </a:p>
        </p:txBody>
      </p:sp>
    </p:spTree>
    <p:extLst>
      <p:ext uri="{BB962C8B-B14F-4D97-AF65-F5344CB8AC3E}">
        <p14:creationId xmlns:p14="http://schemas.microsoft.com/office/powerpoint/2010/main" val="1264012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dirty="0"/>
              <a:t>In March 2011, engineers at RSA noticed that accounts were being logged into from unassociated workstation IPs and then determined that they were infiltrated and linked the breach to an email account in Australia.</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0" dirty="0"/>
              <a:t>They discovered the Poison Ivy payload that was planted via Adobe Flash content embedded in the swift file of an Excel spreadsheet, enabling privileged escalation and continuous access through backdoor.</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0" dirty="0"/>
              <a:t>It was concluded that the Chinese Army aka APT-1 infiltrated the company’s root authority to access the secret seeds from the root servers in their network.</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0" dirty="0"/>
              <a:t>These secret seeds were used in the creation of all pins used in the SecureID tokens</a:t>
            </a:r>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3114559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dirty="0"/>
              <a:t>The Description of the Attack consists of an overview of the methods the attackers used against RSA.</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0" dirty="0"/>
              <a:t>The first attack vector was Phishing. And this allowed for the attackers’ entry point. After the employee was properly deceived, the attackers executed a hidden payload and in this case, within a excel spreadsheet entitled “2011 Recruitment Plan”.</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0" dirty="0"/>
              <a:t>Once inside the network, they were able to escalate vertically to more and more privileged accounts until they found an admin user account with hundreds of usernames and passwords. </a:t>
            </a:r>
          </a:p>
          <a:p>
            <a:pPr marL="171450" indent="-171450">
              <a:buFont typeface="Arial" panose="020B0604020202020204" pitchFamily="34" charset="0"/>
              <a:buChar char="•"/>
            </a:pPr>
            <a:r>
              <a:rPr lang="en-US" b="0" dirty="0"/>
              <a:t>To do this they used a credential-stealing hopscotch tool that pulled the sensitive information and reused it to log into the other machines.</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0" dirty="0"/>
              <a:t>The major damage of the attack, however, came from the supply chain failure of an unpatched workstation used for manufacturing in Australia.</a:t>
            </a:r>
          </a:p>
          <a:p>
            <a:pPr marL="171450" indent="-171450">
              <a:buFont typeface="Arial" panose="020B0604020202020204" pitchFamily="34" charset="0"/>
              <a:buChar char="•"/>
            </a:pPr>
            <a:r>
              <a:rPr lang="en-US" b="0" dirty="0"/>
              <a:t>Also, this led to the escalation of the root servers that stored seeds for the SecureID pins. These root server operated for manufacturing </a:t>
            </a:r>
            <a:r>
              <a:rPr lang="en-US" b="0" dirty="0" err="1"/>
              <a:t>secureID</a:t>
            </a:r>
            <a:r>
              <a:rPr lang="en-US" b="0" dirty="0"/>
              <a:t> tokens and </a:t>
            </a:r>
            <a:r>
              <a:rPr lang="en-US" b="0" dirty="0" err="1"/>
              <a:t>cds</a:t>
            </a:r>
            <a:r>
              <a:rPr lang="en-US" b="0" dirty="0"/>
              <a:t> that’s were distributed to customers. </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0" dirty="0"/>
              <a:t>While security best practices rule that these types of servers should be </a:t>
            </a:r>
            <a:r>
              <a:rPr lang="en-US" b="0" dirty="0" err="1"/>
              <a:t>airgapped</a:t>
            </a:r>
            <a:r>
              <a:rPr lang="en-US" b="0" dirty="0"/>
              <a:t> and disconnected from the network entirely, they were accessed regularly during manufacturing. </a:t>
            </a:r>
          </a:p>
          <a:p>
            <a:pPr marL="171450" indent="-171450">
              <a:buFont typeface="Arial" panose="020B0604020202020204" pitchFamily="34" charset="0"/>
              <a:buChar char="•"/>
            </a:pPr>
            <a:r>
              <a:rPr lang="en-US" b="0" dirty="0"/>
              <a:t>However, the regular 15 minutes manufacturing intervals became thousands of continuous requests for data every second during the breach.</a:t>
            </a:r>
          </a:p>
          <a:p>
            <a:endParaRPr lang="en-US" b="0" dirty="0"/>
          </a:p>
        </p:txBody>
      </p:sp>
      <p:sp>
        <p:nvSpPr>
          <p:cNvPr id="4" name="Slide Number Placeholder 3"/>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2498430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121512"/>
                </a:solidFill>
                <a:effectLst/>
                <a:latin typeface="-apple-system"/>
              </a:rPr>
              <a:t>The breach was ultimately exploited through the zero day vulnerability, enumerated in Security Advisory for Adobe Flash CVE-2011-0609</a:t>
            </a:r>
          </a:p>
          <a:p>
            <a:pPr algn="l">
              <a:buFont typeface="Arial" panose="020B0604020202020204" pitchFamily="34" charset="0"/>
              <a:buChar char="•"/>
            </a:pPr>
            <a:endParaRPr lang="en-US" b="0" i="0" dirty="0">
              <a:solidFill>
                <a:srgbClr val="121512"/>
              </a:solidFill>
              <a:effectLst/>
              <a:latin typeface="-apple-system"/>
            </a:endParaRPr>
          </a:p>
          <a:p>
            <a:pPr algn="l">
              <a:buFont typeface="Arial" panose="020B0604020202020204" pitchFamily="34" charset="0"/>
              <a:buChar char="•"/>
            </a:pPr>
            <a:r>
              <a:rPr lang="en-US" b="0" i="0" dirty="0">
                <a:solidFill>
                  <a:srgbClr val="121512"/>
                </a:solidFill>
                <a:effectLst/>
                <a:latin typeface="-apple-system"/>
              </a:rPr>
              <a:t>NIST rated the exploit with a CVSS base score of 7.8 High </a:t>
            </a:r>
          </a:p>
          <a:p>
            <a:pPr algn="l">
              <a:buFont typeface="Arial" panose="020B0604020202020204" pitchFamily="34" charset="0"/>
              <a:buChar char="•"/>
            </a:pPr>
            <a:endParaRPr lang="en-US" b="0" i="0" dirty="0">
              <a:solidFill>
                <a:srgbClr val="121512"/>
              </a:solidFill>
              <a:effectLst/>
              <a:latin typeface="-apple-system"/>
            </a:endParaRPr>
          </a:p>
          <a:p>
            <a:pPr algn="l">
              <a:buFont typeface="Arial" panose="020B0604020202020204" pitchFamily="34" charset="0"/>
              <a:buChar char="•"/>
            </a:pPr>
            <a:r>
              <a:rPr lang="en-US" b="0" i="0" dirty="0">
                <a:solidFill>
                  <a:srgbClr val="121512"/>
                </a:solidFill>
                <a:effectLst/>
                <a:latin typeface="-apple-system"/>
              </a:rPr>
              <a:t>And describes that it allowed remote attackers to execute arbitrary code or cause a Denial of Service via the flash content and backdoor embedded in Excel</a:t>
            </a:r>
          </a:p>
          <a:p>
            <a:pPr algn="l">
              <a:buFont typeface="Arial" panose="020B0604020202020204" pitchFamily="34" charset="0"/>
              <a:buChar char="•"/>
            </a:pPr>
            <a:endParaRPr lang="en-US" b="0" i="0" dirty="0">
              <a:solidFill>
                <a:srgbClr val="121512"/>
              </a:solidFill>
              <a:effectLst/>
              <a:latin typeface="-apple-system"/>
            </a:endParaRPr>
          </a:p>
          <a:p>
            <a:pPr algn="l">
              <a:buFont typeface="Arial" panose="020B0604020202020204" pitchFamily="34" charset="0"/>
              <a:buChar char="•"/>
            </a:pPr>
            <a:endParaRPr lang="en-US" b="0" i="0" dirty="0">
              <a:solidFill>
                <a:srgbClr val="121512"/>
              </a:solidFill>
              <a:effectLst/>
              <a:latin typeface="-apple-system"/>
            </a:endParaRPr>
          </a:p>
          <a:p>
            <a:pPr algn="l">
              <a:buFont typeface="Arial" panose="020B0604020202020204" pitchFamily="34" charset="0"/>
              <a:buChar char="•"/>
            </a:pPr>
            <a:endParaRPr lang="en-US" b="0" i="0" dirty="0">
              <a:solidFill>
                <a:srgbClr val="121512"/>
              </a:solidFill>
              <a:effectLst/>
              <a:latin typeface="-apple-system"/>
            </a:endParaRPr>
          </a:p>
          <a:p>
            <a:pPr marL="0" indent="0">
              <a:buFont typeface="Arial" panose="020B0604020202020204" pitchFamily="34" charset="0"/>
              <a:buNone/>
            </a:pPr>
            <a:endParaRPr lang="en-US" sz="1200" b="0" dirty="0">
              <a:latin typeface="Segoe Pro" panose="020B0502040504020203" pitchFamily="34" charset="0"/>
              <a:ea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3985118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endParaRPr lang="en-US" sz="1200" b="0" dirty="0">
              <a:latin typeface="Segoe Pro" panose="020B0502040504020203" pitchFamily="34" charset="0"/>
              <a:ea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200" b="0" dirty="0">
                <a:latin typeface="Segoe Pro" panose="020B0502040504020203" pitchFamily="34" charset="0"/>
                <a:ea typeface="Segoe UI" panose="020B0502040204020203" pitchFamily="34" charset="0"/>
                <a:cs typeface="Segoe UI" panose="020B0502040204020203" pitchFamily="34" charset="0"/>
              </a:rPr>
              <a:t>The description of the attack is shown through proof of concept. This is a </a:t>
            </a:r>
            <a:r>
              <a:rPr lang="en-US" sz="1200" b="0" dirty="0" err="1">
                <a:latin typeface="Segoe Pro" panose="020B0502040504020203" pitchFamily="34" charset="0"/>
                <a:ea typeface="Segoe UI" panose="020B0502040204020203" pitchFamily="34" charset="0"/>
                <a:cs typeface="Segoe UI" panose="020B0502040204020203" pitchFamily="34" charset="0"/>
              </a:rPr>
              <a:t>decompiler</a:t>
            </a:r>
            <a:r>
              <a:rPr lang="en-US" sz="1200" b="0" dirty="0">
                <a:latin typeface="Segoe Pro" panose="020B0502040504020203" pitchFamily="34" charset="0"/>
                <a:ea typeface="Segoe UI" panose="020B0502040204020203" pitchFamily="34" charset="0"/>
                <a:cs typeface="Segoe UI" panose="020B0502040204020203" pitchFamily="34" charset="0"/>
              </a:rPr>
              <a:t> output of a swift file like the one found in the RSA breach. </a:t>
            </a:r>
          </a:p>
          <a:p>
            <a:pPr marL="285750" indent="-285750">
              <a:buFont typeface="Arial" panose="020B0604020202020204" pitchFamily="34" charset="0"/>
              <a:buChar char="•"/>
            </a:pPr>
            <a:endParaRPr lang="en-US" sz="1200" b="0" dirty="0">
              <a:latin typeface="Segoe Pro" panose="020B0502040504020203" pitchFamily="34" charset="0"/>
              <a:ea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200" b="0" dirty="0">
                <a:latin typeface="Segoe Pro" panose="020B0502040504020203" pitchFamily="34" charset="0"/>
                <a:ea typeface="Segoe UI" panose="020B0502040204020203" pitchFamily="34" charset="0"/>
                <a:cs typeface="Segoe UI" panose="020B0502040204020203" pitchFamily="34" charset="0"/>
              </a:rPr>
              <a:t>The attacker begins by using one-byte alteration or fuzzing to cause an Access Violation that displays the register for EAX and other registers of the swift file.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Segoe Pro" panose="020B0502040504020203" pitchFamily="34" charset="0"/>
                <a:ea typeface="Segoe UI" panose="020B0502040204020203" pitchFamily="34" charset="0"/>
                <a:cs typeface="Segoe UI" panose="020B0502040204020203" pitchFamily="34" charset="0"/>
              </a:rPr>
              <a:t>The fuzzing is done through random data input consisting of well-formed bytecode streams or “NOP sled” to expose adjacent memory.</a:t>
            </a:r>
          </a:p>
          <a:p>
            <a:pPr marL="742950" lvl="1" indent="-285750">
              <a:buFont typeface="Arial" panose="020B0604020202020204" pitchFamily="34" charset="0"/>
              <a:buChar char="•"/>
            </a:pPr>
            <a:endParaRPr lang="en-US" sz="1200" b="0" dirty="0">
              <a:latin typeface="Segoe Pro" panose="020B0502040504020203" pitchFamily="34" charset="0"/>
              <a:ea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200" b="0" dirty="0">
                <a:latin typeface="Segoe Pro" panose="020B0502040504020203" pitchFamily="34" charset="0"/>
                <a:ea typeface="Segoe UI" panose="020B0502040204020203" pitchFamily="34" charset="0"/>
                <a:cs typeface="Segoe UI" panose="020B0502040204020203" pitchFamily="34" charset="0"/>
              </a:rPr>
              <a:t>Once the bytecode stream passes the program’s verification process, native code is generated and placed in </a:t>
            </a:r>
            <a:r>
              <a:rPr lang="en-US" sz="1200" b="0" dirty="0" err="1">
                <a:latin typeface="Segoe Pro" panose="020B0502040504020203" pitchFamily="34" charset="0"/>
                <a:ea typeface="Segoe UI" panose="020B0502040204020203" pitchFamily="34" charset="0"/>
                <a:cs typeface="Segoe UI" panose="020B0502040204020203" pitchFamily="34" charset="0"/>
              </a:rPr>
              <a:t>VirtualAlloc</a:t>
            </a:r>
            <a:r>
              <a:rPr lang="en-US" sz="1200" b="0" dirty="0">
                <a:latin typeface="Segoe Pro" panose="020B0502040504020203" pitchFamily="34" charset="0"/>
                <a:ea typeface="Segoe UI" panose="020B0502040204020203" pitchFamily="34" charset="0"/>
                <a:cs typeface="Segoe UI" panose="020B0502040204020203" pitchFamily="34" charset="0"/>
              </a:rPr>
              <a:t>()'d executable memory. </a:t>
            </a:r>
          </a:p>
          <a:p>
            <a:pPr marL="285750" indent="-285750">
              <a:buFont typeface="Arial" panose="020B0604020202020204" pitchFamily="34" charset="0"/>
              <a:buChar char="•"/>
            </a:pPr>
            <a:r>
              <a:rPr lang="en-US" sz="1200" b="0" dirty="0">
                <a:latin typeface="Segoe Pro" panose="020B0502040504020203" pitchFamily="34" charset="0"/>
                <a:ea typeface="Segoe UI" panose="020B0502040204020203" pitchFamily="34" charset="0"/>
                <a:cs typeface="Segoe UI" panose="020B0502040204020203" pitchFamily="34" charset="0"/>
              </a:rPr>
              <a:t>The results of the execution reveal uninitialized memory spaces that the attacker can take advantage of through </a:t>
            </a:r>
            <a:r>
              <a:rPr lang="en-US" sz="1200" b="0" dirty="0" err="1">
                <a:latin typeface="Segoe Pro" panose="020B0502040504020203" pitchFamily="34" charset="0"/>
                <a:ea typeface="Segoe UI" panose="020B0502040204020203" pitchFamily="34" charset="0"/>
                <a:cs typeface="Segoe UI" panose="020B0502040204020203" pitchFamily="34" charset="0"/>
              </a:rPr>
              <a:t>heapspraying</a:t>
            </a:r>
            <a:r>
              <a:rPr lang="en-US" sz="1200" b="0" dirty="0">
                <a:latin typeface="Segoe Pro" panose="020B0502040504020203" pitchFamily="34" charset="0"/>
                <a:ea typeface="Segoe UI" panose="020B0502040204020203" pitchFamily="34" charset="0"/>
                <a:cs typeface="Segoe UI" panose="020B0502040204020203" pitchFamily="34" charset="0"/>
              </a:rPr>
              <a:t> and eventually arbitrary code execution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dirty="0">
                <a:latin typeface="Segoe Pro" panose="020B0502040504020203" pitchFamily="34" charset="0"/>
                <a:ea typeface="Segoe UI" panose="020B0502040204020203" pitchFamily="34" charset="0"/>
                <a:cs typeface="Segoe UI" panose="020B0502040204020203" pitchFamily="34" charset="0"/>
              </a:rPr>
              <a:t>The uninitialized memory is denoted by the green question marks at </a:t>
            </a:r>
            <a:r>
              <a:rPr lang="en-US" b="0" i="0" dirty="0">
                <a:solidFill>
                  <a:srgbClr val="121512"/>
                </a:solidFill>
                <a:effectLst/>
                <a:latin typeface="ui-monospace"/>
              </a:rPr>
              <a:t>the location ending 27F9B</a:t>
            </a:r>
            <a:endParaRPr lang="en-US" sz="1200" b="0" dirty="0">
              <a:latin typeface="Segoe Pro" panose="020B0502040504020203" pitchFamily="34" charset="0"/>
              <a:ea typeface="Segoe UI" panose="020B0502040204020203" pitchFamily="34" charset="0"/>
              <a:cs typeface="Segoe UI" panose="020B0502040204020203" pitchFamily="34" charset="0"/>
            </a:endParaRPr>
          </a:p>
          <a:p>
            <a:pPr marL="0" indent="0">
              <a:buFont typeface="Arial" panose="020B0604020202020204" pitchFamily="34" charset="0"/>
              <a:buNone/>
            </a:pPr>
            <a:endParaRPr lang="en-US" sz="1200" b="0" dirty="0">
              <a:latin typeface="Segoe Pro" panose="020B0502040504020203" pitchFamily="34" charset="0"/>
              <a:ea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200" b="0" dirty="0">
                <a:latin typeface="Segoe Pro" panose="020B0502040504020203" pitchFamily="34" charset="0"/>
                <a:ea typeface="Segoe UI" panose="020B0502040204020203" pitchFamily="34" charset="0"/>
                <a:cs typeface="Segoe UI" panose="020B0502040204020203" pitchFamily="34" charset="0"/>
              </a:rPr>
              <a:t>During this exploit, more reconnaissance can be seen near the EAX register and adjacent memory locations displayed by the EIP instruction pointer showing where the program crashed</a:t>
            </a:r>
          </a:p>
          <a:p>
            <a:pPr marL="285750" indent="-285750">
              <a:buFont typeface="Arial" panose="020B0604020202020204" pitchFamily="34" charset="0"/>
              <a:buChar char="•"/>
            </a:pPr>
            <a:r>
              <a:rPr lang="en-US" sz="1200" b="0" dirty="0">
                <a:latin typeface="Segoe Pro" panose="020B0502040504020203" pitchFamily="34" charset="0"/>
                <a:ea typeface="Segoe UI" panose="020B0502040204020203" pitchFamily="34" charset="0"/>
                <a:cs typeface="Segoe UI" panose="020B0502040204020203" pitchFamily="34" charset="0"/>
              </a:rPr>
              <a:t>You can also see the memory violation beginning around the MOV ECX memory allocation space.</a:t>
            </a:r>
          </a:p>
          <a:p>
            <a:pPr marL="0" indent="0">
              <a:buFont typeface="Arial" panose="020B0604020202020204" pitchFamily="34" charset="0"/>
              <a:buNone/>
            </a:pPr>
            <a:endParaRPr lang="en-US" sz="1200" b="0" dirty="0">
              <a:latin typeface="Segoe Pro" panose="020B0502040504020203" pitchFamily="34" charset="0"/>
              <a:ea typeface="Segoe UI" panose="020B0502040204020203" pitchFamily="34" charset="0"/>
              <a:cs typeface="Segoe UI" panose="020B0502040204020203" pitchFamily="34" charset="0"/>
            </a:endParaRPr>
          </a:p>
          <a:p>
            <a:endParaRPr lang="en-US" b="0" dirty="0"/>
          </a:p>
        </p:txBody>
      </p:sp>
      <p:sp>
        <p:nvSpPr>
          <p:cNvPr id="4" name="Slide Number Placeholder 3"/>
          <p:cNvSpPr>
            <a:spLocks noGrp="1"/>
          </p:cNvSpPr>
          <p:nvPr>
            <p:ph type="sldNum" sz="quarter" idx="5"/>
          </p:nvPr>
        </p:nvSpPr>
        <p:spPr/>
        <p:txBody>
          <a:bodyPr/>
          <a:lstStyle/>
          <a:p>
            <a:fld id="{D4B9A9E5-4F7F-4A7D-9DE1-899232329269}" type="slidenum">
              <a:rPr lang="en-US" smtClean="0"/>
              <a:t>6</a:t>
            </a:fld>
            <a:endParaRPr lang="en-US" dirty="0"/>
          </a:p>
        </p:txBody>
      </p:sp>
    </p:spTree>
    <p:extLst>
      <p:ext uri="{BB962C8B-B14F-4D97-AF65-F5344CB8AC3E}">
        <p14:creationId xmlns:p14="http://schemas.microsoft.com/office/powerpoint/2010/main" val="9838966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121512"/>
                </a:solidFill>
                <a:effectLst/>
                <a:latin typeface="-apple-system"/>
              </a:rPr>
              <a:t>To avoid the exploitation of memory allocation and code execution in the last slide, Remediation Steps include addressing the weaknesses found in the low level code</a:t>
            </a:r>
          </a:p>
          <a:p>
            <a:pPr marL="171450" indent="-171450" algn="l">
              <a:buFont typeface="Arial" panose="020B0604020202020204" pitchFamily="34" charset="0"/>
              <a:buChar char="•"/>
            </a:pPr>
            <a:endParaRPr lang="en-US" b="0" i="0" dirty="0">
              <a:solidFill>
                <a:srgbClr val="121512"/>
              </a:solidFill>
              <a:effectLst/>
              <a:latin typeface="-apple-system"/>
            </a:endParaRPr>
          </a:p>
          <a:p>
            <a:pPr marL="171450" indent="-171450" algn="l">
              <a:buFont typeface="Arial" panose="020B0604020202020204" pitchFamily="34" charset="0"/>
              <a:buChar char="•"/>
            </a:pPr>
            <a:r>
              <a:rPr lang="en-US" b="0" i="0" dirty="0">
                <a:solidFill>
                  <a:srgbClr val="121512"/>
                </a:solidFill>
                <a:effectLst/>
                <a:latin typeface="-apple-system"/>
              </a:rPr>
              <a:t>First, for CWE-119. Buffer Overflow occurs where a program does not properly check bounds when accessing memory, leading to overflows that can execute in unexpected memory locations.</a:t>
            </a:r>
          </a:p>
          <a:p>
            <a:pPr marL="171450" indent="-171450" algn="l">
              <a:buFont typeface="Arial" panose="020B0604020202020204" pitchFamily="34" charset="0"/>
              <a:buChar char="•"/>
            </a:pPr>
            <a:endParaRPr lang="en-US" b="0" i="0" dirty="0">
              <a:solidFill>
                <a:srgbClr val="121512"/>
              </a:solidFill>
              <a:effectLst/>
              <a:latin typeface="-apple-system"/>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121512"/>
                </a:solidFill>
                <a:effectLst/>
                <a:latin typeface="-apple-system"/>
              </a:rPr>
              <a:t>The remediation for this is to ensure buffer operations are within defined limits, often using safer functions like </a:t>
            </a:r>
            <a:r>
              <a:rPr lang="en-US" b="0" i="0" dirty="0" err="1">
                <a:solidFill>
                  <a:srgbClr val="121512"/>
                </a:solidFill>
                <a:effectLst/>
                <a:latin typeface="-apple-system"/>
              </a:rPr>
              <a:t>strncpy</a:t>
            </a:r>
            <a:r>
              <a:rPr lang="en-US" b="0" i="0" dirty="0">
                <a:solidFill>
                  <a:srgbClr val="121512"/>
                </a:solidFill>
                <a:effectLst/>
                <a:latin typeface="-apple-system"/>
              </a:rPr>
              <a:t> instead of basic </a:t>
            </a:r>
            <a:r>
              <a:rPr lang="en-US" b="0" i="0" dirty="0" err="1">
                <a:solidFill>
                  <a:srgbClr val="121512"/>
                </a:solidFill>
                <a:effectLst/>
                <a:latin typeface="-apple-system"/>
              </a:rPr>
              <a:t>strcopy</a:t>
            </a:r>
            <a:r>
              <a:rPr lang="en-US" b="0" i="0" dirty="0">
                <a:solidFill>
                  <a:srgbClr val="121512"/>
                </a:solidFill>
                <a:effectLst/>
                <a:latin typeface="-apple-system"/>
              </a:rPr>
              <a:t> and then guaranteeing that the string is null-terminated if the buffer is overrun.</a:t>
            </a:r>
            <a:endParaRPr lang="en-US" sz="1200" b="0" dirty="0"/>
          </a:p>
          <a:p>
            <a:pPr algn="l">
              <a:buFont typeface="Arial" panose="020B0604020202020204" pitchFamily="34" charset="0"/>
              <a:buNone/>
            </a:pPr>
            <a:endParaRPr lang="en-US" b="0" i="0" dirty="0">
              <a:solidFill>
                <a:srgbClr val="121512"/>
              </a:solidFill>
              <a:effectLst/>
              <a:latin typeface="-apple-system"/>
            </a:endParaRPr>
          </a:p>
          <a:p>
            <a:pPr marL="0" indent="0">
              <a:buFont typeface="Arial" panose="020B0604020202020204" pitchFamily="34" charset="0"/>
              <a:buNone/>
            </a:pPr>
            <a:endParaRPr lang="en-US" b="0" dirty="0"/>
          </a:p>
        </p:txBody>
      </p:sp>
      <p:sp>
        <p:nvSpPr>
          <p:cNvPr id="4" name="Slide Number Placeholder 3"/>
          <p:cNvSpPr>
            <a:spLocks noGrp="1"/>
          </p:cNvSpPr>
          <p:nvPr>
            <p:ph type="sldNum" sz="quarter" idx="5"/>
          </p:nvPr>
        </p:nvSpPr>
        <p:spPr/>
        <p:txBody>
          <a:bodyPr/>
          <a:lstStyle/>
          <a:p>
            <a:fld id="{D4B9A9E5-4F7F-4A7D-9DE1-899232329269}" type="slidenum">
              <a:rPr lang="en-US" smtClean="0"/>
              <a:t>7</a:t>
            </a:fld>
            <a:endParaRPr lang="en-US" dirty="0"/>
          </a:p>
        </p:txBody>
      </p:sp>
    </p:spTree>
    <p:extLst>
      <p:ext uri="{BB962C8B-B14F-4D97-AF65-F5344CB8AC3E}">
        <p14:creationId xmlns:p14="http://schemas.microsoft.com/office/powerpoint/2010/main" val="503012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US" b="0" i="0" dirty="0">
                <a:solidFill>
                  <a:srgbClr val="121512"/>
                </a:solidFill>
                <a:effectLst/>
                <a:latin typeface="-apple-system"/>
              </a:rPr>
              <a:t>Next, CWE-787: Out-of-bounds Write, also known as Memory Corruption describes the consequences of writing to memory outside the boundaries of allocated memory buffers, allowing an attacker to overwrite the memory associated with other objects or control structures.</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0" dirty="0"/>
              <a:t>To remediate this weakness, its important ensure that code includes limits such as index less than 10. Also error handling like </a:t>
            </a:r>
            <a:r>
              <a:rPr lang="en-US" b="0" dirty="0" err="1"/>
              <a:t>snprintf</a:t>
            </a:r>
            <a:r>
              <a:rPr lang="en-US" b="0" dirty="0"/>
              <a:t> ensures truncation and prevents buffer overflow if the error message is larger than the buffer size</a:t>
            </a:r>
          </a:p>
        </p:txBody>
      </p:sp>
      <p:sp>
        <p:nvSpPr>
          <p:cNvPr id="4" name="Slide Number Placeholder 3"/>
          <p:cNvSpPr>
            <a:spLocks noGrp="1"/>
          </p:cNvSpPr>
          <p:nvPr>
            <p:ph type="sldNum" sz="quarter" idx="5"/>
          </p:nvPr>
        </p:nvSpPr>
        <p:spPr/>
        <p:txBody>
          <a:bodyPr/>
          <a:lstStyle/>
          <a:p>
            <a:fld id="{D4B9A9E5-4F7F-4A7D-9DE1-899232329269}" type="slidenum">
              <a:rPr lang="en-US" smtClean="0"/>
              <a:t>8</a:t>
            </a:fld>
            <a:endParaRPr lang="en-US" dirty="0"/>
          </a:p>
        </p:txBody>
      </p:sp>
    </p:spTree>
    <p:extLst>
      <p:ext uri="{BB962C8B-B14F-4D97-AF65-F5344CB8AC3E}">
        <p14:creationId xmlns:p14="http://schemas.microsoft.com/office/powerpoint/2010/main" val="2705299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dirty="0"/>
              <a:t>Following the 2011 RSA data breach of Secure ID tokens, there were additional remediation steps RSA could have taken to further mitigate the breach. </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0" dirty="0"/>
              <a:t>First, enhancing social engineering training could have been crucial in preventing the initial spear-phishing attack that led to the systems' infection. Promoting stronger awareness and response to phishing tactics across the organization would have been a valuable defense. </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0" dirty="0"/>
              <a:t>Additionally, rigorous supply chain validation could have helped reinforce security at the physical level. By enforcing proper network segmentation and air-gapping root servers on the manufacturing side, RSA would have created critical layers of separation, reducing the risk of such a breach."</a:t>
            </a:r>
          </a:p>
        </p:txBody>
      </p:sp>
      <p:sp>
        <p:nvSpPr>
          <p:cNvPr id="4" name="Slide Number Placeholder 3"/>
          <p:cNvSpPr>
            <a:spLocks noGrp="1"/>
          </p:cNvSpPr>
          <p:nvPr>
            <p:ph type="sldNum" sz="quarter" idx="5"/>
          </p:nvPr>
        </p:nvSpPr>
        <p:spPr/>
        <p:txBody>
          <a:bodyPr/>
          <a:lstStyle/>
          <a:p>
            <a:fld id="{D4B9A9E5-4F7F-4A7D-9DE1-899232329269}" type="slidenum">
              <a:rPr lang="en-US" smtClean="0"/>
              <a:t>9</a:t>
            </a:fld>
            <a:endParaRPr lang="en-US" dirty="0"/>
          </a:p>
        </p:txBody>
      </p:sp>
    </p:spTree>
    <p:extLst>
      <p:ext uri="{BB962C8B-B14F-4D97-AF65-F5344CB8AC3E}">
        <p14:creationId xmlns:p14="http://schemas.microsoft.com/office/powerpoint/2010/main" val="3028645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964C8-1BA3-6D35-21F1-AF80165E3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92817-FA2B-2507-4768-633F719909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FF600F-C984-ECFF-5CAD-67F1BBECA2E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In the aftermath of the security breach, RSA continued to defend its position, asserting that other subsequent attacks weren’t directly tied to their own security incident.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However, the media coverage surrounding high-profile breaches involving companies like Google, Sony, and even the Australian government heightened public opinion to potential risks.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In response to this increased awareness and concern, RSA invested heavily in ensuring business continuity and resilience. Their recovery efforts ultimately totaled $66 million, demonstrating a serious commitment to restoring trust and reinforcing their security framework.</a:t>
            </a:r>
          </a:p>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9C9CC1E0-7BE2-991F-3095-83B8BCE3ACA9}"/>
              </a:ext>
            </a:extLst>
          </p:cNvPr>
          <p:cNvSpPr>
            <a:spLocks noGrp="1"/>
          </p:cNvSpPr>
          <p:nvPr>
            <p:ph type="sldNum" sz="quarter" idx="5"/>
          </p:nvPr>
        </p:nvSpPr>
        <p:spPr/>
        <p:txBody>
          <a:bodyPr/>
          <a:lstStyle/>
          <a:p>
            <a:fld id="{D4B9A9E5-4F7F-4A7D-9DE1-899232329269}" type="slidenum">
              <a:rPr lang="en-US" smtClean="0"/>
              <a:t>10</a:t>
            </a:fld>
            <a:endParaRPr lang="en-US" dirty="0"/>
          </a:p>
        </p:txBody>
      </p:sp>
    </p:spTree>
    <p:extLst>
      <p:ext uri="{BB962C8B-B14F-4D97-AF65-F5344CB8AC3E}">
        <p14:creationId xmlns:p14="http://schemas.microsoft.com/office/powerpoint/2010/main" val="4250154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dirty="0"/>
              <a:t>Following the breach in 2011, RSA formed a 90-person task force to directly contact customers and stakeholders. This included protective measures for adding and lengthening </a:t>
            </a:r>
            <a:r>
              <a:rPr lang="en-US" b="0" dirty="0" err="1"/>
              <a:t>secureID</a:t>
            </a:r>
            <a:r>
              <a:rPr lang="en-US" b="0" dirty="0"/>
              <a:t> pins</a:t>
            </a:r>
          </a:p>
          <a:p>
            <a:pPr marL="0" indent="0">
              <a:buFont typeface="Arial" panose="020B0604020202020204" pitchFamily="34" charset="0"/>
              <a:buNone/>
            </a:pPr>
            <a:endParaRPr lang="en-US" b="0" dirty="0"/>
          </a:p>
          <a:p>
            <a:pPr marL="171450" indent="-171450">
              <a:buFont typeface="Arial" panose="020B0604020202020204" pitchFamily="34" charset="0"/>
              <a:buChar char="•"/>
            </a:pPr>
            <a:r>
              <a:rPr lang="en-US" b="0" dirty="0"/>
              <a:t>Defense contractors like Lockheed Martin, and Northrup Grumman as well as Incident Response companies like Mandiant and federal agencies were also called to help the investigation.</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0" dirty="0"/>
              <a:t>RSA was also called to a congressional briefing for the Senate Armed Services Committee where the company was linked to “</a:t>
            </a:r>
            <a:r>
              <a:rPr lang="en-US" b="0" dirty="0" err="1"/>
              <a:t>Atleast</a:t>
            </a:r>
            <a:r>
              <a:rPr lang="en-US" b="0" dirty="0"/>
              <a:t> one defense contractor falling victim to the breach and having to replace all </a:t>
            </a:r>
            <a:r>
              <a:rPr lang="en-US" b="0" dirty="0" err="1"/>
              <a:t>secureID</a:t>
            </a:r>
            <a:r>
              <a:rPr lang="en-US" b="0" dirty="0"/>
              <a:t> tokens.”</a:t>
            </a:r>
          </a:p>
          <a:p>
            <a:pPr marL="0" indent="0">
              <a:buFont typeface="Arial" panose="020B0604020202020204" pitchFamily="34" charset="0"/>
              <a:buNone/>
            </a:pPr>
            <a:endParaRPr lang="en-US"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Lockheed Martin later announced </a:t>
            </a:r>
            <a:r>
              <a:rPr lang="en-US" b="0" dirty="0">
                <a:latin typeface="Segoe Pro" panose="020B0502040504020203" pitchFamily="34" charset="0"/>
                <a:cs typeface="Segoe UI" panose="020B0502040204020203" pitchFamily="34" charset="0"/>
              </a:rPr>
              <a:t>an attempted breach of data that they prevented- and claimed the attempt was caused by SecureID tokens.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Segoe Pro" panose="020B05020405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latin typeface="Segoe Pro" panose="020B0502040504020203" pitchFamily="34" charset="0"/>
                <a:cs typeface="Segoe UI" panose="020B0502040204020203" pitchFamily="34" charset="0"/>
              </a:rPr>
              <a:t>However, after the legal NDA that lasted 10 years, RSA revealed that the attackers never stole the full list of seed values, nor the customer list mapped to those seeds that was needed for exploitation.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Segoe Pro" panose="020B05020405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121512"/>
                </a:solidFill>
                <a:effectLst/>
                <a:latin typeface="-apple-system"/>
              </a:rPr>
              <a:t>In conclusion, the analysis of RSA’s Breach highlights the complex interplay between technological innovation and security, emphasizing the need for ongoing vigilance, proactive measures, and collaborative efforts to safeguard data against evolving threats in cybersecurity.</a:t>
            </a:r>
            <a:endParaRPr lang="en-US" b="0" dirty="0"/>
          </a:p>
          <a:p>
            <a:pPr marL="171450" indent="-171450">
              <a:buFont typeface="Arial" panose="020B0604020202020204" pitchFamily="34" charset="0"/>
              <a:buChar char="•"/>
            </a:pPr>
            <a:endParaRPr lang="en-US" b="0" dirty="0"/>
          </a:p>
        </p:txBody>
      </p:sp>
      <p:sp>
        <p:nvSpPr>
          <p:cNvPr id="4" name="Slide Number Placeholder 3"/>
          <p:cNvSpPr>
            <a:spLocks noGrp="1"/>
          </p:cNvSpPr>
          <p:nvPr>
            <p:ph type="sldNum" sz="quarter" idx="5"/>
          </p:nvPr>
        </p:nvSpPr>
        <p:spPr/>
        <p:txBody>
          <a:bodyPr/>
          <a:lstStyle/>
          <a:p>
            <a:fld id="{D4B9A9E5-4F7F-4A7D-9DE1-899232329269}" type="slidenum">
              <a:rPr lang="en-US" smtClean="0"/>
              <a:t>11</a:t>
            </a:fld>
            <a:endParaRPr lang="en-US" dirty="0"/>
          </a:p>
        </p:txBody>
      </p:sp>
    </p:spTree>
    <p:extLst>
      <p:ext uri="{BB962C8B-B14F-4D97-AF65-F5344CB8AC3E}">
        <p14:creationId xmlns:p14="http://schemas.microsoft.com/office/powerpoint/2010/main" val="38063618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a:t>20XX</a:t>
            </a:r>
            <a:endParaRPr lang="en-US" dirty="0"/>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a:t>Analysis of Cybersecurity Breach Involving A Software Vulnerability: RSA</a:t>
            </a:r>
            <a:endParaRPr lang="en-US" dirty="0"/>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a:t>20XX</a:t>
            </a:r>
            <a:endParaRPr lang="en-US" dirty="0"/>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a:t>Analysis of Cybersecurity Breach Involving A Software Vulnerability: RSA</a:t>
            </a:r>
            <a:endParaRPr lang="en-US" dirty="0"/>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a:t>Analysis of Cybersecurity Breach Involving A Software Vulnerability: RSA</a:t>
            </a:r>
            <a:endParaRPr lang="en-US" dirty="0"/>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a:t>20XX</a:t>
            </a:r>
            <a:endParaRPr lang="en-US" dirty="0"/>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a:t>Analysis of Cybersecurity Breach Involving A Software Vulnerability: RSA</a:t>
            </a:r>
            <a:endParaRPr lang="en-US" dirty="0"/>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a:t>20XX</a:t>
            </a:r>
            <a:endParaRPr lang="en-US" dirty="0"/>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a:t>Analysis of Cybersecurity Breach Involving A Software Vulnerability: RSA</a:t>
            </a:r>
            <a:endParaRPr lang="en-US" dirty="0"/>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a:t>20XX</a:t>
            </a:r>
            <a:endParaRPr lang="en-US" dirty="0"/>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a:t>Analysis of Cybersecurity Breach Involving A Software Vulnerability: RSA</a:t>
            </a:r>
            <a:endParaRPr lang="en-US" dirty="0"/>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endParaRPr lang="en-US" dirty="0"/>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Analysis of Cybersecurity Breach Involving A Software Vulnerability: RSA</a:t>
            </a:r>
            <a:endParaRPr lang="en-US" dirty="0"/>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endParaRPr lang="en-US" dirty="0"/>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Analysis of Cybersecurity Breach Involving A Software Vulnerability: RSA</a:t>
            </a:r>
            <a:endParaRPr lang="en-US" dirty="0"/>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endParaRPr lang="en-US" dirty="0"/>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Analysis of Cybersecurity Breach Involving A Software Vulnerability: RSA</a:t>
            </a:r>
            <a:endParaRPr lang="en-US" dirty="0"/>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a:t>20XX</a:t>
            </a:r>
            <a:endParaRPr lang="en-US" dirty="0"/>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a:t>Analysis of Cybersecurity Breach Involving A Software Vulnerability: RSA</a:t>
            </a:r>
            <a:endParaRPr lang="en-US" dirty="0"/>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a:t>20XX</a:t>
            </a:r>
            <a:endParaRPr lang="en-US" noProof="0" dirty="0"/>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a:t>Analysis of Cybersecurity Breach Involving A Software Vulnerability: RSA</a:t>
            </a:r>
            <a:endParaRPr lang="en-US" noProof="0" dirty="0"/>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a:t>20XX</a:t>
            </a:r>
            <a:endParaRPr lang="en-US" dirty="0"/>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a:t>Analysis of Cybersecurity Breach Involving A Software Vulnerability: RSA</a:t>
            </a:r>
            <a:endParaRPr lang="en-US" dirty="0"/>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dirty="0"/>
              <a:t>Click icon to add picture</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dirty="0"/>
              <a:t>Click icon to add picture</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dirty="0"/>
              <a:t>Click icon to add picture</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dirty="0"/>
              <a:t>Click icon to add picture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endParaRPr lang="en-US" dirty="0"/>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Analysis of Cybersecurity Breach Involving A Software Vulnerability: RSA</a:t>
            </a:r>
            <a:endParaRPr lang="en-US" dirty="0"/>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dirty="0"/>
              <a:t>Click icon to add picture</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dirty="0"/>
              <a:t>Click icon to add picture</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dirty="0"/>
              <a:t>Click icon to add picture</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dirty="0"/>
              <a:t>Click icon to add picture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dirty="0"/>
              <a:t>Click icon to add picture</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dirty="0"/>
              <a:t>Click icon to add picture</a:t>
            </a:r>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dirty="0"/>
              <a:t>Click icon to add picture</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dirty="0"/>
              <a:t>Click icon to add picture</a:t>
            </a:r>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a:t>20XX</a:t>
            </a:r>
            <a:endParaRPr lang="en-US" dirty="0"/>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a:t>Analysis of Cybersecurity Breach Involving A Software Vulnerability: RSA</a:t>
            </a:r>
            <a:endParaRPr lang="en-US" dirty="0"/>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endParaRPr lang="en-US" dirty="0"/>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Analysis of Cybersecurity Breach Involving A Software Vulnerability: RSA</a:t>
            </a:r>
            <a:endParaRPr lang="en-US" dirty="0"/>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a:t>20XX</a:t>
            </a:r>
            <a:endParaRPr lang="en-US" dirty="0"/>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a:t>Analysis of Cybersecurity Breach Involving A Software Vulnerability: RSA</a:t>
            </a:r>
            <a:endParaRPr lang="en-US" dirty="0"/>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a:t>20XX</a:t>
            </a:r>
            <a:endParaRPr lang="en-US" dirty="0"/>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a:t>Analysis of Cybersecurity Breach Involving A Software Vulnerability: RSA</a:t>
            </a:r>
            <a:endParaRPr lang="en-US" dirty="0"/>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Analysis of Cybersecurity Breach Involving A Software Vulnerability: RSA</a:t>
            </a:r>
            <a:endParaRPr lang="en-US" dirty="0"/>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dt="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38.jpeg"/><Relationship Id="rId4" Type="http://schemas.openxmlformats.org/officeDocument/2006/relationships/image" Target="../media/image37.jpe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28097" y="4464687"/>
            <a:ext cx="5659388" cy="1122202"/>
          </a:xfrm>
        </p:spPr>
        <p:txBody>
          <a:bodyPr/>
          <a:lstStyle/>
          <a:p>
            <a:r>
              <a:rPr lang="en-US" dirty="0"/>
              <a:t>Analysis of Cybersecurity Breach Involving a Software Vulnerability: RSA</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7321204" y="5595014"/>
            <a:ext cx="4941770" cy="1007875"/>
          </a:xfrm>
        </p:spPr>
        <p:txBody>
          <a:bodyPr>
            <a:normAutofit fontScale="92500" lnSpcReduction="10000"/>
          </a:bodyPr>
          <a:lstStyle/>
          <a:p>
            <a:r>
              <a:rPr lang="en-US" dirty="0"/>
              <a:t>Gregory Mamoyac </a:t>
            </a:r>
          </a:p>
          <a:p>
            <a:r>
              <a:rPr lang="en-US" dirty="0"/>
              <a:t>Cyber 204 Software Security</a:t>
            </a:r>
          </a:p>
          <a:p>
            <a:r>
              <a:rPr lang="en-US" dirty="0"/>
              <a:t>Professor Jennia Hizvver </a:t>
            </a:r>
          </a:p>
        </p:txBody>
      </p:sp>
      <p:pic>
        <p:nvPicPr>
          <p:cNvPr id="4" name="Picture 2" descr="UC Berkeley Symbol">
            <a:extLst>
              <a:ext uri="{FF2B5EF4-FFF2-40B4-BE49-F238E27FC236}">
                <a16:creationId xmlns:a16="http://schemas.microsoft.com/office/drawing/2014/main" id="{763340B5-2F86-A6F0-8E9A-B88626841D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614" y="5732621"/>
            <a:ext cx="2166308" cy="1219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334575" y="376671"/>
            <a:ext cx="5831130" cy="1325563"/>
          </a:xfrm>
        </p:spPr>
        <p:txBody>
          <a:bodyPr>
            <a:normAutofit/>
          </a:bodyPr>
          <a:lstStyle/>
          <a:p>
            <a:r>
              <a:rPr lang="en-US" dirty="0"/>
              <a:t>Background of RSA</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284670" y="2302625"/>
            <a:ext cx="5598500" cy="3830889"/>
          </a:xfrm>
        </p:spPr>
        <p:txBody>
          <a:bodyPr>
            <a:noAutofit/>
          </a:bodyPr>
          <a:lstStyle/>
          <a:p>
            <a:r>
              <a:rPr lang="en-US" sz="1800" dirty="0">
                <a:latin typeface="Segoe Pro" panose="020B0502040504020203" pitchFamily="34" charset="0"/>
                <a:ea typeface="Segoe UI" panose="020B0502040204020203" pitchFamily="34" charset="0"/>
                <a:cs typeface="Segoe UI" panose="020B0502040204020203" pitchFamily="34" charset="0"/>
              </a:rPr>
              <a:t>Company was founded by Ron Rivest, Adi Shamir, and Leonard Adleman.</a:t>
            </a:r>
          </a:p>
          <a:p>
            <a:r>
              <a:rPr lang="en-US" sz="1800" dirty="0">
                <a:latin typeface="Segoe Pro" panose="020B0502040504020203" pitchFamily="34" charset="0"/>
                <a:ea typeface="Segoe UI" panose="020B0502040204020203" pitchFamily="34" charset="0"/>
                <a:cs typeface="Segoe UI" panose="020B0502040204020203" pitchFamily="34" charset="0"/>
              </a:rPr>
              <a:t>Found the RSA public key cryptography algorithm.</a:t>
            </a:r>
          </a:p>
          <a:p>
            <a:r>
              <a:rPr lang="en-US" sz="1800" dirty="0">
                <a:latin typeface="Segoe Pro" panose="020B0502040504020203" pitchFamily="34" charset="0"/>
                <a:ea typeface="Segoe UI" panose="020B0502040204020203" pitchFamily="34" charset="0"/>
                <a:cs typeface="Segoe UI" panose="020B0502040204020203" pitchFamily="34" charset="0"/>
              </a:rPr>
              <a:t>Offer cybersecurity and digital risk management solutions, as well as authentication and access capabilities for cloud, hybrid, and on-premises environments.</a:t>
            </a:r>
          </a:p>
          <a:p>
            <a:r>
              <a:rPr lang="en-US" sz="1800" dirty="0">
                <a:latin typeface="Segoe Pro" panose="020B0502040504020203" pitchFamily="34" charset="0"/>
                <a:ea typeface="Segoe UI" panose="020B0502040204020203" pitchFamily="34" charset="0"/>
                <a:cs typeface="Segoe UI" panose="020B0502040204020203" pitchFamily="34" charset="0"/>
              </a:rPr>
              <a:t>Clients included defense contractors like Northrop Grumman and Lockheed Martin.</a:t>
            </a:r>
          </a:p>
        </p:txBody>
      </p:sp>
      <p:sp>
        <p:nvSpPr>
          <p:cNvPr id="5" name="Footer Placeholder 4">
            <a:extLst>
              <a:ext uri="{FF2B5EF4-FFF2-40B4-BE49-F238E27FC236}">
                <a16:creationId xmlns:a16="http://schemas.microsoft.com/office/drawing/2014/main" id="{AF29EA23-F34E-486A-B8B2-0C3019266975}"/>
              </a:ext>
            </a:extLst>
          </p:cNvPr>
          <p:cNvSpPr>
            <a:spLocks noGrp="1"/>
          </p:cNvSpPr>
          <p:nvPr>
            <p:ph type="ftr" sz="quarter" idx="11"/>
          </p:nvPr>
        </p:nvSpPr>
        <p:spPr>
          <a:xfrm>
            <a:off x="2669886" y="6356349"/>
            <a:ext cx="2482842" cy="365125"/>
          </a:xfrm>
        </p:spPr>
        <p:txBody>
          <a:bodyPr/>
          <a:lstStyle/>
          <a:p>
            <a:r>
              <a:rPr lang="en-US"/>
              <a:t>Analysis of Cybersecurity Breach Involving A Software Vulnerability: RSA</a:t>
            </a:r>
            <a:endParaRPr lang="en-US" dirty="0"/>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pic>
        <p:nvPicPr>
          <p:cNvPr id="6" name="Picture 5" descr="A red text on a black background&#10;&#10;Description automatically generated">
            <a:extLst>
              <a:ext uri="{FF2B5EF4-FFF2-40B4-BE49-F238E27FC236}">
                <a16:creationId xmlns:a16="http://schemas.microsoft.com/office/drawing/2014/main" id="{976022C9-9F24-BCF4-4EBE-FBE24D9441EA}"/>
              </a:ext>
            </a:extLst>
          </p:cNvPr>
          <p:cNvPicPr>
            <a:picLocks noChangeAspect="1"/>
          </p:cNvPicPr>
          <p:nvPr/>
        </p:nvPicPr>
        <p:blipFill>
          <a:blip r:embed="rId3"/>
          <a:stretch>
            <a:fillRect/>
          </a:stretch>
        </p:blipFill>
        <p:spPr>
          <a:xfrm>
            <a:off x="6568200" y="376671"/>
            <a:ext cx="4267209" cy="3352807"/>
          </a:xfrm>
          <a:prstGeom prst="rect">
            <a:avLst/>
          </a:prstGeom>
        </p:spPr>
      </p:pic>
      <p:pic>
        <p:nvPicPr>
          <p:cNvPr id="8" name="Picture 7">
            <a:extLst>
              <a:ext uri="{FF2B5EF4-FFF2-40B4-BE49-F238E27FC236}">
                <a16:creationId xmlns:a16="http://schemas.microsoft.com/office/drawing/2014/main" id="{B2CCED51-0CD5-08DC-D2AD-8983E249CD76}"/>
              </a:ext>
            </a:extLst>
          </p:cNvPr>
          <p:cNvPicPr>
            <a:picLocks noChangeAspect="1"/>
          </p:cNvPicPr>
          <p:nvPr/>
        </p:nvPicPr>
        <p:blipFill>
          <a:blip r:embed="rId4"/>
          <a:stretch>
            <a:fillRect/>
          </a:stretch>
        </p:blipFill>
        <p:spPr>
          <a:xfrm>
            <a:off x="6907404" y="3729478"/>
            <a:ext cx="3279932" cy="1432684"/>
          </a:xfrm>
          <a:prstGeom prst="rect">
            <a:avLst/>
          </a:prstGeom>
        </p:spPr>
      </p:pic>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6351759" y="797126"/>
            <a:ext cx="4864331" cy="537936"/>
          </a:xfrm>
        </p:spPr>
        <p:txBody>
          <a:bodyPr>
            <a:normAutofit/>
          </a:bodyPr>
          <a:lstStyle/>
          <a:p>
            <a:r>
              <a:rPr lang="en-US" dirty="0"/>
              <a:t>Summary of Breach</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21"/>
          </p:nvPr>
        </p:nvSpPr>
        <p:spPr>
          <a:xfrm>
            <a:off x="7161955" y="6356350"/>
            <a:ext cx="3243942" cy="365125"/>
          </a:xfrm>
        </p:spPr>
        <p:txBody>
          <a:bodyPr/>
          <a:lstStyle/>
          <a:p>
            <a:r>
              <a:rPr lang="en-US"/>
              <a:t>Analysis of Cybersecurity Breach Involving A Software Vulnerability: RSA</a:t>
            </a:r>
            <a:endParaRPr lang="en-US" dirty="0"/>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3</a:t>
            </a:fld>
            <a:endParaRPr lang="en-US" dirty="0"/>
          </a:p>
        </p:txBody>
      </p:sp>
      <p:sp>
        <p:nvSpPr>
          <p:cNvPr id="30" name="Subtitle 2">
            <a:extLst>
              <a:ext uri="{FF2B5EF4-FFF2-40B4-BE49-F238E27FC236}">
                <a16:creationId xmlns:a16="http://schemas.microsoft.com/office/drawing/2014/main" id="{C5F11A7E-6682-F2E2-8101-882358E37B28}"/>
              </a:ext>
              <a:ext uri="{C183D7F6-B498-43B3-948B-1728B52AA6E4}">
                <adec:decorative xmlns:adec="http://schemas.microsoft.com/office/drawing/2017/decorative" val="0"/>
              </a:ext>
            </a:extLst>
          </p:cNvPr>
          <p:cNvSpPr txBox="1">
            <a:spLocks/>
          </p:cNvSpPr>
          <p:nvPr/>
        </p:nvSpPr>
        <p:spPr>
          <a:xfrm>
            <a:off x="5638800" y="1765098"/>
            <a:ext cx="5944375" cy="418512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Segoe Pro" panose="020B0502040504020203" pitchFamily="34" charset="0"/>
                <a:ea typeface="Segoe UI" panose="020B0502040204020203" pitchFamily="34" charset="0"/>
                <a:cs typeface="Segoe UI" panose="020B0502040204020203" pitchFamily="34" charset="0"/>
              </a:rPr>
              <a:t>In March 2011, RSA was infiltrated through spear phishing employee emails.</a:t>
            </a:r>
          </a:p>
          <a:p>
            <a:pPr marL="0" indent="0">
              <a:buNone/>
            </a:pPr>
            <a:endParaRPr lang="en-US" sz="2000" dirty="0">
              <a:latin typeface="Segoe Pro" panose="020B0502040504020203" pitchFamily="34" charset="0"/>
              <a:ea typeface="Segoe UI" panose="020B0502040204020203" pitchFamily="34" charset="0"/>
              <a:cs typeface="Segoe UI" panose="020B0502040204020203" pitchFamily="34" charset="0"/>
            </a:endParaRPr>
          </a:p>
          <a:p>
            <a:pPr marL="0" indent="0">
              <a:buNone/>
            </a:pPr>
            <a:r>
              <a:rPr lang="en-US" sz="2000" dirty="0">
                <a:latin typeface="Segoe Pro" panose="020B0502040504020203" pitchFamily="34" charset="0"/>
                <a:ea typeface="Segoe UI" panose="020B0502040204020203" pitchFamily="34" charset="0"/>
                <a:cs typeface="Segoe UI" panose="020B0502040204020203" pitchFamily="34" charset="0"/>
              </a:rPr>
              <a:t>Poison Ivy payload was planted via a zero-day Adobe Flash vulnerability that took advantage of .</a:t>
            </a:r>
            <a:r>
              <a:rPr lang="en-US" sz="2000" dirty="0" err="1">
                <a:latin typeface="Segoe Pro" panose="020B0502040504020203" pitchFamily="34" charset="0"/>
                <a:ea typeface="Segoe UI" panose="020B0502040204020203" pitchFamily="34" charset="0"/>
                <a:cs typeface="Segoe UI" panose="020B0502040204020203" pitchFamily="34" charset="0"/>
              </a:rPr>
              <a:t>swf</a:t>
            </a:r>
            <a:r>
              <a:rPr lang="en-US" sz="2000" dirty="0">
                <a:latin typeface="Segoe Pro" panose="020B0502040504020203" pitchFamily="34" charset="0"/>
                <a:ea typeface="Segoe UI" panose="020B0502040204020203" pitchFamily="34" charset="0"/>
                <a:cs typeface="Segoe UI" panose="020B0502040204020203" pitchFamily="34" charset="0"/>
              </a:rPr>
              <a:t> file embedded in Excel for privileged access and backdoor for continuous entry.</a:t>
            </a:r>
          </a:p>
          <a:p>
            <a:pPr marL="285750" indent="-285750"/>
            <a:endParaRPr lang="en-US" sz="2000" dirty="0">
              <a:latin typeface="Segoe Pro" panose="020B0502040504020203" pitchFamily="34" charset="0"/>
              <a:ea typeface="Segoe UI" panose="020B0502040204020203" pitchFamily="34" charset="0"/>
              <a:cs typeface="Segoe UI" panose="020B0502040204020203" pitchFamily="34" charset="0"/>
            </a:endParaRPr>
          </a:p>
          <a:p>
            <a:pPr marL="0" indent="0">
              <a:buNone/>
            </a:pPr>
            <a:r>
              <a:rPr lang="en-US" sz="2000" dirty="0">
                <a:latin typeface="Segoe Pro" panose="020B0502040504020203" pitchFamily="34" charset="0"/>
                <a:ea typeface="Segoe UI" panose="020B0502040204020203" pitchFamily="34" charset="0"/>
                <a:cs typeface="Segoe UI" panose="020B0502040204020203" pitchFamily="34" charset="0"/>
              </a:rPr>
              <a:t>It was concluded that the Chinese Army aka APT-1 exfiltrated the company’s root authority to access the secret seeds from the root server.</a:t>
            </a:r>
          </a:p>
        </p:txBody>
      </p:sp>
      <p:pic>
        <p:nvPicPr>
          <p:cNvPr id="7" name="Picture 6" descr="A red text on a black background&#10;&#10;Description automatically generated">
            <a:extLst>
              <a:ext uri="{FF2B5EF4-FFF2-40B4-BE49-F238E27FC236}">
                <a16:creationId xmlns:a16="http://schemas.microsoft.com/office/drawing/2014/main" id="{3910DC1C-8E74-72A1-93A1-51240161B496}"/>
              </a:ext>
            </a:extLst>
          </p:cNvPr>
          <p:cNvPicPr>
            <a:picLocks noChangeAspect="1"/>
          </p:cNvPicPr>
          <p:nvPr/>
        </p:nvPicPr>
        <p:blipFill>
          <a:blip r:embed="rId3"/>
          <a:stretch>
            <a:fillRect/>
          </a:stretch>
        </p:blipFill>
        <p:spPr>
          <a:xfrm>
            <a:off x="1229979" y="1404169"/>
            <a:ext cx="4267209" cy="3352807"/>
          </a:xfrm>
          <a:prstGeom prst="rect">
            <a:avLst/>
          </a:prstGeom>
        </p:spPr>
      </p:pic>
    </p:spTree>
    <p:extLst>
      <p:ext uri="{BB962C8B-B14F-4D97-AF65-F5344CB8AC3E}">
        <p14:creationId xmlns:p14="http://schemas.microsoft.com/office/powerpoint/2010/main" val="1844941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D2186069-FC8E-433D-9BB4-942220CE8CFB}"/>
              </a:ext>
            </a:extLst>
          </p:cNvPr>
          <p:cNvSpPr>
            <a:spLocks noGrp="1"/>
          </p:cNvSpPr>
          <p:nvPr>
            <p:ph type="ftr" sz="quarter" idx="11"/>
          </p:nvPr>
        </p:nvSpPr>
        <p:spPr>
          <a:xfrm>
            <a:off x="4038600" y="6356350"/>
            <a:ext cx="4114800" cy="365125"/>
          </a:xfrm>
        </p:spPr>
        <p:txBody>
          <a:bodyPr/>
          <a:lstStyle/>
          <a:p>
            <a:r>
              <a:rPr lang="en-US"/>
              <a:t>Analysis of Cybersecurity Breach Involving A Software Vulnerability: RSA</a:t>
            </a:r>
            <a:endParaRPr lang="en-US" dirty="0"/>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4</a:t>
            </a:fld>
            <a:endParaRPr lang="en-US" dirty="0"/>
          </a:p>
        </p:txBody>
      </p:sp>
      <p:sp>
        <p:nvSpPr>
          <p:cNvPr id="9" name="Text Placeholder 3">
            <a:extLst>
              <a:ext uri="{FF2B5EF4-FFF2-40B4-BE49-F238E27FC236}">
                <a16:creationId xmlns:a16="http://schemas.microsoft.com/office/drawing/2014/main" id="{E02032B4-FEE6-99F9-631E-CD5D0ADDCCA7}"/>
              </a:ext>
            </a:extLst>
          </p:cNvPr>
          <p:cNvSpPr txBox="1">
            <a:spLocks/>
          </p:cNvSpPr>
          <p:nvPr/>
        </p:nvSpPr>
        <p:spPr>
          <a:xfrm>
            <a:off x="1675339" y="2586892"/>
            <a:ext cx="8572485" cy="47027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cap="all" spc="150" dirty="0">
                <a:latin typeface="Segoe Pro" panose="020B0502040504020203" pitchFamily="34" charset="0"/>
                <a:cs typeface="Segoe UI" panose="020B0502040204020203" pitchFamily="34" charset="0"/>
              </a:rPr>
              <a:t>Privilege Escalation</a:t>
            </a:r>
          </a:p>
        </p:txBody>
      </p:sp>
      <p:sp>
        <p:nvSpPr>
          <p:cNvPr id="12" name="Content Placeholder 6">
            <a:extLst>
              <a:ext uri="{FF2B5EF4-FFF2-40B4-BE49-F238E27FC236}">
                <a16:creationId xmlns:a16="http://schemas.microsoft.com/office/drawing/2014/main" id="{D5BF0339-058B-6C7A-E99C-22B519F60FD9}"/>
              </a:ext>
            </a:extLst>
          </p:cNvPr>
          <p:cNvSpPr txBox="1">
            <a:spLocks/>
          </p:cNvSpPr>
          <p:nvPr/>
        </p:nvSpPr>
        <p:spPr>
          <a:xfrm>
            <a:off x="1883632" y="3004208"/>
            <a:ext cx="8364192" cy="144443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noProof="1"/>
              <a:t>Attackers were able to escalate vertically to more privileged accounts. </a:t>
            </a:r>
          </a:p>
          <a:p>
            <a:pPr marL="0" indent="0">
              <a:buNone/>
            </a:pPr>
            <a:r>
              <a:rPr lang="en-US" sz="2000" noProof="1"/>
              <a:t>They used credential stealing hopscotch tool to pull usernames and passwords to log into other machines.</a:t>
            </a:r>
          </a:p>
        </p:txBody>
      </p:sp>
      <p:sp>
        <p:nvSpPr>
          <p:cNvPr id="13" name="Text Placeholder 3">
            <a:extLst>
              <a:ext uri="{FF2B5EF4-FFF2-40B4-BE49-F238E27FC236}">
                <a16:creationId xmlns:a16="http://schemas.microsoft.com/office/drawing/2014/main" id="{801D8519-0D8E-9958-4AA5-7470D87E08AA}"/>
              </a:ext>
            </a:extLst>
          </p:cNvPr>
          <p:cNvSpPr txBox="1">
            <a:spLocks/>
          </p:cNvSpPr>
          <p:nvPr/>
        </p:nvSpPr>
        <p:spPr>
          <a:xfrm>
            <a:off x="1675339" y="901291"/>
            <a:ext cx="7070902" cy="823912"/>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lang="en-US" sz="2000" kern="1200" cap="all" spc="150" baseline="0" dirty="0" smtClean="0">
                <a:solidFill>
                  <a:schemeClr val="tx1">
                    <a:lumMod val="75000"/>
                    <a:lumOff val="25000"/>
                  </a:schemeClr>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latin typeface="Segoe Pro" panose="020B0502040504020203" pitchFamily="34" charset="0"/>
                <a:ea typeface="Segoe UI" panose="020B0502040204020203" pitchFamily="34" charset="0"/>
                <a:cs typeface="Segoe UI" panose="020B0502040204020203" pitchFamily="34" charset="0"/>
              </a:rPr>
              <a:t>Phishing</a:t>
            </a:r>
          </a:p>
        </p:txBody>
      </p:sp>
      <p:sp>
        <p:nvSpPr>
          <p:cNvPr id="14" name="Content Placeholder 6">
            <a:extLst>
              <a:ext uri="{FF2B5EF4-FFF2-40B4-BE49-F238E27FC236}">
                <a16:creationId xmlns:a16="http://schemas.microsoft.com/office/drawing/2014/main" id="{0B341D29-8D2D-F648-24E1-383AC8B4E21C}"/>
              </a:ext>
            </a:extLst>
          </p:cNvPr>
          <p:cNvSpPr txBox="1">
            <a:spLocks/>
          </p:cNvSpPr>
          <p:nvPr/>
        </p:nvSpPr>
        <p:spPr>
          <a:xfrm>
            <a:off x="1883632" y="1809537"/>
            <a:ext cx="9805896" cy="417318"/>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defRPr/>
            </a:pPr>
            <a:r>
              <a:rPr lang="en-US" sz="2000" dirty="0">
                <a:latin typeface="Calibri" panose="020F0502020204030204" pitchFamily="34" charset="0"/>
              </a:rPr>
              <a:t>Attackers orchestrated spear phishing with payload hidden in Excel doc.</a:t>
            </a:r>
          </a:p>
        </p:txBody>
      </p:sp>
      <p:sp>
        <p:nvSpPr>
          <p:cNvPr id="18" name="Title 1">
            <a:extLst>
              <a:ext uri="{FF2B5EF4-FFF2-40B4-BE49-F238E27FC236}">
                <a16:creationId xmlns:a16="http://schemas.microsoft.com/office/drawing/2014/main" id="{7324B83F-89C1-A64C-097E-DCF11DB89716}"/>
              </a:ext>
            </a:extLst>
          </p:cNvPr>
          <p:cNvSpPr>
            <a:spLocks noGrp="1"/>
          </p:cNvSpPr>
          <p:nvPr>
            <p:ph type="title"/>
          </p:nvPr>
        </p:nvSpPr>
        <p:spPr>
          <a:xfrm>
            <a:off x="2221029" y="201015"/>
            <a:ext cx="8421688" cy="1325563"/>
          </a:xfrm>
        </p:spPr>
        <p:txBody>
          <a:bodyPr/>
          <a:lstStyle/>
          <a:p>
            <a:pPr algn="ctr"/>
            <a:r>
              <a:rPr lang="en-US" dirty="0"/>
              <a:t>Description of the Attack</a:t>
            </a:r>
          </a:p>
        </p:txBody>
      </p:sp>
      <p:sp>
        <p:nvSpPr>
          <p:cNvPr id="27" name="Text Placeholder 3">
            <a:extLst>
              <a:ext uri="{FF2B5EF4-FFF2-40B4-BE49-F238E27FC236}">
                <a16:creationId xmlns:a16="http://schemas.microsoft.com/office/drawing/2014/main" id="{5C24FB64-6EF4-B744-A8BC-86AC357A0FB5}"/>
              </a:ext>
            </a:extLst>
          </p:cNvPr>
          <p:cNvSpPr txBox="1">
            <a:spLocks/>
          </p:cNvSpPr>
          <p:nvPr/>
        </p:nvSpPr>
        <p:spPr>
          <a:xfrm>
            <a:off x="1675339" y="4468958"/>
            <a:ext cx="7070902"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cap="all" spc="150" dirty="0">
                <a:latin typeface="Segoe Pro" panose="020B0502040504020203" pitchFamily="34" charset="0"/>
                <a:cs typeface="Segoe UI" panose="020B0502040204020203" pitchFamily="34" charset="0"/>
              </a:rPr>
              <a:t>Supply Chain Failure</a:t>
            </a:r>
          </a:p>
        </p:txBody>
      </p:sp>
      <p:sp>
        <p:nvSpPr>
          <p:cNvPr id="28" name="Content Placeholder 6">
            <a:extLst>
              <a:ext uri="{FF2B5EF4-FFF2-40B4-BE49-F238E27FC236}">
                <a16:creationId xmlns:a16="http://schemas.microsoft.com/office/drawing/2014/main" id="{89F6F465-324E-063E-E599-8C0318877BF9}"/>
              </a:ext>
            </a:extLst>
          </p:cNvPr>
          <p:cNvSpPr txBox="1">
            <a:spLocks/>
          </p:cNvSpPr>
          <p:nvPr/>
        </p:nvSpPr>
        <p:spPr>
          <a:xfrm>
            <a:off x="1883632" y="4828663"/>
            <a:ext cx="9974708" cy="133298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2000" dirty="0">
                <a:effectLst/>
                <a:latin typeface="Calibri" panose="020F0502020204030204" pitchFamily="34" charset="0"/>
              </a:rPr>
              <a:t>Windows was not patched and allowed the payload to slip security within the Excel doc.</a:t>
            </a:r>
          </a:p>
          <a:p>
            <a:pPr marL="0" indent="0">
              <a:lnSpc>
                <a:spcPct val="120000"/>
              </a:lnSpc>
              <a:buNone/>
            </a:pPr>
            <a:r>
              <a:rPr lang="en-US" sz="2000" dirty="0">
                <a:effectLst/>
                <a:latin typeface="Calibri" panose="020F0502020204030204" pitchFamily="34" charset="0"/>
              </a:rPr>
              <a:t>The root server was not air gapped because was it used for manufacturing and for setting up local root servers and  key escrow every 15 minutes.</a:t>
            </a:r>
            <a:endParaRPr lang="en-US" sz="2000" dirty="0">
              <a:latin typeface="Segoe Pro" panose="020B05020405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121178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3808A03-6EC3-48BE-9D18-5A746D09243E}"/>
              </a:ext>
            </a:extLst>
          </p:cNvPr>
          <p:cNvSpPr>
            <a:spLocks noGrp="1"/>
          </p:cNvSpPr>
          <p:nvPr>
            <p:ph type="ftr" sz="quarter" idx="11"/>
          </p:nvPr>
        </p:nvSpPr>
        <p:spPr>
          <a:xfrm>
            <a:off x="4038600" y="6356350"/>
            <a:ext cx="4114800" cy="365125"/>
          </a:xfrm>
        </p:spPr>
        <p:txBody>
          <a:bodyPr/>
          <a:lstStyle/>
          <a:p>
            <a:r>
              <a:rPr lang="en-US"/>
              <a:t>Analysis of Cybersecurity Breach Involving A Software Vulnerability: RSA</a:t>
            </a:r>
            <a:endParaRPr lang="en-US" dirty="0"/>
          </a:p>
        </p:txBody>
      </p:sp>
      <p:sp>
        <p:nvSpPr>
          <p:cNvPr id="5" name="Slide Number Placeholder 4">
            <a:extLst>
              <a:ext uri="{FF2B5EF4-FFF2-40B4-BE49-F238E27FC236}">
                <a16:creationId xmlns:a16="http://schemas.microsoft.com/office/drawing/2014/main" id="{46868410-BE8A-4C98-9C72-20D0A2A6A8B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5</a:t>
            </a:fld>
            <a:endParaRPr lang="en-US" dirty="0"/>
          </a:p>
        </p:txBody>
      </p:sp>
      <p:sp>
        <p:nvSpPr>
          <p:cNvPr id="41" name="Text Placeholder 3">
            <a:extLst>
              <a:ext uri="{FF2B5EF4-FFF2-40B4-BE49-F238E27FC236}">
                <a16:creationId xmlns:a16="http://schemas.microsoft.com/office/drawing/2014/main" id="{E388151A-7413-6525-2F58-9C8AFD0614A6}"/>
              </a:ext>
            </a:extLst>
          </p:cNvPr>
          <p:cNvSpPr txBox="1">
            <a:spLocks/>
          </p:cNvSpPr>
          <p:nvPr/>
        </p:nvSpPr>
        <p:spPr>
          <a:xfrm>
            <a:off x="474733" y="1730633"/>
            <a:ext cx="7433502"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cap="all" spc="150" dirty="0">
                <a:latin typeface="Segoe Pro" panose="020B0502040504020203" pitchFamily="34" charset="0"/>
                <a:cs typeface="Segoe UI" panose="020B0502040204020203" pitchFamily="34" charset="0"/>
              </a:rPr>
              <a:t>Security advisory for adobe flash: CVE-2011-0609</a:t>
            </a:r>
          </a:p>
        </p:txBody>
      </p:sp>
      <p:sp>
        <p:nvSpPr>
          <p:cNvPr id="42" name="Content Placeholder 6">
            <a:extLst>
              <a:ext uri="{FF2B5EF4-FFF2-40B4-BE49-F238E27FC236}">
                <a16:creationId xmlns:a16="http://schemas.microsoft.com/office/drawing/2014/main" id="{1CA5ACB7-71FC-F2AE-28B4-4033F531E3C5}"/>
              </a:ext>
            </a:extLst>
          </p:cNvPr>
          <p:cNvSpPr txBox="1">
            <a:spLocks/>
          </p:cNvSpPr>
          <p:nvPr/>
        </p:nvSpPr>
        <p:spPr>
          <a:xfrm>
            <a:off x="1027010" y="2100675"/>
            <a:ext cx="6217851" cy="256488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40000"/>
              </a:lnSpc>
            </a:pPr>
            <a:r>
              <a:rPr lang="en-US" sz="1900" dirty="0">
                <a:latin typeface="Segoe Pro" panose="020B0502040504020203" pitchFamily="34" charset="0"/>
                <a:cs typeface="Segoe UI" panose="020B0502040204020203" pitchFamily="34" charset="0"/>
              </a:rPr>
              <a:t>CVSS Base Score: 7.8 High</a:t>
            </a:r>
          </a:p>
          <a:p>
            <a:pPr marL="285750" indent="-285750">
              <a:lnSpc>
                <a:spcPct val="140000"/>
              </a:lnSpc>
            </a:pPr>
            <a:r>
              <a:rPr lang="en-US" sz="1900" dirty="0">
                <a:latin typeface="Segoe Pro" panose="020B0502040504020203" pitchFamily="34" charset="0"/>
                <a:cs typeface="Segoe UI" panose="020B0502040204020203" pitchFamily="34" charset="0"/>
              </a:rPr>
              <a:t>Description: Zero-Day exploit allows remote attackers to execute arbitrary code or cause a denial of service (application crash) via crafted Flash content demonstrated by a .</a:t>
            </a:r>
            <a:r>
              <a:rPr lang="en-US" sz="1900" dirty="0" err="1">
                <a:latin typeface="Segoe Pro" panose="020B0502040504020203" pitchFamily="34" charset="0"/>
                <a:cs typeface="Segoe UI" panose="020B0502040204020203" pitchFamily="34" charset="0"/>
              </a:rPr>
              <a:t>swf</a:t>
            </a:r>
            <a:r>
              <a:rPr lang="en-US" sz="1900" dirty="0">
                <a:latin typeface="Segoe Pro" panose="020B0502040504020203" pitchFamily="34" charset="0"/>
                <a:cs typeface="Segoe UI" panose="020B0502040204020203" pitchFamily="34" charset="0"/>
              </a:rPr>
              <a:t> file embedded in Excel</a:t>
            </a:r>
          </a:p>
          <a:p>
            <a:pPr marL="285750" indent="-285750">
              <a:lnSpc>
                <a:spcPct val="140000"/>
              </a:lnSpc>
            </a:pPr>
            <a:endParaRPr lang="en-US" sz="1900" dirty="0">
              <a:latin typeface="Segoe Pro" panose="020B0502040504020203" pitchFamily="34" charset="0"/>
              <a:cs typeface="Segoe UI" panose="020B0502040204020203" pitchFamily="34" charset="0"/>
            </a:endParaRPr>
          </a:p>
        </p:txBody>
      </p:sp>
      <p:sp>
        <p:nvSpPr>
          <p:cNvPr id="50" name="Title 1">
            <a:extLst>
              <a:ext uri="{FF2B5EF4-FFF2-40B4-BE49-F238E27FC236}">
                <a16:creationId xmlns:a16="http://schemas.microsoft.com/office/drawing/2014/main" id="{A7621ECA-3C0B-8575-C0A9-6ED2ACC05BC4}"/>
              </a:ext>
            </a:extLst>
          </p:cNvPr>
          <p:cNvSpPr>
            <a:spLocks noGrp="1"/>
          </p:cNvSpPr>
          <p:nvPr>
            <p:ph type="title"/>
          </p:nvPr>
        </p:nvSpPr>
        <p:spPr>
          <a:xfrm>
            <a:off x="2221029" y="201015"/>
            <a:ext cx="8421688" cy="1325563"/>
          </a:xfrm>
        </p:spPr>
        <p:txBody>
          <a:bodyPr/>
          <a:lstStyle/>
          <a:p>
            <a:pPr algn="ctr"/>
            <a:r>
              <a:rPr lang="en-US" dirty="0"/>
              <a:t>Description of the Attack</a:t>
            </a:r>
          </a:p>
        </p:txBody>
      </p:sp>
      <p:sp>
        <p:nvSpPr>
          <p:cNvPr id="10" name="Text Placeholder 3">
            <a:extLst>
              <a:ext uri="{FF2B5EF4-FFF2-40B4-BE49-F238E27FC236}">
                <a16:creationId xmlns:a16="http://schemas.microsoft.com/office/drawing/2014/main" id="{42E12290-FE0A-7D52-2D68-06CCF6CAFC77}"/>
              </a:ext>
            </a:extLst>
          </p:cNvPr>
          <p:cNvSpPr txBox="1">
            <a:spLocks/>
          </p:cNvSpPr>
          <p:nvPr/>
        </p:nvSpPr>
        <p:spPr>
          <a:xfrm>
            <a:off x="1177098" y="3736390"/>
            <a:ext cx="10041362" cy="3651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cap="all" spc="150" dirty="0">
              <a:latin typeface="Segoe Pro" panose="020B0502040504020203" pitchFamily="34" charset="0"/>
              <a:cs typeface="Segoe UI" panose="020B0502040204020203" pitchFamily="34" charset="0"/>
            </a:endParaRPr>
          </a:p>
        </p:txBody>
      </p:sp>
      <p:sp>
        <p:nvSpPr>
          <p:cNvPr id="11" name="Text Placeholder 3">
            <a:extLst>
              <a:ext uri="{FF2B5EF4-FFF2-40B4-BE49-F238E27FC236}">
                <a16:creationId xmlns:a16="http://schemas.microsoft.com/office/drawing/2014/main" id="{7A712D2A-B5F0-644C-5AFA-1BE299D1652A}"/>
              </a:ext>
            </a:extLst>
          </p:cNvPr>
          <p:cNvSpPr txBox="1">
            <a:spLocks/>
          </p:cNvSpPr>
          <p:nvPr/>
        </p:nvSpPr>
        <p:spPr>
          <a:xfrm>
            <a:off x="1177098" y="5022955"/>
            <a:ext cx="10041362"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000" cap="all" spc="150" dirty="0">
              <a:latin typeface="Segoe Pro" panose="020B0502040504020203" pitchFamily="34" charset="0"/>
              <a:cs typeface="Segoe UI" panose="020B0502040204020203" pitchFamily="34" charset="0"/>
            </a:endParaRPr>
          </a:p>
        </p:txBody>
      </p:sp>
      <p:sp>
        <p:nvSpPr>
          <p:cNvPr id="12" name="Content Placeholder 6">
            <a:extLst>
              <a:ext uri="{FF2B5EF4-FFF2-40B4-BE49-F238E27FC236}">
                <a16:creationId xmlns:a16="http://schemas.microsoft.com/office/drawing/2014/main" id="{403CB570-AF09-5C6C-E7AD-D24BC885DDCB}"/>
              </a:ext>
            </a:extLst>
          </p:cNvPr>
          <p:cNvSpPr txBox="1">
            <a:spLocks/>
          </p:cNvSpPr>
          <p:nvPr/>
        </p:nvSpPr>
        <p:spPr>
          <a:xfrm>
            <a:off x="1860974" y="3399626"/>
            <a:ext cx="10462625" cy="209077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40000"/>
              </a:lnSpc>
            </a:pPr>
            <a:endParaRPr lang="en-US" sz="1900" dirty="0">
              <a:latin typeface="Segoe Pro" panose="020B0502040504020203" pitchFamily="34" charset="0"/>
              <a:cs typeface="Segoe UI" panose="020B0502040204020203" pitchFamily="34" charset="0"/>
            </a:endParaRPr>
          </a:p>
        </p:txBody>
      </p:sp>
      <p:pic>
        <p:nvPicPr>
          <p:cNvPr id="15" name="Picture 14" descr="A red button with a white letter f&#10;&#10;Description automatically generated">
            <a:extLst>
              <a:ext uri="{FF2B5EF4-FFF2-40B4-BE49-F238E27FC236}">
                <a16:creationId xmlns:a16="http://schemas.microsoft.com/office/drawing/2014/main" id="{B33683B8-6A97-8F2C-5BB5-C45201C6DA19}"/>
              </a:ext>
            </a:extLst>
          </p:cNvPr>
          <p:cNvPicPr>
            <a:picLocks noChangeAspect="1"/>
          </p:cNvPicPr>
          <p:nvPr/>
        </p:nvPicPr>
        <p:blipFill>
          <a:blip r:embed="rId3"/>
          <a:stretch>
            <a:fillRect/>
          </a:stretch>
        </p:blipFill>
        <p:spPr>
          <a:xfrm>
            <a:off x="8153400" y="2705738"/>
            <a:ext cx="3395871" cy="3395871"/>
          </a:xfrm>
          <a:prstGeom prst="rect">
            <a:avLst/>
          </a:prstGeom>
        </p:spPr>
      </p:pic>
      <p:sp>
        <p:nvSpPr>
          <p:cNvPr id="16" name="Content Placeholder 6">
            <a:extLst>
              <a:ext uri="{FF2B5EF4-FFF2-40B4-BE49-F238E27FC236}">
                <a16:creationId xmlns:a16="http://schemas.microsoft.com/office/drawing/2014/main" id="{67B4AD85-8BCD-4292-D9D8-53F7D7AFF6A0}"/>
              </a:ext>
            </a:extLst>
          </p:cNvPr>
          <p:cNvSpPr txBox="1">
            <a:spLocks/>
          </p:cNvSpPr>
          <p:nvPr/>
        </p:nvSpPr>
        <p:spPr>
          <a:xfrm>
            <a:off x="973540" y="3441646"/>
            <a:ext cx="8898868" cy="169135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40000"/>
              </a:lnSpc>
            </a:pPr>
            <a:endParaRPr lang="en-US" sz="1900" dirty="0">
              <a:latin typeface="Segoe Pro" panose="020B0502040504020203" pitchFamily="34" charset="0"/>
              <a:cs typeface="Segoe UI" panose="020B0502040204020203" pitchFamily="34" charset="0"/>
            </a:endParaRPr>
          </a:p>
        </p:txBody>
      </p:sp>
    </p:spTree>
    <p:extLst>
      <p:ext uri="{BB962C8B-B14F-4D97-AF65-F5344CB8AC3E}">
        <p14:creationId xmlns:p14="http://schemas.microsoft.com/office/powerpoint/2010/main" val="3477453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4436287B-8AF1-AD5D-D8D1-6115BC634DD4}"/>
              </a:ext>
            </a:extLst>
          </p:cNvPr>
          <p:cNvSpPr>
            <a:spLocks noGrp="1"/>
          </p:cNvSpPr>
          <p:nvPr>
            <p:ph type="ftr" sz="quarter" idx="21"/>
          </p:nvPr>
        </p:nvSpPr>
        <p:spPr/>
        <p:txBody>
          <a:bodyPr/>
          <a:lstStyle/>
          <a:p>
            <a:r>
              <a:rPr lang="en-US" dirty="0"/>
              <a:t>Analysis of Cybersecurity Breach Involving A Software Vulnerability: RSA</a:t>
            </a:r>
          </a:p>
        </p:txBody>
      </p:sp>
      <p:sp>
        <p:nvSpPr>
          <p:cNvPr id="12" name="Slide Number Placeholder 11">
            <a:extLst>
              <a:ext uri="{FF2B5EF4-FFF2-40B4-BE49-F238E27FC236}">
                <a16:creationId xmlns:a16="http://schemas.microsoft.com/office/drawing/2014/main" id="{B27D65FA-9240-E5A5-ACDF-CB5D90E7C21A}"/>
              </a:ext>
            </a:extLst>
          </p:cNvPr>
          <p:cNvSpPr>
            <a:spLocks noGrp="1"/>
          </p:cNvSpPr>
          <p:nvPr>
            <p:ph type="sldNum" sz="quarter" idx="22"/>
          </p:nvPr>
        </p:nvSpPr>
        <p:spPr/>
        <p:txBody>
          <a:bodyPr/>
          <a:lstStyle/>
          <a:p>
            <a:fld id="{B5CEABB6-07DC-46E8-9B57-56EC44A396E5}" type="slidenum">
              <a:rPr lang="en-US" smtClean="0"/>
              <a:t>6</a:t>
            </a:fld>
            <a:endParaRPr lang="en-US" dirty="0"/>
          </a:p>
        </p:txBody>
      </p:sp>
      <p:sp>
        <p:nvSpPr>
          <p:cNvPr id="13" name="Title 1">
            <a:extLst>
              <a:ext uri="{FF2B5EF4-FFF2-40B4-BE49-F238E27FC236}">
                <a16:creationId xmlns:a16="http://schemas.microsoft.com/office/drawing/2014/main" id="{DE19141E-73A2-8E8A-8E07-7972700FFC26}"/>
              </a:ext>
            </a:extLst>
          </p:cNvPr>
          <p:cNvSpPr>
            <a:spLocks noGrp="1"/>
          </p:cNvSpPr>
          <p:nvPr>
            <p:ph type="title"/>
          </p:nvPr>
        </p:nvSpPr>
        <p:spPr>
          <a:xfrm>
            <a:off x="2221029" y="201015"/>
            <a:ext cx="8421688" cy="1325563"/>
          </a:xfrm>
        </p:spPr>
        <p:txBody>
          <a:bodyPr/>
          <a:lstStyle/>
          <a:p>
            <a:pPr algn="ctr"/>
            <a:r>
              <a:rPr lang="en-US" dirty="0"/>
              <a:t>Description of the Attack</a:t>
            </a:r>
          </a:p>
        </p:txBody>
      </p:sp>
      <p:pic>
        <p:nvPicPr>
          <p:cNvPr id="15" name="Picture 14">
            <a:extLst>
              <a:ext uri="{FF2B5EF4-FFF2-40B4-BE49-F238E27FC236}">
                <a16:creationId xmlns:a16="http://schemas.microsoft.com/office/drawing/2014/main" id="{4B1B139C-067B-F232-1E12-6ED3537CFDAB}"/>
              </a:ext>
            </a:extLst>
          </p:cNvPr>
          <p:cNvPicPr>
            <a:picLocks noChangeAspect="1"/>
          </p:cNvPicPr>
          <p:nvPr/>
        </p:nvPicPr>
        <p:blipFill>
          <a:blip r:embed="rId3"/>
          <a:stretch>
            <a:fillRect/>
          </a:stretch>
        </p:blipFill>
        <p:spPr>
          <a:xfrm>
            <a:off x="6588786" y="1526578"/>
            <a:ext cx="5049329" cy="4472959"/>
          </a:xfrm>
          <a:prstGeom prst="rect">
            <a:avLst/>
          </a:prstGeom>
        </p:spPr>
      </p:pic>
      <p:sp>
        <p:nvSpPr>
          <p:cNvPr id="16" name="Subtitle 2">
            <a:extLst>
              <a:ext uri="{FF2B5EF4-FFF2-40B4-BE49-F238E27FC236}">
                <a16:creationId xmlns:a16="http://schemas.microsoft.com/office/drawing/2014/main" id="{54A56902-44DC-7125-CD65-0E906F8B282D}"/>
              </a:ext>
              <a:ext uri="{C183D7F6-B498-43B3-948B-1728B52AA6E4}">
                <adec:decorative xmlns:adec="http://schemas.microsoft.com/office/drawing/2017/decorative" val="0"/>
              </a:ext>
            </a:extLst>
          </p:cNvPr>
          <p:cNvSpPr txBox="1">
            <a:spLocks/>
          </p:cNvSpPr>
          <p:nvPr/>
        </p:nvSpPr>
        <p:spPr>
          <a:xfrm>
            <a:off x="668740" y="1526579"/>
            <a:ext cx="5763133" cy="447295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Segoe Pro" panose="020B0502040504020203" pitchFamily="34" charset="0"/>
                <a:ea typeface="Segoe UI" panose="020B0502040204020203" pitchFamily="34" charset="0"/>
                <a:cs typeface="Segoe UI" panose="020B0502040204020203" pitchFamily="34" charset="0"/>
              </a:rPr>
              <a:t>Vulnerability </a:t>
            </a:r>
          </a:p>
          <a:p>
            <a:pPr marL="0" indent="0">
              <a:buNone/>
            </a:pPr>
            <a:r>
              <a:rPr lang="en-US" sz="2000" dirty="0">
                <a:latin typeface="Segoe Pro" panose="020B0502040504020203" pitchFamily="34" charset="0"/>
                <a:ea typeface="Segoe UI" panose="020B0502040204020203" pitchFamily="34" charset="0"/>
                <a:cs typeface="Segoe UI" panose="020B0502040204020203" pitchFamily="34" charset="0"/>
              </a:rPr>
              <a:t>A one-byte alteration (fuzzing) occurs via well-formed bytecode stream against .</a:t>
            </a:r>
            <a:r>
              <a:rPr lang="en-US" sz="2000" dirty="0" err="1">
                <a:latin typeface="Segoe Pro" panose="020B0502040504020203" pitchFamily="34" charset="0"/>
                <a:ea typeface="Segoe UI" panose="020B0502040204020203" pitchFamily="34" charset="0"/>
                <a:cs typeface="Segoe UI" panose="020B0502040204020203" pitchFamily="34" charset="0"/>
              </a:rPr>
              <a:t>swf</a:t>
            </a:r>
            <a:r>
              <a:rPr lang="en-US" sz="2000" dirty="0">
                <a:latin typeface="Segoe Pro" panose="020B0502040504020203" pitchFamily="34" charset="0"/>
                <a:ea typeface="Segoe UI" panose="020B0502040204020203" pitchFamily="34" charset="0"/>
                <a:cs typeface="Segoe UI" panose="020B0502040204020203" pitchFamily="34" charset="0"/>
              </a:rPr>
              <a:t> file</a:t>
            </a:r>
          </a:p>
          <a:p>
            <a:pPr marL="0" indent="0">
              <a:buNone/>
            </a:pPr>
            <a:endParaRPr lang="en-US" sz="2000" dirty="0">
              <a:latin typeface="Segoe Pro" panose="020B0502040504020203" pitchFamily="34" charset="0"/>
              <a:ea typeface="Segoe UI" panose="020B0502040204020203" pitchFamily="34" charset="0"/>
              <a:cs typeface="Segoe UI" panose="020B0502040204020203" pitchFamily="34" charset="0"/>
            </a:endParaRPr>
          </a:p>
          <a:p>
            <a:pPr marL="0" indent="0">
              <a:buNone/>
            </a:pPr>
            <a:r>
              <a:rPr lang="en-US" sz="2000" dirty="0">
                <a:latin typeface="Segoe Pro" panose="020B0502040504020203" pitchFamily="34" charset="0"/>
                <a:ea typeface="Segoe UI" panose="020B0502040204020203" pitchFamily="34" charset="0"/>
                <a:cs typeface="Segoe UI" panose="020B0502040204020203" pitchFamily="34" charset="0"/>
              </a:rPr>
              <a:t>Memory Execution</a:t>
            </a:r>
          </a:p>
          <a:p>
            <a:pPr marL="0" indent="0">
              <a:buNone/>
            </a:pPr>
            <a:r>
              <a:rPr lang="en-US" sz="2000" dirty="0">
                <a:latin typeface="Segoe Pro" panose="020B0502040504020203" pitchFamily="34" charset="0"/>
                <a:ea typeface="Segoe UI" panose="020B0502040204020203" pitchFamily="34" charset="0"/>
                <a:cs typeface="Segoe UI" panose="020B0502040204020203" pitchFamily="34" charset="0"/>
              </a:rPr>
              <a:t>The bytecode bypasses the verification process and the native code is generated and placed in </a:t>
            </a:r>
            <a:r>
              <a:rPr lang="en-US" sz="2000" dirty="0" err="1">
                <a:latin typeface="Segoe Pro" panose="020B0502040504020203" pitchFamily="34" charset="0"/>
                <a:ea typeface="Segoe UI" panose="020B0502040204020203" pitchFamily="34" charset="0"/>
                <a:cs typeface="Segoe UI" panose="020B0502040204020203" pitchFamily="34" charset="0"/>
              </a:rPr>
              <a:t>VirtualAlloc</a:t>
            </a:r>
            <a:r>
              <a:rPr lang="en-US" sz="2000" dirty="0">
                <a:latin typeface="Segoe Pro" panose="020B0502040504020203" pitchFamily="34" charset="0"/>
                <a:ea typeface="Segoe UI" panose="020B0502040204020203" pitchFamily="34" charset="0"/>
                <a:cs typeface="Segoe UI" panose="020B0502040204020203" pitchFamily="34" charset="0"/>
              </a:rPr>
              <a:t>()'d executable memory. </a:t>
            </a:r>
          </a:p>
          <a:p>
            <a:pPr marL="0" indent="0">
              <a:buNone/>
            </a:pPr>
            <a:endParaRPr lang="en-US" sz="2000" dirty="0">
              <a:latin typeface="Segoe Pro" panose="020B0502040504020203" pitchFamily="34" charset="0"/>
              <a:ea typeface="Segoe UI" panose="020B0502040204020203" pitchFamily="34" charset="0"/>
              <a:cs typeface="Segoe UI" panose="020B0502040204020203" pitchFamily="34" charset="0"/>
            </a:endParaRPr>
          </a:p>
          <a:p>
            <a:pPr marL="0" indent="0">
              <a:buNone/>
            </a:pPr>
            <a:r>
              <a:rPr lang="en-US" sz="2000" dirty="0">
                <a:latin typeface="Segoe Pro" panose="020B0502040504020203" pitchFamily="34" charset="0"/>
                <a:ea typeface="Segoe UI" panose="020B0502040204020203" pitchFamily="34" charset="0"/>
                <a:cs typeface="Segoe UI" panose="020B0502040204020203" pitchFamily="34" charset="0"/>
              </a:rPr>
              <a:t>Security Implication</a:t>
            </a:r>
          </a:p>
          <a:p>
            <a:pPr marL="0" indent="0">
              <a:buNone/>
            </a:pPr>
            <a:r>
              <a:rPr lang="en-US" sz="2000" dirty="0">
                <a:latin typeface="Segoe Pro" panose="020B0502040504020203" pitchFamily="34" charset="0"/>
                <a:ea typeface="Segoe UI" panose="020B0502040204020203" pitchFamily="34" charset="0"/>
                <a:cs typeface="Segoe UI" panose="020B0502040204020203" pitchFamily="34" charset="0"/>
              </a:rPr>
              <a:t>The results of this code references uninitialized memory that is vulnerable to </a:t>
            </a:r>
            <a:r>
              <a:rPr lang="en-US" sz="2000" dirty="0" err="1">
                <a:latin typeface="Segoe Pro" panose="020B0502040504020203" pitchFamily="34" charset="0"/>
                <a:ea typeface="Segoe UI" panose="020B0502040204020203" pitchFamily="34" charset="0"/>
                <a:cs typeface="Segoe UI" panose="020B0502040204020203" pitchFamily="34" charset="0"/>
              </a:rPr>
              <a:t>heapspraying</a:t>
            </a:r>
            <a:r>
              <a:rPr lang="en-US" sz="2000" dirty="0">
                <a:latin typeface="Segoe Pro" panose="020B0502040504020203" pitchFamily="34" charset="0"/>
                <a:ea typeface="Segoe UI" panose="020B0502040204020203" pitchFamily="34" charset="0"/>
                <a:cs typeface="Segoe UI" panose="020B0502040204020203" pitchFamily="34" charset="0"/>
              </a:rPr>
              <a:t> and eventually arbitrary code execution.</a:t>
            </a:r>
          </a:p>
          <a:p>
            <a:pPr marL="0" indent="0">
              <a:buNone/>
            </a:pPr>
            <a:endParaRPr lang="en-US" sz="1400" dirty="0">
              <a:latin typeface="Segoe Pro" panose="020B0502040504020203" pitchFamily="34" charset="0"/>
              <a:ea typeface="Segoe UI" panose="020B0502040204020203" pitchFamily="34" charset="0"/>
              <a:cs typeface="Segoe UI" panose="020B0502040204020203" pitchFamily="34" charset="0"/>
            </a:endParaRPr>
          </a:p>
        </p:txBody>
      </p:sp>
      <p:sp>
        <p:nvSpPr>
          <p:cNvPr id="19" name="Rectangle 3">
            <a:extLst>
              <a:ext uri="{FF2B5EF4-FFF2-40B4-BE49-F238E27FC236}">
                <a16:creationId xmlns:a16="http://schemas.microsoft.com/office/drawing/2014/main" id="{E5427D34-3237-6A55-2F3C-33D7334B7CE7}"/>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3142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4206886" y="45584"/>
            <a:ext cx="3778228" cy="1204912"/>
          </a:xfrm>
        </p:spPr>
        <p:txBody>
          <a:bodyPr>
            <a:normAutofit/>
          </a:bodyPr>
          <a:lstStyle/>
          <a:p>
            <a:r>
              <a:rPr lang="en-US" dirty="0"/>
              <a:t>Remediation Steps</a:t>
            </a:r>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7</a:t>
            </a:fld>
            <a:endParaRPr lang="en-US" dirty="0"/>
          </a:p>
        </p:txBody>
      </p:sp>
      <p:sp>
        <p:nvSpPr>
          <p:cNvPr id="4" name="Footer Placeholder 3">
            <a:extLst>
              <a:ext uri="{FF2B5EF4-FFF2-40B4-BE49-F238E27FC236}">
                <a16:creationId xmlns:a16="http://schemas.microsoft.com/office/drawing/2014/main" id="{B3E21C49-B88F-5238-79B0-3BD128EDD61A}"/>
              </a:ext>
            </a:extLst>
          </p:cNvPr>
          <p:cNvSpPr>
            <a:spLocks noGrp="1"/>
          </p:cNvSpPr>
          <p:nvPr>
            <p:ph type="ftr" sz="quarter" idx="11"/>
          </p:nvPr>
        </p:nvSpPr>
        <p:spPr/>
        <p:txBody>
          <a:bodyPr/>
          <a:lstStyle/>
          <a:p>
            <a:r>
              <a:rPr lang="en-US" dirty="0"/>
              <a:t>Analysis of Cybersecurity Breach Involving A Software Vulnerability: RSA</a:t>
            </a:r>
          </a:p>
        </p:txBody>
      </p:sp>
      <p:sp>
        <p:nvSpPr>
          <p:cNvPr id="10" name="TextBox 9">
            <a:extLst>
              <a:ext uri="{FF2B5EF4-FFF2-40B4-BE49-F238E27FC236}">
                <a16:creationId xmlns:a16="http://schemas.microsoft.com/office/drawing/2014/main" id="{705131A0-CF44-9403-961F-60A7E21C8FA4}"/>
              </a:ext>
            </a:extLst>
          </p:cNvPr>
          <p:cNvSpPr txBox="1"/>
          <p:nvPr/>
        </p:nvSpPr>
        <p:spPr>
          <a:xfrm>
            <a:off x="604639" y="1250496"/>
            <a:ext cx="9800125" cy="3155800"/>
          </a:xfrm>
          <a:prstGeom prst="rect">
            <a:avLst/>
          </a:prstGeom>
          <a:noFill/>
        </p:spPr>
        <p:txBody>
          <a:bodyPr wrap="square">
            <a:spAutoFit/>
          </a:bodyPr>
          <a:lstStyle/>
          <a:p>
            <a:pPr>
              <a:lnSpc>
                <a:spcPct val="140000"/>
              </a:lnSpc>
            </a:pPr>
            <a:r>
              <a:rPr lang="en-US" sz="1800" cap="all" spc="150" dirty="0">
                <a:latin typeface="Segoe Pro" panose="020B0502040504020203" pitchFamily="34" charset="0"/>
                <a:cs typeface="Segoe UI" panose="020B0502040204020203" pitchFamily="34" charset="0"/>
              </a:rPr>
              <a:t>Improper Restriction of Operations within</a:t>
            </a:r>
            <a:r>
              <a:rPr lang="en-US" cap="all" spc="150" dirty="0">
                <a:latin typeface="Segoe Pro" panose="020B0502040504020203" pitchFamily="34" charset="0"/>
                <a:cs typeface="Segoe UI" panose="020B0502040204020203" pitchFamily="34" charset="0"/>
              </a:rPr>
              <a:t> </a:t>
            </a:r>
            <a:r>
              <a:rPr lang="en-US" sz="1800" cap="all" spc="150" dirty="0">
                <a:latin typeface="Segoe Pro" panose="020B0502040504020203" pitchFamily="34" charset="0"/>
                <a:cs typeface="Segoe UI" panose="020B0502040204020203" pitchFamily="34" charset="0"/>
              </a:rPr>
              <a:t>the Bounds of a Memory Buffer: cwe-119</a:t>
            </a:r>
          </a:p>
          <a:p>
            <a:pPr marL="285750" indent="-285750">
              <a:lnSpc>
                <a:spcPct val="140000"/>
              </a:lnSpc>
              <a:buFont typeface="Arial" panose="020B0604020202020204" pitchFamily="34" charset="0"/>
              <a:buChar char="•"/>
            </a:pPr>
            <a:r>
              <a:rPr lang="en-US" sz="1800" dirty="0"/>
              <a:t>Known as Buffer Overflow</a:t>
            </a:r>
          </a:p>
          <a:p>
            <a:pPr marL="285750" indent="-285750">
              <a:lnSpc>
                <a:spcPct val="140000"/>
              </a:lnSpc>
              <a:buFont typeface="Arial" panose="020B0604020202020204" pitchFamily="34" charset="0"/>
              <a:buChar char="•"/>
            </a:pPr>
            <a:r>
              <a:rPr lang="en-US" dirty="0"/>
              <a:t>Description: When operations are performed on a memory buffer, but it executes to a memory location outside the buffer's intended boundary. This result in read or write operations on unexpected memory locations that could be linked to other variables, data structures, or internal program data.</a:t>
            </a:r>
          </a:p>
          <a:p>
            <a:pPr marL="285750" indent="-285750">
              <a:lnSpc>
                <a:spcPct val="140000"/>
              </a:lnSpc>
              <a:buFont typeface="Arial" panose="020B0604020202020204" pitchFamily="34" charset="0"/>
              <a:buChar char="•"/>
            </a:pPr>
            <a:endParaRPr lang="en-US" sz="1800" cap="all" spc="150" dirty="0">
              <a:latin typeface="Segoe Pro" panose="020B0502040504020203" pitchFamily="34" charset="0"/>
              <a:cs typeface="Segoe UI" panose="020B0502040204020203" pitchFamily="34" charset="0"/>
            </a:endParaRPr>
          </a:p>
        </p:txBody>
      </p:sp>
      <p:pic>
        <p:nvPicPr>
          <p:cNvPr id="15" name="Picture 14">
            <a:extLst>
              <a:ext uri="{FF2B5EF4-FFF2-40B4-BE49-F238E27FC236}">
                <a16:creationId xmlns:a16="http://schemas.microsoft.com/office/drawing/2014/main" id="{7A013303-BB9E-6B30-FD07-2B81E541D1C2}"/>
              </a:ext>
            </a:extLst>
          </p:cNvPr>
          <p:cNvPicPr>
            <a:picLocks noChangeAspect="1"/>
          </p:cNvPicPr>
          <p:nvPr/>
        </p:nvPicPr>
        <p:blipFill>
          <a:blip r:embed="rId3"/>
          <a:stretch>
            <a:fillRect/>
          </a:stretch>
        </p:blipFill>
        <p:spPr>
          <a:xfrm>
            <a:off x="1052945" y="5259297"/>
            <a:ext cx="4353943" cy="778686"/>
          </a:xfrm>
          <a:prstGeom prst="rect">
            <a:avLst/>
          </a:prstGeom>
        </p:spPr>
      </p:pic>
      <p:pic>
        <p:nvPicPr>
          <p:cNvPr id="17" name="Picture 16">
            <a:extLst>
              <a:ext uri="{FF2B5EF4-FFF2-40B4-BE49-F238E27FC236}">
                <a16:creationId xmlns:a16="http://schemas.microsoft.com/office/drawing/2014/main" id="{B9E8AE26-E2D4-3822-FD3A-697AE9B1C438}"/>
              </a:ext>
            </a:extLst>
          </p:cNvPr>
          <p:cNvPicPr>
            <a:picLocks noChangeAspect="1"/>
          </p:cNvPicPr>
          <p:nvPr/>
        </p:nvPicPr>
        <p:blipFill>
          <a:blip r:embed="rId4"/>
          <a:stretch>
            <a:fillRect/>
          </a:stretch>
        </p:blipFill>
        <p:spPr>
          <a:xfrm>
            <a:off x="6352940" y="3879562"/>
            <a:ext cx="5156903" cy="2174138"/>
          </a:xfrm>
          <a:prstGeom prst="rect">
            <a:avLst/>
          </a:prstGeom>
        </p:spPr>
      </p:pic>
      <p:sp>
        <p:nvSpPr>
          <p:cNvPr id="18" name="Text Placeholder 24">
            <a:extLst>
              <a:ext uri="{FF2B5EF4-FFF2-40B4-BE49-F238E27FC236}">
                <a16:creationId xmlns:a16="http://schemas.microsoft.com/office/drawing/2014/main" id="{047C1DE1-0AEA-90E2-525A-AF2F1C3C7BB1}"/>
              </a:ext>
            </a:extLst>
          </p:cNvPr>
          <p:cNvSpPr txBox="1">
            <a:spLocks/>
          </p:cNvSpPr>
          <p:nvPr/>
        </p:nvSpPr>
        <p:spPr>
          <a:xfrm>
            <a:off x="2506963" y="6083567"/>
            <a:ext cx="1370234" cy="2819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VULNERABLE CODE</a:t>
            </a:r>
          </a:p>
        </p:txBody>
      </p:sp>
      <p:sp>
        <p:nvSpPr>
          <p:cNvPr id="19" name="Text Placeholder 24">
            <a:extLst>
              <a:ext uri="{FF2B5EF4-FFF2-40B4-BE49-F238E27FC236}">
                <a16:creationId xmlns:a16="http://schemas.microsoft.com/office/drawing/2014/main" id="{FFE18805-6103-9FDA-4B13-6C6F95B5E5F3}"/>
              </a:ext>
            </a:extLst>
          </p:cNvPr>
          <p:cNvSpPr txBox="1">
            <a:spLocks/>
          </p:cNvSpPr>
          <p:nvPr/>
        </p:nvSpPr>
        <p:spPr>
          <a:xfrm>
            <a:off x="8450855" y="6083567"/>
            <a:ext cx="1000107" cy="28194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REMEDIATION</a:t>
            </a:r>
          </a:p>
        </p:txBody>
      </p:sp>
      <p:sp>
        <p:nvSpPr>
          <p:cNvPr id="20" name="TextBox 19">
            <a:extLst>
              <a:ext uri="{FF2B5EF4-FFF2-40B4-BE49-F238E27FC236}">
                <a16:creationId xmlns:a16="http://schemas.microsoft.com/office/drawing/2014/main" id="{90F48E0F-9159-480D-97C8-F07D1D385FEB}"/>
              </a:ext>
            </a:extLst>
          </p:cNvPr>
          <p:cNvSpPr txBox="1"/>
          <p:nvPr/>
        </p:nvSpPr>
        <p:spPr>
          <a:xfrm>
            <a:off x="604638" y="3922360"/>
            <a:ext cx="5491362" cy="1216808"/>
          </a:xfrm>
          <a:prstGeom prst="rect">
            <a:avLst/>
          </a:prstGeom>
          <a:noFill/>
        </p:spPr>
        <p:txBody>
          <a:bodyPr wrap="square">
            <a:spAutoFit/>
          </a:bodyPr>
          <a:lstStyle/>
          <a:p>
            <a:pPr marL="285750" indent="-285750">
              <a:lnSpc>
                <a:spcPct val="140000"/>
              </a:lnSpc>
              <a:buFont typeface="Arial" panose="020B0604020202020204" pitchFamily="34" charset="0"/>
              <a:buChar char="•"/>
            </a:pPr>
            <a:r>
              <a:rPr lang="en-US" sz="1800" dirty="0"/>
              <a:t>Remediation: </a:t>
            </a:r>
            <a:r>
              <a:rPr lang="en-US" i="0" dirty="0">
                <a:solidFill>
                  <a:srgbClr val="121512"/>
                </a:solidFill>
                <a:effectLst/>
                <a:latin typeface="-apple-system"/>
              </a:rPr>
              <a:t>Ensure buffer operations are within defined limits, often using safer functions like </a:t>
            </a:r>
            <a:r>
              <a:rPr lang="en-US" i="0" dirty="0" err="1">
                <a:solidFill>
                  <a:srgbClr val="121512"/>
                </a:solidFill>
                <a:effectLst/>
                <a:latin typeface="-apple-system"/>
              </a:rPr>
              <a:t>strncpy</a:t>
            </a:r>
            <a:r>
              <a:rPr lang="en-US" i="0" dirty="0">
                <a:solidFill>
                  <a:srgbClr val="121512"/>
                </a:solidFill>
                <a:effectLst/>
                <a:latin typeface="-apple-system"/>
              </a:rPr>
              <a:t>.</a:t>
            </a:r>
            <a:endParaRPr lang="en-US" sz="1800" dirty="0"/>
          </a:p>
          <a:p>
            <a:pPr marL="285750" indent="-285750">
              <a:lnSpc>
                <a:spcPct val="140000"/>
              </a:lnSpc>
              <a:buFont typeface="Arial" panose="020B0604020202020204" pitchFamily="34" charset="0"/>
              <a:buChar char="•"/>
            </a:pPr>
            <a:endParaRPr lang="en-US" sz="1800" cap="all" spc="150" dirty="0">
              <a:latin typeface="Segoe Pro" panose="020B0502040504020203" pitchFamily="34" charset="0"/>
              <a:cs typeface="Segoe UI" panose="020B0502040204020203" pitchFamily="34" charset="0"/>
            </a:endParaRPr>
          </a:p>
        </p:txBody>
      </p:sp>
    </p:spTree>
    <p:extLst>
      <p:ext uri="{BB962C8B-B14F-4D97-AF65-F5344CB8AC3E}">
        <p14:creationId xmlns:p14="http://schemas.microsoft.com/office/powerpoint/2010/main" val="1679364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3902712" y="0"/>
            <a:ext cx="3882736" cy="1204912"/>
          </a:xfrm>
        </p:spPr>
        <p:txBody>
          <a:bodyPr>
            <a:normAutofit/>
          </a:bodyPr>
          <a:lstStyle/>
          <a:p>
            <a:r>
              <a:rPr lang="en-US" dirty="0"/>
              <a:t>Remediation Steps</a:t>
            </a:r>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8</a:t>
            </a:fld>
            <a:endParaRPr lang="en-US" dirty="0"/>
          </a:p>
        </p:txBody>
      </p:sp>
      <p:sp>
        <p:nvSpPr>
          <p:cNvPr id="4" name="Footer Placeholder 3">
            <a:extLst>
              <a:ext uri="{FF2B5EF4-FFF2-40B4-BE49-F238E27FC236}">
                <a16:creationId xmlns:a16="http://schemas.microsoft.com/office/drawing/2014/main" id="{B3E21C49-B88F-5238-79B0-3BD128EDD61A}"/>
              </a:ext>
            </a:extLst>
          </p:cNvPr>
          <p:cNvSpPr>
            <a:spLocks noGrp="1"/>
          </p:cNvSpPr>
          <p:nvPr>
            <p:ph type="ftr" sz="quarter" idx="11"/>
          </p:nvPr>
        </p:nvSpPr>
        <p:spPr/>
        <p:txBody>
          <a:bodyPr/>
          <a:lstStyle/>
          <a:p>
            <a:r>
              <a:rPr lang="en-US" dirty="0"/>
              <a:t>Analysis of Cybersecurity Breach Involving A Software Vulnerability: RSA</a:t>
            </a:r>
          </a:p>
        </p:txBody>
      </p:sp>
      <p:sp>
        <p:nvSpPr>
          <p:cNvPr id="8" name="Text Placeholder 7">
            <a:extLst>
              <a:ext uri="{FF2B5EF4-FFF2-40B4-BE49-F238E27FC236}">
                <a16:creationId xmlns:a16="http://schemas.microsoft.com/office/drawing/2014/main" id="{FD9BE726-9A4D-D43B-DEF7-A81F0A189D25}"/>
              </a:ext>
            </a:extLst>
          </p:cNvPr>
          <p:cNvSpPr>
            <a:spLocks noGrp="1"/>
          </p:cNvSpPr>
          <p:nvPr>
            <p:ph type="body" idx="1"/>
          </p:nvPr>
        </p:nvSpPr>
        <p:spPr>
          <a:xfrm>
            <a:off x="604640" y="1204912"/>
            <a:ext cx="10478880" cy="2973735"/>
          </a:xfrm>
        </p:spPr>
        <p:txBody>
          <a:bodyPr>
            <a:normAutofit/>
          </a:bodyPr>
          <a:lstStyle/>
          <a:p>
            <a:pPr>
              <a:lnSpc>
                <a:spcPct val="140000"/>
              </a:lnSpc>
            </a:pPr>
            <a:r>
              <a:rPr lang="en-US" sz="1800" cap="all" spc="150" dirty="0">
                <a:latin typeface="Segoe Pro" panose="020B0502040504020203" pitchFamily="34" charset="0"/>
                <a:cs typeface="Segoe UI" panose="020B0502040204020203" pitchFamily="34" charset="0"/>
              </a:rPr>
              <a:t>Out-Of-Bounds Write: cWE-787</a:t>
            </a:r>
          </a:p>
          <a:p>
            <a:pPr marL="285750" indent="-285750">
              <a:buFont typeface="Arial" panose="020B0604020202020204" pitchFamily="34" charset="0"/>
              <a:buChar char="•"/>
            </a:pPr>
            <a:r>
              <a:rPr lang="en-US" sz="1800" dirty="0"/>
              <a:t>Known as Memory Corruption</a:t>
            </a:r>
          </a:p>
          <a:p>
            <a:pPr marL="285750" indent="-285750">
              <a:buFont typeface="Arial" panose="020B0604020202020204" pitchFamily="34" charset="0"/>
              <a:buChar char="•"/>
            </a:pPr>
            <a:r>
              <a:rPr lang="en-US" sz="1800" dirty="0"/>
              <a:t>Description: Often used to describe the consequences of writing to memory outside the bounds of a buffer, or to memory that is otherwise invalid.</a:t>
            </a:r>
          </a:p>
          <a:p>
            <a:pPr marL="285750" indent="-285750">
              <a:buFont typeface="Arial" panose="020B0604020202020204" pitchFamily="34" charset="0"/>
              <a:buChar char="•"/>
            </a:pPr>
            <a:r>
              <a:rPr lang="en-US" sz="1800" dirty="0"/>
              <a:t>Remediation: Check array bounds before writing data and proper error handling.</a:t>
            </a:r>
          </a:p>
        </p:txBody>
      </p:sp>
      <p:sp>
        <p:nvSpPr>
          <p:cNvPr id="19" name="Text Placeholder 24">
            <a:extLst>
              <a:ext uri="{FF2B5EF4-FFF2-40B4-BE49-F238E27FC236}">
                <a16:creationId xmlns:a16="http://schemas.microsoft.com/office/drawing/2014/main" id="{9896E8CB-27A8-6892-3188-B94467ACC32F}"/>
              </a:ext>
            </a:extLst>
          </p:cNvPr>
          <p:cNvSpPr txBox="1">
            <a:spLocks/>
          </p:cNvSpPr>
          <p:nvPr/>
        </p:nvSpPr>
        <p:spPr>
          <a:xfrm>
            <a:off x="2166655" y="6074409"/>
            <a:ext cx="1370234" cy="28194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VULNERABLE CODE</a:t>
            </a:r>
          </a:p>
        </p:txBody>
      </p:sp>
      <p:sp>
        <p:nvSpPr>
          <p:cNvPr id="20" name="Text Placeholder 24">
            <a:extLst>
              <a:ext uri="{FF2B5EF4-FFF2-40B4-BE49-F238E27FC236}">
                <a16:creationId xmlns:a16="http://schemas.microsoft.com/office/drawing/2014/main" id="{E0E04347-F53E-34BE-D63F-E18EA653D1FD}"/>
              </a:ext>
            </a:extLst>
          </p:cNvPr>
          <p:cNvSpPr txBox="1">
            <a:spLocks/>
          </p:cNvSpPr>
          <p:nvPr/>
        </p:nvSpPr>
        <p:spPr>
          <a:xfrm>
            <a:off x="8110547" y="6074409"/>
            <a:ext cx="1000107" cy="28194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dirty="0"/>
              <a:t>REMEDIATION</a:t>
            </a:r>
          </a:p>
        </p:txBody>
      </p:sp>
      <p:pic>
        <p:nvPicPr>
          <p:cNvPr id="26" name="Picture 25">
            <a:extLst>
              <a:ext uri="{FF2B5EF4-FFF2-40B4-BE49-F238E27FC236}">
                <a16:creationId xmlns:a16="http://schemas.microsoft.com/office/drawing/2014/main" id="{F08F9A7B-F0B1-E143-8743-5493C315AD34}"/>
              </a:ext>
            </a:extLst>
          </p:cNvPr>
          <p:cNvPicPr>
            <a:picLocks noChangeAspect="1"/>
          </p:cNvPicPr>
          <p:nvPr/>
        </p:nvPicPr>
        <p:blipFill>
          <a:blip r:embed="rId3"/>
          <a:stretch>
            <a:fillRect/>
          </a:stretch>
        </p:blipFill>
        <p:spPr>
          <a:xfrm>
            <a:off x="5378438" y="3771343"/>
            <a:ext cx="6464324" cy="2087031"/>
          </a:xfrm>
          <a:prstGeom prst="rect">
            <a:avLst/>
          </a:prstGeom>
        </p:spPr>
      </p:pic>
      <p:pic>
        <p:nvPicPr>
          <p:cNvPr id="28" name="Picture 27">
            <a:extLst>
              <a:ext uri="{FF2B5EF4-FFF2-40B4-BE49-F238E27FC236}">
                <a16:creationId xmlns:a16="http://schemas.microsoft.com/office/drawing/2014/main" id="{EBE2169F-644C-6F03-702F-782EB9A1C1D4}"/>
              </a:ext>
            </a:extLst>
          </p:cNvPr>
          <p:cNvPicPr>
            <a:picLocks noChangeAspect="1"/>
          </p:cNvPicPr>
          <p:nvPr/>
        </p:nvPicPr>
        <p:blipFill>
          <a:blip r:embed="rId4"/>
          <a:stretch>
            <a:fillRect/>
          </a:stretch>
        </p:blipFill>
        <p:spPr>
          <a:xfrm>
            <a:off x="1231291" y="5099414"/>
            <a:ext cx="3233829" cy="758960"/>
          </a:xfrm>
          <a:prstGeom prst="rect">
            <a:avLst/>
          </a:prstGeom>
        </p:spPr>
      </p:pic>
    </p:spTree>
    <p:extLst>
      <p:ext uri="{BB962C8B-B14F-4D97-AF65-F5344CB8AC3E}">
        <p14:creationId xmlns:p14="http://schemas.microsoft.com/office/powerpoint/2010/main" val="1346372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D2186069-FC8E-433D-9BB4-942220CE8CFB}"/>
              </a:ext>
            </a:extLst>
          </p:cNvPr>
          <p:cNvSpPr>
            <a:spLocks noGrp="1"/>
          </p:cNvSpPr>
          <p:nvPr>
            <p:ph type="ftr" sz="quarter" idx="11"/>
          </p:nvPr>
        </p:nvSpPr>
        <p:spPr>
          <a:xfrm>
            <a:off x="4038600" y="6356350"/>
            <a:ext cx="4114800" cy="365125"/>
          </a:xfrm>
        </p:spPr>
        <p:txBody>
          <a:bodyPr/>
          <a:lstStyle/>
          <a:p>
            <a:r>
              <a:rPr lang="en-US"/>
              <a:t>Analysis of Cybersecurity Breach Involving A Software Vulnerability: RSA</a:t>
            </a:r>
            <a:endParaRPr lang="en-US" dirty="0"/>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9</a:t>
            </a:fld>
            <a:endParaRPr lang="en-US" dirty="0"/>
          </a:p>
        </p:txBody>
      </p:sp>
      <p:sp>
        <p:nvSpPr>
          <p:cNvPr id="18" name="Title 1">
            <a:extLst>
              <a:ext uri="{FF2B5EF4-FFF2-40B4-BE49-F238E27FC236}">
                <a16:creationId xmlns:a16="http://schemas.microsoft.com/office/drawing/2014/main" id="{7324B83F-89C1-A64C-097E-DCF11DB89716}"/>
              </a:ext>
            </a:extLst>
          </p:cNvPr>
          <p:cNvSpPr>
            <a:spLocks noGrp="1"/>
          </p:cNvSpPr>
          <p:nvPr>
            <p:ph type="title"/>
          </p:nvPr>
        </p:nvSpPr>
        <p:spPr>
          <a:xfrm>
            <a:off x="1885156" y="362335"/>
            <a:ext cx="8421688" cy="1325563"/>
          </a:xfrm>
        </p:spPr>
        <p:txBody>
          <a:bodyPr/>
          <a:lstStyle/>
          <a:p>
            <a:r>
              <a:rPr lang="en-US" dirty="0"/>
              <a:t>Remediation Steps</a:t>
            </a:r>
          </a:p>
        </p:txBody>
      </p:sp>
      <p:sp>
        <p:nvSpPr>
          <p:cNvPr id="2" name="Title 1">
            <a:extLst>
              <a:ext uri="{FF2B5EF4-FFF2-40B4-BE49-F238E27FC236}">
                <a16:creationId xmlns:a16="http://schemas.microsoft.com/office/drawing/2014/main" id="{537E1C88-627C-4655-A4FB-0BB02EDB078A}"/>
              </a:ext>
            </a:extLst>
          </p:cNvPr>
          <p:cNvSpPr txBox="1">
            <a:spLocks/>
          </p:cNvSpPr>
          <p:nvPr/>
        </p:nvSpPr>
        <p:spPr>
          <a:xfrm>
            <a:off x="604640" y="0"/>
            <a:ext cx="7359895" cy="120491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lang="en-US" sz="2800" kern="1200" cap="all" spc="150" baseline="0" dirty="0">
                <a:solidFill>
                  <a:schemeClr val="tx1">
                    <a:lumMod val="75000"/>
                    <a:lumOff val="25000"/>
                  </a:schemeClr>
                </a:solidFill>
                <a:latin typeface="+mj-lt"/>
                <a:ea typeface="+mj-ea"/>
                <a:cs typeface="+mj-cs"/>
              </a:defRPr>
            </a:lvl1pPr>
          </a:lstStyle>
          <a:p>
            <a:endParaRPr lang="en-US" dirty="0"/>
          </a:p>
        </p:txBody>
      </p:sp>
      <p:sp>
        <p:nvSpPr>
          <p:cNvPr id="17" name="Content Placeholder 2">
            <a:extLst>
              <a:ext uri="{FF2B5EF4-FFF2-40B4-BE49-F238E27FC236}">
                <a16:creationId xmlns:a16="http://schemas.microsoft.com/office/drawing/2014/main" id="{033634FE-ADF0-4BC3-A0A9-447EA9DD096B}"/>
              </a:ext>
            </a:extLst>
          </p:cNvPr>
          <p:cNvSpPr>
            <a:spLocks noGrp="1"/>
          </p:cNvSpPr>
          <p:nvPr>
            <p:ph type="body" idx="1"/>
          </p:nvPr>
        </p:nvSpPr>
        <p:spPr>
          <a:xfrm>
            <a:off x="2857942" y="1687898"/>
            <a:ext cx="7359895" cy="3116191"/>
          </a:xfrm>
        </p:spPr>
        <p:txBody>
          <a:bodyPr vert="horz" lIns="91440" tIns="45720" rIns="91440" bIns="45720" rtlCol="0" anchor="t">
            <a:noAutofit/>
          </a:bodyPr>
          <a:lstStyle/>
          <a:p>
            <a:pPr>
              <a:lnSpc>
                <a:spcPct val="150000"/>
              </a:lnSpc>
            </a:pPr>
            <a:r>
              <a:rPr lang="en-US" sz="1600" dirty="0">
                <a:latin typeface="Segoe Pro" panose="020B0502040504020203" pitchFamily="34" charset="0"/>
                <a:cs typeface="Segoe UI" panose="020B0502040204020203" pitchFamily="34" charset="0"/>
              </a:rPr>
              <a:t>Social Engineering Training</a:t>
            </a:r>
          </a:p>
          <a:p>
            <a:pPr>
              <a:lnSpc>
                <a:spcPct val="150000"/>
              </a:lnSpc>
            </a:pPr>
            <a:r>
              <a:rPr lang="en-US" sz="1600" dirty="0">
                <a:latin typeface="Segoe Pro" panose="020B0502040504020203" pitchFamily="34" charset="0"/>
                <a:cs typeface="Segoe UI" panose="020B0502040204020203" pitchFamily="34" charset="0"/>
              </a:rPr>
              <a:t>Supply Chain Validation</a:t>
            </a:r>
          </a:p>
          <a:p>
            <a:pPr>
              <a:lnSpc>
                <a:spcPct val="150000"/>
              </a:lnSpc>
            </a:pPr>
            <a:r>
              <a:rPr lang="en-US" sz="1600" dirty="0">
                <a:latin typeface="Segoe Pro" panose="020B0502040504020203" pitchFamily="34" charset="0"/>
                <a:cs typeface="Segoe UI" panose="020B0502040204020203" pitchFamily="34" charset="0"/>
              </a:rPr>
              <a:t>Network Segmentation and Air Gapping</a:t>
            </a:r>
          </a:p>
          <a:p>
            <a:pPr>
              <a:lnSpc>
                <a:spcPct val="150000"/>
              </a:lnSpc>
            </a:pPr>
            <a:endParaRPr lang="en-US" sz="1600" dirty="0">
              <a:latin typeface="Segoe Pro" panose="020B0502040504020203" pitchFamily="34" charset="0"/>
              <a:cs typeface="Segoe UI" panose="020B0502040204020203" pitchFamily="34" charset="0"/>
            </a:endParaRPr>
          </a:p>
        </p:txBody>
      </p:sp>
      <p:pic>
        <p:nvPicPr>
          <p:cNvPr id="2062" name="Picture 14" descr="Phishing - PhishProtection.com">
            <a:extLst>
              <a:ext uri="{FF2B5EF4-FFF2-40B4-BE49-F238E27FC236}">
                <a16:creationId xmlns:a16="http://schemas.microsoft.com/office/drawing/2014/main" id="{B4169E57-94E6-A786-A09A-470DB26AF8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98" y="4228922"/>
            <a:ext cx="3657917" cy="2057578"/>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5 Ways Technology Can Improve Your Supply Chain Management | City National  Bank">
            <a:extLst>
              <a:ext uri="{FF2B5EF4-FFF2-40B4-BE49-F238E27FC236}">
                <a16:creationId xmlns:a16="http://schemas.microsoft.com/office/drawing/2014/main" id="{71313669-6303-692A-9EEE-25CF1CE522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8135" y="4213199"/>
            <a:ext cx="4015730" cy="2007865"/>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The air gap myth | Control Global">
            <a:extLst>
              <a:ext uri="{FF2B5EF4-FFF2-40B4-BE49-F238E27FC236}">
                <a16:creationId xmlns:a16="http://schemas.microsoft.com/office/drawing/2014/main" id="{40267526-89EB-DE07-8299-CC1E39429AF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080" r="4071" b="1234"/>
          <a:stretch/>
        </p:blipFill>
        <p:spPr bwMode="auto">
          <a:xfrm>
            <a:off x="8354024" y="4194316"/>
            <a:ext cx="3657917" cy="2077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1627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CA57A-1444-2F1B-9271-154BDB750193}"/>
            </a:ext>
          </a:extLst>
        </p:cNvPr>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5DDE533F-BA52-0FA9-DF32-38FEB0396D23}"/>
              </a:ext>
            </a:extLst>
          </p:cNvPr>
          <p:cNvSpPr>
            <a:spLocks noGrp="1"/>
          </p:cNvSpPr>
          <p:nvPr>
            <p:ph type="ftr" sz="quarter" idx="21"/>
          </p:nvPr>
        </p:nvSpPr>
        <p:spPr/>
        <p:txBody>
          <a:bodyPr/>
          <a:lstStyle/>
          <a:p>
            <a:r>
              <a:rPr lang="en-US"/>
              <a:t>Analysis of Cybersecurity Breach Involving A Software Vulnerability: RSA</a:t>
            </a:r>
            <a:endParaRPr lang="en-US" dirty="0"/>
          </a:p>
        </p:txBody>
      </p:sp>
      <p:sp>
        <p:nvSpPr>
          <p:cNvPr id="12" name="Slide Number Placeholder 11">
            <a:extLst>
              <a:ext uri="{FF2B5EF4-FFF2-40B4-BE49-F238E27FC236}">
                <a16:creationId xmlns:a16="http://schemas.microsoft.com/office/drawing/2014/main" id="{4456F68F-A60A-2FCB-2017-C65AD0A43628}"/>
              </a:ext>
            </a:extLst>
          </p:cNvPr>
          <p:cNvSpPr>
            <a:spLocks noGrp="1"/>
          </p:cNvSpPr>
          <p:nvPr>
            <p:ph type="sldNum" sz="quarter" idx="22"/>
          </p:nvPr>
        </p:nvSpPr>
        <p:spPr/>
        <p:txBody>
          <a:bodyPr/>
          <a:lstStyle/>
          <a:p>
            <a:fld id="{B5CEABB6-07DC-46E8-9B57-56EC44A396E5}" type="slidenum">
              <a:rPr lang="en-US" smtClean="0"/>
              <a:pPr/>
              <a:t>10</a:t>
            </a:fld>
            <a:endParaRPr lang="en-US" dirty="0"/>
          </a:p>
        </p:txBody>
      </p:sp>
      <p:sp>
        <p:nvSpPr>
          <p:cNvPr id="13" name="TextBox 12">
            <a:extLst>
              <a:ext uri="{FF2B5EF4-FFF2-40B4-BE49-F238E27FC236}">
                <a16:creationId xmlns:a16="http://schemas.microsoft.com/office/drawing/2014/main" id="{06FF9138-AD0D-02A8-1E66-8687287EE4EF}"/>
              </a:ext>
            </a:extLst>
          </p:cNvPr>
          <p:cNvSpPr txBox="1"/>
          <p:nvPr/>
        </p:nvSpPr>
        <p:spPr>
          <a:xfrm>
            <a:off x="4225637" y="2422637"/>
            <a:ext cx="7855526" cy="253947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Segoe Pro" panose="020B0502040504020203" pitchFamily="34" charset="0"/>
                <a:cs typeface="Segoe UI" panose="020B0502040204020203" pitchFamily="34" charset="0"/>
              </a:rPr>
              <a:t>RSA continued defense that other attacks were not directly related to their breach.</a:t>
            </a:r>
          </a:p>
          <a:p>
            <a:pPr marL="285750" indent="-285750">
              <a:lnSpc>
                <a:spcPct val="150000"/>
              </a:lnSpc>
              <a:buFont typeface="Arial" panose="020B0604020202020204" pitchFamily="34" charset="0"/>
              <a:buChar char="•"/>
            </a:pPr>
            <a:r>
              <a:rPr lang="en-US" dirty="0">
                <a:latin typeface="Segoe Pro" panose="020B0502040504020203" pitchFamily="34" charset="0"/>
                <a:cs typeface="Segoe UI" panose="020B0502040204020203" pitchFamily="34" charset="0"/>
              </a:rPr>
              <a:t>Media cover on attacks for Google, Sony, and the Australian government increased customer sensitivity to risk.</a:t>
            </a:r>
          </a:p>
          <a:p>
            <a:pPr marL="285750" indent="-285750">
              <a:lnSpc>
                <a:spcPct val="150000"/>
              </a:lnSpc>
              <a:buFont typeface="Arial" panose="020B0604020202020204" pitchFamily="34" charset="0"/>
              <a:buChar char="•"/>
            </a:pPr>
            <a:r>
              <a:rPr lang="en-US" dirty="0">
                <a:latin typeface="Segoe Pro" panose="020B0502040504020203" pitchFamily="34" charset="0"/>
                <a:cs typeface="Segoe UI" panose="020B0502040204020203" pitchFamily="34" charset="0"/>
              </a:rPr>
              <a:t>RSA spent a total $66 million on the business continuity and disaster recovery efforts following the breach.</a:t>
            </a:r>
          </a:p>
        </p:txBody>
      </p:sp>
      <p:sp>
        <p:nvSpPr>
          <p:cNvPr id="14" name="Title 1">
            <a:extLst>
              <a:ext uri="{FF2B5EF4-FFF2-40B4-BE49-F238E27FC236}">
                <a16:creationId xmlns:a16="http://schemas.microsoft.com/office/drawing/2014/main" id="{64430EF1-32B3-F907-34C6-C7971EBC9BBC}"/>
              </a:ext>
            </a:extLst>
          </p:cNvPr>
          <p:cNvSpPr>
            <a:spLocks noGrp="1"/>
          </p:cNvSpPr>
          <p:nvPr>
            <p:ph type="title"/>
          </p:nvPr>
        </p:nvSpPr>
        <p:spPr>
          <a:xfrm>
            <a:off x="5517509" y="136525"/>
            <a:ext cx="5271782" cy="1325563"/>
          </a:xfrm>
        </p:spPr>
        <p:txBody>
          <a:bodyPr/>
          <a:lstStyle/>
          <a:p>
            <a:r>
              <a:rPr lang="en-US" dirty="0"/>
              <a:t>Impact and Legal Actions</a:t>
            </a:r>
          </a:p>
        </p:txBody>
      </p:sp>
      <p:pic>
        <p:nvPicPr>
          <p:cNvPr id="3" name="Picture 2" descr="A red text on a black background&#10;&#10;Description automatically generated">
            <a:extLst>
              <a:ext uri="{FF2B5EF4-FFF2-40B4-BE49-F238E27FC236}">
                <a16:creationId xmlns:a16="http://schemas.microsoft.com/office/drawing/2014/main" id="{45ED8357-ECBB-C726-9B75-F289B2239388}"/>
              </a:ext>
            </a:extLst>
          </p:cNvPr>
          <p:cNvPicPr>
            <a:picLocks noChangeAspect="1"/>
          </p:cNvPicPr>
          <p:nvPr/>
        </p:nvPicPr>
        <p:blipFill>
          <a:blip r:embed="rId3"/>
          <a:stretch>
            <a:fillRect/>
          </a:stretch>
        </p:blipFill>
        <p:spPr>
          <a:xfrm>
            <a:off x="712922" y="1167707"/>
            <a:ext cx="3213215" cy="2524669"/>
          </a:xfrm>
          <a:prstGeom prst="rect">
            <a:avLst/>
          </a:prstGeom>
        </p:spPr>
      </p:pic>
      <p:pic>
        <p:nvPicPr>
          <p:cNvPr id="4" name="Picture 3">
            <a:extLst>
              <a:ext uri="{FF2B5EF4-FFF2-40B4-BE49-F238E27FC236}">
                <a16:creationId xmlns:a16="http://schemas.microsoft.com/office/drawing/2014/main" id="{A7E7FE56-DB8E-548A-47DB-36B5CDF3086A}"/>
              </a:ext>
            </a:extLst>
          </p:cNvPr>
          <p:cNvPicPr>
            <a:picLocks noChangeAspect="1"/>
          </p:cNvPicPr>
          <p:nvPr/>
        </p:nvPicPr>
        <p:blipFill>
          <a:blip r:embed="rId4"/>
          <a:stretch>
            <a:fillRect/>
          </a:stretch>
        </p:blipFill>
        <p:spPr>
          <a:xfrm>
            <a:off x="1052126" y="4046246"/>
            <a:ext cx="2469793" cy="1078813"/>
          </a:xfrm>
          <a:prstGeom prst="rect">
            <a:avLst/>
          </a:prstGeom>
        </p:spPr>
      </p:pic>
    </p:spTree>
    <p:extLst>
      <p:ext uri="{BB962C8B-B14F-4D97-AF65-F5344CB8AC3E}">
        <p14:creationId xmlns:p14="http://schemas.microsoft.com/office/powerpoint/2010/main" val="3736781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2E4CFAE8-F01D-6909-8807-CAAC49D42C00}"/>
              </a:ext>
            </a:extLst>
          </p:cNvPr>
          <p:cNvSpPr>
            <a:spLocks noGrp="1"/>
          </p:cNvSpPr>
          <p:nvPr>
            <p:ph type="ftr" sz="quarter" idx="21"/>
          </p:nvPr>
        </p:nvSpPr>
        <p:spPr/>
        <p:txBody>
          <a:bodyPr/>
          <a:lstStyle/>
          <a:p>
            <a:r>
              <a:rPr lang="en-US"/>
              <a:t>Analysis of Cybersecurity Breach Involving A Software Vulnerability: RSA</a:t>
            </a:r>
            <a:endParaRPr lang="en-US" dirty="0"/>
          </a:p>
        </p:txBody>
      </p:sp>
      <p:sp>
        <p:nvSpPr>
          <p:cNvPr id="12" name="Slide Number Placeholder 11">
            <a:extLst>
              <a:ext uri="{FF2B5EF4-FFF2-40B4-BE49-F238E27FC236}">
                <a16:creationId xmlns:a16="http://schemas.microsoft.com/office/drawing/2014/main" id="{1E693460-3208-DCE1-7E14-9C22CA2A9A98}"/>
              </a:ext>
            </a:extLst>
          </p:cNvPr>
          <p:cNvSpPr>
            <a:spLocks noGrp="1"/>
          </p:cNvSpPr>
          <p:nvPr>
            <p:ph type="sldNum" sz="quarter" idx="22"/>
          </p:nvPr>
        </p:nvSpPr>
        <p:spPr/>
        <p:txBody>
          <a:bodyPr/>
          <a:lstStyle/>
          <a:p>
            <a:fld id="{B5CEABB6-07DC-46E8-9B57-56EC44A396E5}" type="slidenum">
              <a:rPr lang="en-US" smtClean="0"/>
              <a:pPr/>
              <a:t>11</a:t>
            </a:fld>
            <a:endParaRPr lang="en-US" dirty="0"/>
          </a:p>
        </p:txBody>
      </p:sp>
      <p:sp>
        <p:nvSpPr>
          <p:cNvPr id="13" name="TextBox 12">
            <a:extLst>
              <a:ext uri="{FF2B5EF4-FFF2-40B4-BE49-F238E27FC236}">
                <a16:creationId xmlns:a16="http://schemas.microsoft.com/office/drawing/2014/main" id="{2CCF1190-56D6-2036-0BBF-ED00335E49BA}"/>
              </a:ext>
            </a:extLst>
          </p:cNvPr>
          <p:cNvSpPr txBox="1"/>
          <p:nvPr/>
        </p:nvSpPr>
        <p:spPr>
          <a:xfrm>
            <a:off x="4225637" y="1648154"/>
            <a:ext cx="7855526" cy="420147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Segoe Pro" panose="020B0502040504020203" pitchFamily="34" charset="0"/>
                <a:cs typeface="Segoe UI" panose="020B0502040204020203" pitchFamily="34" charset="0"/>
              </a:rPr>
              <a:t>Public Disclosure and c</a:t>
            </a:r>
            <a:r>
              <a:rPr lang="en-US" sz="1800" dirty="0">
                <a:latin typeface="Segoe Pro" panose="020B0502040504020203" pitchFamily="34" charset="0"/>
                <a:cs typeface="Segoe UI" panose="020B0502040204020203" pitchFamily="34" charset="0"/>
              </a:rPr>
              <a:t>ustomer notifications for adding and lengthening SecureID PINs.</a:t>
            </a:r>
          </a:p>
          <a:p>
            <a:pPr marL="285750" indent="-285750">
              <a:lnSpc>
                <a:spcPct val="150000"/>
              </a:lnSpc>
              <a:buFont typeface="Arial" panose="020B0604020202020204" pitchFamily="34" charset="0"/>
              <a:buChar char="•"/>
            </a:pPr>
            <a:r>
              <a:rPr lang="en-US" dirty="0">
                <a:latin typeface="Segoe Pro" panose="020B0502040504020203" pitchFamily="34" charset="0"/>
                <a:cs typeface="Segoe UI" panose="020B0502040204020203" pitchFamily="34" charset="0"/>
              </a:rPr>
              <a:t>Defense Contractors, Incident Response, NSA, and FBI called to help the investigation.</a:t>
            </a:r>
          </a:p>
          <a:p>
            <a:pPr marL="285750" indent="-285750">
              <a:lnSpc>
                <a:spcPct val="150000"/>
              </a:lnSpc>
              <a:buFont typeface="Arial" panose="020B0604020202020204" pitchFamily="34" charset="0"/>
              <a:buChar char="•"/>
            </a:pPr>
            <a:r>
              <a:rPr lang="en-US" sz="1800" dirty="0">
                <a:latin typeface="Segoe Pro" panose="020B0502040504020203" pitchFamily="34" charset="0"/>
                <a:cs typeface="Segoe UI" panose="020B0502040204020203" pitchFamily="34" charset="0"/>
              </a:rPr>
              <a:t>Congressional briefing to Senate Armed Services Committee.</a:t>
            </a:r>
            <a:endParaRPr lang="en-US" dirty="0">
              <a:latin typeface="Segoe Pro" panose="020B0502040504020203" pitchFamily="34" charset="0"/>
              <a:cs typeface="Segoe UI" panose="020B0502040204020203" pitchFamily="34" charset="0"/>
            </a:endParaRPr>
          </a:p>
          <a:p>
            <a:pPr marL="285750" indent="-285750">
              <a:lnSpc>
                <a:spcPct val="150000"/>
              </a:lnSpc>
              <a:buFont typeface="Arial" panose="020B0604020202020204" pitchFamily="34" charset="0"/>
              <a:buChar char="•"/>
            </a:pPr>
            <a:r>
              <a:rPr lang="en-US" sz="1800" dirty="0">
                <a:latin typeface="Segoe Pro" panose="020B0502040504020203" pitchFamily="34" charset="0"/>
                <a:cs typeface="Segoe UI" panose="020B0502040204020203" pitchFamily="34" charset="0"/>
              </a:rPr>
              <a:t>Impacted the attack surface major government contractors</a:t>
            </a:r>
          </a:p>
          <a:p>
            <a:pPr marL="742950" lvl="1" indent="-285750">
              <a:lnSpc>
                <a:spcPct val="150000"/>
              </a:lnSpc>
              <a:buFont typeface="Arial" panose="020B0604020202020204" pitchFamily="34" charset="0"/>
              <a:buChar char="•"/>
            </a:pPr>
            <a:r>
              <a:rPr lang="en-US" dirty="0">
                <a:latin typeface="Segoe Pro" panose="020B0502040504020203" pitchFamily="34" charset="0"/>
                <a:cs typeface="Segoe UI" panose="020B0502040204020203" pitchFamily="34" charset="0"/>
              </a:rPr>
              <a:t>Companies like Lockheed Martin claimed that they have prevented an attempted breach of sensitive or classified data in June 2011.</a:t>
            </a:r>
          </a:p>
          <a:p>
            <a:pPr marL="285750" indent="-285750">
              <a:lnSpc>
                <a:spcPct val="150000"/>
              </a:lnSpc>
              <a:buFont typeface="Arial" panose="020B0604020202020204" pitchFamily="34" charset="0"/>
              <a:buChar char="•"/>
            </a:pPr>
            <a:r>
              <a:rPr lang="en-US" dirty="0">
                <a:latin typeface="Segoe Pro" panose="020B0502040504020203" pitchFamily="34" charset="0"/>
                <a:cs typeface="Segoe UI" panose="020B0502040204020203" pitchFamily="34" charset="0"/>
              </a:rPr>
              <a:t>After 10-year NDA, RSA revealed that attackers never stole the full list of seed values, nor the customer list mapped to those seed.</a:t>
            </a:r>
          </a:p>
        </p:txBody>
      </p:sp>
      <p:sp>
        <p:nvSpPr>
          <p:cNvPr id="14" name="Title 1">
            <a:extLst>
              <a:ext uri="{FF2B5EF4-FFF2-40B4-BE49-F238E27FC236}">
                <a16:creationId xmlns:a16="http://schemas.microsoft.com/office/drawing/2014/main" id="{E8ED2A67-6FE0-57BB-F04C-1FFB4F7BF45E}"/>
              </a:ext>
            </a:extLst>
          </p:cNvPr>
          <p:cNvSpPr>
            <a:spLocks noGrp="1"/>
          </p:cNvSpPr>
          <p:nvPr>
            <p:ph type="title"/>
          </p:nvPr>
        </p:nvSpPr>
        <p:spPr>
          <a:xfrm>
            <a:off x="5517509" y="136525"/>
            <a:ext cx="5271782" cy="1325563"/>
          </a:xfrm>
        </p:spPr>
        <p:txBody>
          <a:bodyPr/>
          <a:lstStyle/>
          <a:p>
            <a:r>
              <a:rPr lang="en-US" dirty="0"/>
              <a:t>Impact and Legal Actions (Continued)</a:t>
            </a:r>
          </a:p>
        </p:txBody>
      </p:sp>
      <p:pic>
        <p:nvPicPr>
          <p:cNvPr id="3" name="Picture 2" descr="A red text on a black background&#10;&#10;Description automatically generated">
            <a:extLst>
              <a:ext uri="{FF2B5EF4-FFF2-40B4-BE49-F238E27FC236}">
                <a16:creationId xmlns:a16="http://schemas.microsoft.com/office/drawing/2014/main" id="{3FC0CB88-DC5F-9D90-C66E-44200CCA9ABA}"/>
              </a:ext>
            </a:extLst>
          </p:cNvPr>
          <p:cNvPicPr>
            <a:picLocks noChangeAspect="1"/>
          </p:cNvPicPr>
          <p:nvPr/>
        </p:nvPicPr>
        <p:blipFill>
          <a:blip r:embed="rId3"/>
          <a:stretch>
            <a:fillRect/>
          </a:stretch>
        </p:blipFill>
        <p:spPr>
          <a:xfrm>
            <a:off x="712922" y="1167707"/>
            <a:ext cx="3213215" cy="2524669"/>
          </a:xfrm>
          <a:prstGeom prst="rect">
            <a:avLst/>
          </a:prstGeom>
        </p:spPr>
      </p:pic>
      <p:pic>
        <p:nvPicPr>
          <p:cNvPr id="4" name="Picture 3">
            <a:extLst>
              <a:ext uri="{FF2B5EF4-FFF2-40B4-BE49-F238E27FC236}">
                <a16:creationId xmlns:a16="http://schemas.microsoft.com/office/drawing/2014/main" id="{EB73FE95-0185-9B16-33C4-DBE39AFF6CDB}"/>
              </a:ext>
            </a:extLst>
          </p:cNvPr>
          <p:cNvPicPr>
            <a:picLocks noChangeAspect="1"/>
          </p:cNvPicPr>
          <p:nvPr/>
        </p:nvPicPr>
        <p:blipFill>
          <a:blip r:embed="rId4"/>
          <a:stretch>
            <a:fillRect/>
          </a:stretch>
        </p:blipFill>
        <p:spPr>
          <a:xfrm>
            <a:off x="1052126" y="4046246"/>
            <a:ext cx="2469793" cy="1078813"/>
          </a:xfrm>
          <a:prstGeom prst="rect">
            <a:avLst/>
          </a:prstGeom>
        </p:spPr>
      </p:pic>
    </p:spTree>
    <p:extLst>
      <p:ext uri="{BB962C8B-B14F-4D97-AF65-F5344CB8AC3E}">
        <p14:creationId xmlns:p14="http://schemas.microsoft.com/office/powerpoint/2010/main" val="3487045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5209306" y="183870"/>
            <a:ext cx="8421688" cy="1325563"/>
          </a:xfrm>
        </p:spPr>
        <p:txBody>
          <a:bodyPr/>
          <a:lstStyle/>
          <a:p>
            <a:r>
              <a:rPr lang="en-US" dirty="0"/>
              <a:t>Work Cited</a:t>
            </a:r>
          </a:p>
        </p:txBody>
      </p:sp>
      <p:sp>
        <p:nvSpPr>
          <p:cNvPr id="6" name="Content Placeholder 5">
            <a:extLst>
              <a:ext uri="{FF2B5EF4-FFF2-40B4-BE49-F238E27FC236}">
                <a16:creationId xmlns:a16="http://schemas.microsoft.com/office/drawing/2014/main" id="{5A6B31B0-7B84-475D-961F-09C0191F91A2}"/>
              </a:ext>
            </a:extLst>
          </p:cNvPr>
          <p:cNvSpPr>
            <a:spLocks noGrp="1"/>
          </p:cNvSpPr>
          <p:nvPr>
            <p:ph sz="half" idx="2"/>
          </p:nvPr>
        </p:nvSpPr>
        <p:spPr>
          <a:xfrm>
            <a:off x="2349820" y="1296185"/>
            <a:ext cx="9271197" cy="5060165"/>
          </a:xfrm>
        </p:spPr>
        <p:txBody>
          <a:bodyPr vert="horz" lIns="91440" tIns="45720" rIns="91440" bIns="45720" rtlCol="0" anchor="t">
            <a:noAutofit/>
          </a:bodyPr>
          <a:lstStyle/>
          <a:p>
            <a:pPr marL="285750" indent="-285750">
              <a:spcBef>
                <a:spcPts val="600"/>
              </a:spcBef>
              <a:spcAft>
                <a:spcPts val="600"/>
              </a:spcAft>
              <a:buFont typeface="Arial" panose="020B0604020202020204" pitchFamily="34" charset="0"/>
              <a:buChar char="•"/>
            </a:pPr>
            <a:r>
              <a:rPr lang="en-US" dirty="0">
                <a:effectLst/>
                <a:latin typeface="Calibri" panose="020F0502020204030204" pitchFamily="34" charset="0"/>
              </a:rPr>
              <a:t>G. Cohen, “Throwback Attack: RSA SecurID attack shows the importance of protecting critical assets,” Industrial Cybersecurity Pulse, Feb. 23, 2023. https://www.industrialcybersecuritypulse.com/threats-vulnerabilities/throwback-attack-rsa-securid-attack-shows-the-importance-of-protecting-critical-assets/</a:t>
            </a:r>
          </a:p>
          <a:p>
            <a:pPr marL="285750" indent="-285750">
              <a:spcBef>
                <a:spcPts val="600"/>
              </a:spcBef>
              <a:spcAft>
                <a:spcPts val="600"/>
              </a:spcAft>
              <a:buFont typeface="Arial" panose="020B0604020202020204" pitchFamily="34" charset="0"/>
              <a:buChar char="•"/>
            </a:pPr>
            <a:endParaRPr lang="en-US" dirty="0">
              <a:effectLst/>
              <a:latin typeface="Calibri" panose="020F0502020204030204" pitchFamily="34" charset="0"/>
            </a:endParaRPr>
          </a:p>
          <a:p>
            <a:pPr marL="285750" indent="-285750">
              <a:spcBef>
                <a:spcPts val="600"/>
              </a:spcBef>
              <a:spcAft>
                <a:spcPts val="600"/>
              </a:spcAft>
              <a:buFont typeface="Arial" panose="020B0604020202020204" pitchFamily="34" charset="0"/>
              <a:buChar char="•"/>
            </a:pPr>
            <a:r>
              <a:rPr lang="en-US" dirty="0">
                <a:effectLst/>
                <a:latin typeface="Calibri" panose="020F0502020204030204" pitchFamily="34" charset="0"/>
              </a:rPr>
              <a:t>A. Greenberg, “The Full Story of the Stunning RSA Hack Can Finally Be Told,” Wired, May 20, 2021. https://www.wired.com/story/the-full-story-of-the-stunning-rsa-hack-can-finally-be-told/</a:t>
            </a:r>
          </a:p>
          <a:p>
            <a:pPr marL="285750" indent="-285750">
              <a:spcBef>
                <a:spcPts val="600"/>
              </a:spcBef>
              <a:spcAft>
                <a:spcPts val="600"/>
              </a:spcAft>
              <a:buFont typeface="Arial" panose="020B0604020202020204" pitchFamily="34" charset="0"/>
              <a:buChar char="•"/>
            </a:pPr>
            <a:endParaRPr lang="en-US" dirty="0">
              <a:effectLst/>
              <a:latin typeface="Calibri" panose="020F0502020204030204" pitchFamily="34" charset="0"/>
            </a:endParaRPr>
          </a:p>
          <a:p>
            <a:pPr marL="285750" indent="-285750">
              <a:spcBef>
                <a:spcPts val="600"/>
              </a:spcBef>
              <a:spcAft>
                <a:spcPts val="600"/>
              </a:spcAft>
              <a:buFont typeface="Arial" panose="020B0604020202020204" pitchFamily="34" charset="0"/>
              <a:buChar char="•"/>
            </a:pPr>
            <a:r>
              <a:rPr lang="en-US" dirty="0">
                <a:effectLst/>
                <a:latin typeface="Calibri" panose="020F0502020204030204" pitchFamily="34" charset="0"/>
              </a:rPr>
              <a:t>“RSA hackers exploited Adobe Flash vulnerability,” </a:t>
            </a:r>
            <a:r>
              <a:rPr lang="en-US" dirty="0" err="1">
                <a:effectLst/>
                <a:latin typeface="Calibri" panose="020F0502020204030204" pitchFamily="34" charset="0"/>
              </a:rPr>
              <a:t>Infosecurity</a:t>
            </a:r>
            <a:r>
              <a:rPr lang="en-US" dirty="0">
                <a:effectLst/>
                <a:latin typeface="Calibri" panose="020F0502020204030204" pitchFamily="34" charset="0"/>
              </a:rPr>
              <a:t> Magazine, Apr. 04, 2011. https://www.infosecurity-magazine.com/news/rsa-hackers-exploited-adobe-flash-vulnerability/ (accessed Nov. 01, 2024).</a:t>
            </a:r>
          </a:p>
          <a:p>
            <a:pPr marL="285750" indent="-285750">
              <a:spcBef>
                <a:spcPts val="600"/>
              </a:spcBef>
              <a:spcAft>
                <a:spcPts val="600"/>
              </a:spcAft>
              <a:buFont typeface="Arial" panose="020B0604020202020204" pitchFamily="34" charset="0"/>
              <a:buChar char="•"/>
            </a:pPr>
            <a:endParaRPr lang="en-US" dirty="0">
              <a:effectLst/>
              <a:latin typeface="Calibri" panose="020F0502020204030204" pitchFamily="34" charset="0"/>
            </a:endParaRPr>
          </a:p>
          <a:p>
            <a:pPr marL="285750" indent="-285750">
              <a:spcBef>
                <a:spcPts val="600"/>
              </a:spcBef>
              <a:spcAft>
                <a:spcPts val="600"/>
              </a:spcAft>
              <a:buFont typeface="Arial" panose="020B0604020202020204" pitchFamily="34" charset="0"/>
              <a:buChar char="•"/>
            </a:pPr>
            <a:r>
              <a:rPr lang="en-US" dirty="0">
                <a:effectLst/>
                <a:latin typeface="Calibri" panose="020F0502020204030204" pitchFamily="34" charset="0"/>
              </a:rPr>
              <a:t>“CWE - CWE-119: Improper Restriction of Operations within the Bounds of a Memory Buffer (4.0),” cwe.mitre.org. https://cwe.mitre.org/data/definitions/119.html</a:t>
            </a:r>
          </a:p>
          <a:p>
            <a:pPr marL="285750" indent="-285750">
              <a:spcBef>
                <a:spcPts val="600"/>
              </a:spcBef>
              <a:spcAft>
                <a:spcPts val="600"/>
              </a:spcAft>
              <a:buFont typeface="Arial" panose="020B0604020202020204" pitchFamily="34" charset="0"/>
              <a:buChar char="•"/>
            </a:pPr>
            <a:endParaRPr lang="en-US" dirty="0">
              <a:effectLst/>
              <a:latin typeface="Calibri" panose="020F0502020204030204" pitchFamily="34" charset="0"/>
            </a:endParaRPr>
          </a:p>
          <a:p>
            <a:pPr marL="285750" indent="-285750">
              <a:spcBef>
                <a:spcPts val="600"/>
              </a:spcBef>
              <a:spcAft>
                <a:spcPts val="600"/>
              </a:spcAft>
              <a:buFont typeface="Arial" panose="020B0604020202020204" pitchFamily="34" charset="0"/>
              <a:buChar char="•"/>
            </a:pPr>
            <a:r>
              <a:rPr lang="en-US">
                <a:effectLst/>
                <a:latin typeface="Calibri" panose="020F0502020204030204" pitchFamily="34" charset="0"/>
              </a:rPr>
              <a:t>“</a:t>
            </a:r>
            <a:r>
              <a:rPr lang="en-US" dirty="0">
                <a:effectLst/>
                <a:latin typeface="Calibri" panose="020F0502020204030204" pitchFamily="34" charset="0"/>
              </a:rPr>
              <a:t>CWE - CWE-787: Out-of-bounds Write (4.2),” cwe.mitre.org. https://cwe.mitre.org/data/definitions/787.html</a:t>
            </a:r>
            <a:endParaRPr lang="en-US" dirty="0">
              <a:effectLst/>
            </a:endParaRPr>
          </a:p>
        </p:txBody>
      </p:sp>
      <p:sp>
        <p:nvSpPr>
          <p:cNvPr id="13" name="Footer Placeholder 12">
            <a:extLst>
              <a:ext uri="{FF2B5EF4-FFF2-40B4-BE49-F238E27FC236}">
                <a16:creationId xmlns:a16="http://schemas.microsoft.com/office/drawing/2014/main" id="{F4A37AA9-0BEE-42AC-8CC0-AE5B8663553A}"/>
              </a:ext>
            </a:extLst>
          </p:cNvPr>
          <p:cNvSpPr>
            <a:spLocks noGrp="1"/>
          </p:cNvSpPr>
          <p:nvPr>
            <p:ph type="ftr" sz="quarter" idx="11"/>
          </p:nvPr>
        </p:nvSpPr>
        <p:spPr>
          <a:xfrm>
            <a:off x="4038600" y="6356350"/>
            <a:ext cx="4114800" cy="365125"/>
          </a:xfrm>
        </p:spPr>
        <p:txBody>
          <a:bodyPr/>
          <a:lstStyle/>
          <a:p>
            <a:r>
              <a:rPr lang="en-US"/>
              <a:t>Analysis of Cybersecurity Breach Involving A Software Vulnerability: RSA</a:t>
            </a:r>
            <a:endParaRPr lang="en-US" dirty="0"/>
          </a:p>
        </p:txBody>
      </p:sp>
      <p:sp>
        <p:nvSpPr>
          <p:cNvPr id="14" name="Slide Number Placeholder 13">
            <a:extLst>
              <a:ext uri="{FF2B5EF4-FFF2-40B4-BE49-F238E27FC236}">
                <a16:creationId xmlns:a16="http://schemas.microsoft.com/office/drawing/2014/main" id="{42152A75-1CD2-44EC-9374-C83D4604A5DD}"/>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12</a:t>
            </a:fld>
            <a:endParaRPr lang="en-US" dirty="0"/>
          </a:p>
        </p:txBody>
      </p:sp>
    </p:spTree>
    <p:extLst>
      <p:ext uri="{BB962C8B-B14F-4D97-AF65-F5344CB8AC3E}">
        <p14:creationId xmlns:p14="http://schemas.microsoft.com/office/powerpoint/2010/main" val="4151694508"/>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light sales pitch</Template>
  <TotalTime>3797</TotalTime>
  <Words>2233</Words>
  <Application>Microsoft Office PowerPoint</Application>
  <PresentationFormat>Widescreen</PresentationFormat>
  <Paragraphs>184</Paragraphs>
  <Slides>12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-apple-system</vt:lpstr>
      <vt:lpstr>Arial</vt:lpstr>
      <vt:lpstr>Calibri</vt:lpstr>
      <vt:lpstr>Segoe Pro</vt:lpstr>
      <vt:lpstr>Tenorite</vt:lpstr>
      <vt:lpstr>ui-monospace</vt:lpstr>
      <vt:lpstr>Monoline</vt:lpstr>
      <vt:lpstr>Analysis of Cybersecurity Breach Involving a Software Vulnerability: RSA</vt:lpstr>
      <vt:lpstr>Background of RSA</vt:lpstr>
      <vt:lpstr>Summary of Breach</vt:lpstr>
      <vt:lpstr>Description of the Attack</vt:lpstr>
      <vt:lpstr>Description of the Attack</vt:lpstr>
      <vt:lpstr>Description of the Attack</vt:lpstr>
      <vt:lpstr>Remediation Steps</vt:lpstr>
      <vt:lpstr>Remediation Steps</vt:lpstr>
      <vt:lpstr>Remediation Steps</vt:lpstr>
      <vt:lpstr>Impact and Legal Actions</vt:lpstr>
      <vt:lpstr>Impact and Legal Actions (Continued)</vt:lpstr>
      <vt:lpstr>Work Cited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Gregory Mamoyac</dc:creator>
  <cp:lastModifiedBy>Gregory Mamoyac</cp:lastModifiedBy>
  <cp:revision>28</cp:revision>
  <dcterms:created xsi:type="dcterms:W3CDTF">2024-09-19T00:13:31Z</dcterms:created>
  <dcterms:modified xsi:type="dcterms:W3CDTF">2024-12-04T00:38:31Z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