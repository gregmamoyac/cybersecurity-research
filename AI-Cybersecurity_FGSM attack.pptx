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handoutMasterIdLst>
    <p:handoutMasterId r:id="rId22"/>
  </p:handoutMasterIdLst>
  <p:sldIdLst>
    <p:sldId id="256" r:id="rId2"/>
    <p:sldId id="257" r:id="rId3"/>
    <p:sldId id="270" r:id="rId4"/>
    <p:sldId id="260" r:id="rId5"/>
    <p:sldId id="263" r:id="rId6"/>
    <p:sldId id="264" r:id="rId7"/>
    <p:sldId id="262" r:id="rId8"/>
    <p:sldId id="278" r:id="rId9"/>
    <p:sldId id="265" r:id="rId10"/>
    <p:sldId id="266" r:id="rId11"/>
    <p:sldId id="268" r:id="rId12"/>
    <p:sldId id="269" r:id="rId13"/>
    <p:sldId id="272" r:id="rId14"/>
    <p:sldId id="273" r:id="rId15"/>
    <p:sldId id="274" r:id="rId16"/>
    <p:sldId id="275" r:id="rId17"/>
    <p:sldId id="276" r:id="rId18"/>
    <p:sldId id="277"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80" autoAdjust="0"/>
    <p:restoredTop sz="56648" autoAdjust="0"/>
  </p:normalViewPr>
  <p:slideViewPr>
    <p:cSldViewPr snapToGrid="0">
      <p:cViewPr varScale="1">
        <p:scale>
          <a:sx n="51" d="100"/>
          <a:sy n="51" d="100"/>
        </p:scale>
        <p:origin x="306" y="6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E8A72E-52D8-3FC3-588E-8C76842F40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C09AA05-F460-9545-6365-92B39629F8D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FE8334-D98C-4327-B387-161283ECC7D8}" type="datetimeFigureOut">
              <a:rPr lang="en-US" smtClean="0"/>
              <a:t>7/31/2025</a:t>
            </a:fld>
            <a:endParaRPr lang="en-US"/>
          </a:p>
        </p:txBody>
      </p:sp>
      <p:sp>
        <p:nvSpPr>
          <p:cNvPr id="4" name="Footer Placeholder 3">
            <a:extLst>
              <a:ext uri="{FF2B5EF4-FFF2-40B4-BE49-F238E27FC236}">
                <a16:creationId xmlns:a16="http://schemas.microsoft.com/office/drawing/2014/main" id="{3B7C3AAB-09CA-2C44-0662-18CC7976C8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Model</a:t>
            </a:r>
          </a:p>
        </p:txBody>
      </p:sp>
      <p:sp>
        <p:nvSpPr>
          <p:cNvPr id="5" name="Slide Number Placeholder 4">
            <a:extLst>
              <a:ext uri="{FF2B5EF4-FFF2-40B4-BE49-F238E27FC236}">
                <a16:creationId xmlns:a16="http://schemas.microsoft.com/office/drawing/2014/main" id="{CC0B5EA4-8EA7-140A-7A9F-5635047B90C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A8B0A2-53B2-48A9-9710-951DFC44CF3C}" type="slidenum">
              <a:rPr lang="en-US" smtClean="0"/>
              <a:t>‹#›</a:t>
            </a:fld>
            <a:endParaRPr lang="en-US"/>
          </a:p>
        </p:txBody>
      </p:sp>
    </p:spTree>
    <p:extLst>
      <p:ext uri="{BB962C8B-B14F-4D97-AF65-F5344CB8AC3E}">
        <p14:creationId xmlns:p14="http://schemas.microsoft.com/office/powerpoint/2010/main" val="305485184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ED6D5-E0E0-425F-B36C-6D20B4D1F901}" type="datetimeFigureOut">
              <a:rPr lang="en-US" smtClean="0"/>
              <a:t>7/31/2025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Model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37A146-DAEF-4572-81A1-81FB56C04575}" type="slidenum">
              <a:rPr lang="en-US" smtClean="0"/>
              <a:t>‹#›</a:t>
            </a:fld>
            <a:endParaRPr lang="en-US"/>
          </a:p>
        </p:txBody>
      </p:sp>
    </p:spTree>
    <p:extLst>
      <p:ext uri="{BB962C8B-B14F-4D97-AF65-F5344CB8AC3E}">
        <p14:creationId xmlns:p14="http://schemas.microsoft.com/office/powerpoint/2010/main" val="280920596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kaggle.com/datasets/dnkumars/cybersecurity-intrusion-detection-dataset/data"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Greg Mamoyac and my research was on FGSM adversarial attack against an </a:t>
            </a:r>
            <a:r>
              <a:rPr lang="en-US" dirty="0" err="1"/>
              <a:t>Intrustion</a:t>
            </a:r>
            <a:r>
              <a:rPr lang="en-US" dirty="0"/>
              <a:t> Detection System</a:t>
            </a:r>
          </a:p>
        </p:txBody>
      </p:sp>
    </p:spTree>
    <p:extLst>
      <p:ext uri="{BB962C8B-B14F-4D97-AF65-F5344CB8AC3E}">
        <p14:creationId xmlns:p14="http://schemas.microsoft.com/office/powerpoint/2010/main" val="2625969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goal here was to Evaluate the vulnerability of a neural network based intrusion detection system pitted against Fast Gradient Sign Method (FGSM) adversarial attacks. </a:t>
            </a:r>
          </a:p>
          <a:p>
            <a:endParaRPr lang="en-US" dirty="0"/>
          </a:p>
          <a:p>
            <a:r>
              <a:rPr lang="en-US" dirty="0"/>
              <a:t>I hypothesize that FGSM attack  will be successful for evading detection against the intrusion detection systems through small perturbations of input data.</a:t>
            </a:r>
          </a:p>
        </p:txBody>
      </p:sp>
    </p:spTree>
    <p:extLst>
      <p:ext uri="{BB962C8B-B14F-4D97-AF65-F5344CB8AC3E}">
        <p14:creationId xmlns:p14="http://schemas.microsoft.com/office/powerpoint/2010/main" val="2626872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following slides will be the Training, Testing, and Evaluation methods of the F</a:t>
            </a:r>
            <a:r>
              <a:rPr lang="en-US" sz="1200" dirty="0"/>
              <a:t>eedforward </a:t>
            </a:r>
            <a:r>
              <a:rPr lang="en-US" dirty="0"/>
              <a:t>N</a:t>
            </a:r>
            <a:r>
              <a:rPr lang="en-US" sz="1200" dirty="0"/>
              <a:t>eural </a:t>
            </a:r>
            <a:r>
              <a:rPr lang="en-US" dirty="0"/>
              <a:t>N</a:t>
            </a:r>
            <a:r>
              <a:rPr lang="en-US" sz="1200" dirty="0"/>
              <a:t>etwork. This  will be used as the Intrusion detection system and the victim of FGSM adversarial attack.</a:t>
            </a:r>
            <a:endParaRPr lang="en-US" dirty="0"/>
          </a:p>
          <a:p>
            <a:endParaRPr lang="en-US" dirty="0"/>
          </a:p>
        </p:txBody>
      </p:sp>
    </p:spTree>
    <p:extLst>
      <p:ext uri="{BB962C8B-B14F-4D97-AF65-F5344CB8AC3E}">
        <p14:creationId xmlns:p14="http://schemas.microsoft.com/office/powerpoint/2010/main" val="3305250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dirty="0"/>
              <a:t>I used Kaggle’s Cybersecurity Intrusion Detection  Dataset</a:t>
            </a:r>
            <a:endParaRPr lang="en-US" dirty="0">
              <a:hlinkClick r:id="rId3"/>
            </a:endParaRPr>
          </a:p>
          <a:p>
            <a:pPr lvl="1"/>
            <a:r>
              <a:rPr lang="en-US" dirty="0">
                <a:hlinkClick r:id="rId3"/>
              </a:rPr>
              <a:t>https://www.kaggle.com/datasets/dnkumars/cybersecurity-intrusion-detection-dataset/data</a:t>
            </a:r>
            <a:endParaRPr lang="en-US" dirty="0"/>
          </a:p>
          <a:p>
            <a:pPr lvl="1"/>
            <a:r>
              <a:rPr lang="en-US" dirty="0"/>
              <a:t>Size 725.13 KB</a:t>
            </a:r>
          </a:p>
          <a:p>
            <a:pPr lvl="1"/>
            <a:r>
              <a:rPr lang="en-US" dirty="0"/>
              <a:t>Which is useful for supervised machine learning</a:t>
            </a:r>
          </a:p>
          <a:p>
            <a:r>
              <a:rPr lang="en-US" dirty="0"/>
              <a:t>I also used python Libraries to include</a:t>
            </a:r>
          </a:p>
          <a:p>
            <a:pPr lvl="1"/>
            <a:r>
              <a:rPr lang="en-US" dirty="0"/>
              <a:t>Pandas</a:t>
            </a:r>
          </a:p>
          <a:p>
            <a:pPr lvl="1"/>
            <a:r>
              <a:rPr lang="en-US" dirty="0" err="1"/>
              <a:t>Numpy</a:t>
            </a:r>
            <a:endParaRPr lang="en-US" dirty="0"/>
          </a:p>
          <a:p>
            <a:pPr lvl="1"/>
            <a:r>
              <a:rPr lang="en-US" dirty="0"/>
              <a:t>Torch </a:t>
            </a:r>
          </a:p>
          <a:p>
            <a:pPr lvl="1"/>
            <a:r>
              <a:rPr lang="en-US" dirty="0" err="1"/>
              <a:t>Sklearn</a:t>
            </a:r>
            <a:r>
              <a:rPr lang="en-US" dirty="0"/>
              <a:t> </a:t>
            </a:r>
          </a:p>
          <a:p>
            <a:pPr lvl="1"/>
            <a:r>
              <a:rPr lang="en-US" dirty="0"/>
              <a:t>Matplotlib</a:t>
            </a:r>
          </a:p>
          <a:p>
            <a:endParaRPr lang="en-US" dirty="0"/>
          </a:p>
        </p:txBody>
      </p:sp>
    </p:spTree>
    <p:extLst>
      <p:ext uri="{BB962C8B-B14F-4D97-AF65-F5344CB8AC3E}">
        <p14:creationId xmlns:p14="http://schemas.microsoft.com/office/powerpoint/2010/main" val="2311223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the dataset the Target Variable was </a:t>
            </a:r>
            <a:r>
              <a:rPr lang="en-US" dirty="0" err="1"/>
              <a:t>attack_detected</a:t>
            </a:r>
            <a:r>
              <a:rPr lang="en-US" dirty="0"/>
              <a:t> that used Binary classification where 1 means an attack was detected, 0 means normal activity</a:t>
            </a:r>
          </a:p>
          <a:p>
            <a:endParaRPr lang="en-US" dirty="0"/>
          </a:p>
        </p:txBody>
      </p:sp>
    </p:spTree>
    <p:extLst>
      <p:ext uri="{BB962C8B-B14F-4D97-AF65-F5344CB8AC3E}">
        <p14:creationId xmlns:p14="http://schemas.microsoft.com/office/powerpoint/2010/main" val="261928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1900" b="0" i="0" u="none" strike="noStrike" kern="1200" cap="none" spc="0" normalizeH="0" baseline="0" noProof="0" dirty="0">
                <a:ln>
                  <a:noFill/>
                </a:ln>
                <a:solidFill>
                  <a:srgbClr val="FFFFFF"/>
                </a:solidFill>
                <a:effectLst/>
                <a:uLnTx/>
                <a:uFillTx/>
                <a:latin typeface="Source Sans Pro"/>
                <a:ea typeface="+mn-ea"/>
                <a:cs typeface="+mn-cs"/>
              </a:rPr>
              <a:t>The following network based features were:</a:t>
            </a:r>
          </a:p>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900" b="0" i="0" u="none" strike="noStrike" kern="1200" cap="none" spc="0" normalizeH="0" baseline="0" noProof="0" dirty="0">
              <a:ln>
                <a:noFill/>
              </a:ln>
              <a:solidFill>
                <a:srgbClr val="FFFFFF"/>
              </a:solidFill>
              <a:effectLst/>
              <a:uLnTx/>
              <a:uFillTx/>
              <a:latin typeface="Source Sans Pro"/>
              <a:ea typeface="+mn-ea"/>
              <a:cs typeface="+mn-cs"/>
            </a:endParaRPr>
          </a:p>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1900" b="0" i="0" u="none" strike="noStrike" kern="1200" cap="none" spc="0" normalizeH="0" baseline="0" noProof="0" dirty="0" err="1">
                <a:ln>
                  <a:noFill/>
                </a:ln>
                <a:solidFill>
                  <a:srgbClr val="FFFFFF"/>
                </a:solidFill>
                <a:effectLst/>
                <a:uLnTx/>
                <a:uFillTx/>
                <a:latin typeface="Source Sans Pro"/>
                <a:ea typeface="+mn-ea"/>
                <a:cs typeface="+mn-cs"/>
              </a:rPr>
              <a:t>network_packet_size</a:t>
            </a:r>
            <a:r>
              <a:rPr kumimoji="0" lang="en-US" sz="1900" b="0" i="0" u="none" strike="noStrike" kern="1200" cap="none" spc="0" normalizeH="0" baseline="0" noProof="0" dirty="0">
                <a:ln>
                  <a:noFill/>
                </a:ln>
                <a:solidFill>
                  <a:srgbClr val="FFFFFF"/>
                </a:solidFill>
                <a:effectLst/>
                <a:uLnTx/>
                <a:uFillTx/>
                <a:latin typeface="Source Sans Pro"/>
                <a:ea typeface="+mn-ea"/>
                <a:cs typeface="+mn-cs"/>
              </a:rPr>
              <a:t> (Packet Size in Bytes)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FFFFFF"/>
                </a:solidFill>
                <a:effectLst/>
                <a:uLnTx/>
                <a:uFillTx/>
                <a:latin typeface="Source Sans Pro"/>
                <a:ea typeface="+mn-ea"/>
                <a:cs typeface="+mn-cs"/>
              </a:rPr>
              <a:t>Size ranging between 64 to 1500 bytes.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FFFFFF"/>
                </a:solidFill>
                <a:effectLst/>
                <a:uLnTx/>
                <a:uFillTx/>
                <a:latin typeface="Source Sans Pro"/>
                <a:ea typeface="+mn-ea"/>
                <a:cs typeface="+mn-cs"/>
              </a:rPr>
              <a:t>Important because Attackers may use abnormally small or large packets for reconnaissance or exploitation attempts.</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600" b="0" i="0" u="none" strike="noStrike" kern="1200" cap="none" spc="0" normalizeH="0" baseline="0" noProof="0" dirty="0">
              <a:ln>
                <a:noFill/>
              </a:ln>
              <a:solidFill>
                <a:srgbClr val="FFFFFF"/>
              </a:solidFill>
              <a:effectLst/>
              <a:uLnTx/>
              <a:uFillTx/>
              <a:latin typeface="Source Sans Pro"/>
              <a:ea typeface="+mn-ea"/>
              <a:cs typeface="+mn-cs"/>
            </a:endParaRPr>
          </a:p>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1900" b="0" i="0" u="none" strike="noStrike" kern="1200" cap="none" spc="0" normalizeH="0" baseline="0" noProof="0" dirty="0" err="1">
                <a:ln>
                  <a:noFill/>
                </a:ln>
                <a:solidFill>
                  <a:srgbClr val="FFFFFF"/>
                </a:solidFill>
                <a:effectLst/>
                <a:uLnTx/>
                <a:uFillTx/>
                <a:latin typeface="Source Sans Pro"/>
                <a:ea typeface="+mn-ea"/>
                <a:cs typeface="+mn-cs"/>
              </a:rPr>
              <a:t>protocol_type</a:t>
            </a:r>
            <a:r>
              <a:rPr kumimoji="0" lang="en-US" sz="1900" b="0" i="0" u="none" strike="noStrike" kern="1200" cap="none" spc="0" normalizeH="0" baseline="0" noProof="0" dirty="0">
                <a:ln>
                  <a:noFill/>
                </a:ln>
                <a:solidFill>
                  <a:srgbClr val="FFFFFF"/>
                </a:solidFill>
                <a:effectLst/>
                <a:uLnTx/>
                <a:uFillTx/>
                <a:latin typeface="Source Sans Pro"/>
                <a:ea typeface="+mn-ea"/>
                <a:cs typeface="+mn-cs"/>
              </a:rPr>
              <a:t> (Communication Protocol)</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FFFFFF"/>
                </a:solidFill>
                <a:effectLst/>
                <a:uLnTx/>
                <a:uFillTx/>
                <a:latin typeface="Source Sans Pro"/>
                <a:ea typeface="+mn-ea"/>
                <a:cs typeface="+mn-cs"/>
              </a:rPr>
              <a:t>The protocol used in the session: TCP, UDP, or ICMP - often use in DoS attacks.</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600" b="0" i="0" u="none" strike="noStrike" kern="1200" cap="none" spc="0" normalizeH="0" baseline="0" noProof="0" dirty="0">
              <a:ln>
                <a:noFill/>
              </a:ln>
              <a:solidFill>
                <a:srgbClr val="FFFFFF"/>
              </a:solidFill>
              <a:effectLst/>
              <a:uLnTx/>
              <a:uFillTx/>
              <a:latin typeface="Source Sans Pro"/>
              <a:ea typeface="+mn-ea"/>
              <a:cs typeface="+mn-cs"/>
            </a:endParaRPr>
          </a:p>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1900" b="0" i="0" u="none" strike="noStrike" kern="1200" cap="none" spc="0" normalizeH="0" baseline="0" noProof="0" dirty="0" err="1">
                <a:ln>
                  <a:noFill/>
                </a:ln>
                <a:solidFill>
                  <a:srgbClr val="FFFFFF"/>
                </a:solidFill>
                <a:effectLst/>
                <a:uLnTx/>
                <a:uFillTx/>
                <a:latin typeface="Source Sans Pro"/>
                <a:ea typeface="+mn-ea"/>
                <a:cs typeface="+mn-cs"/>
              </a:rPr>
              <a:t>encryption_used</a:t>
            </a:r>
            <a:r>
              <a:rPr kumimoji="0" lang="en-US" sz="1900" b="0" i="0" u="none" strike="noStrike" kern="1200" cap="none" spc="0" normalizeH="0" baseline="0" noProof="0" dirty="0">
                <a:ln>
                  <a:noFill/>
                </a:ln>
                <a:solidFill>
                  <a:srgbClr val="FFFFFF"/>
                </a:solidFill>
                <a:effectLst/>
                <a:uLnTx/>
                <a:uFillTx/>
                <a:latin typeface="Source Sans Pro"/>
                <a:ea typeface="+mn-ea"/>
                <a:cs typeface="+mn-cs"/>
              </a:rPr>
              <a:t> (Encryption Protocol)</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FFFFFF"/>
                </a:solidFill>
                <a:effectLst/>
                <a:uLnTx/>
                <a:uFillTx/>
                <a:latin typeface="Source Sans Pro"/>
                <a:ea typeface="+mn-ea"/>
                <a:cs typeface="+mn-cs"/>
              </a:rPr>
              <a:t>Values: AES, DES, None.</a:t>
            </a:r>
          </a:p>
        </p:txBody>
      </p:sp>
    </p:spTree>
    <p:extLst>
      <p:ext uri="{BB962C8B-B14F-4D97-AF65-F5344CB8AC3E}">
        <p14:creationId xmlns:p14="http://schemas.microsoft.com/office/powerpoint/2010/main" val="1531305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behavior features included </a:t>
            </a:r>
          </a:p>
          <a:p>
            <a:r>
              <a:rPr lang="en-US" dirty="0"/>
              <a:t>(Number of Logins)</a:t>
            </a:r>
          </a:p>
          <a:p>
            <a:r>
              <a:rPr lang="en-US" dirty="0"/>
              <a:t>(Session Length in Seconds)</a:t>
            </a:r>
          </a:p>
          <a:p>
            <a:r>
              <a:rPr lang="en-US" dirty="0"/>
              <a:t>(Failed Login Attempts)</a:t>
            </a:r>
          </a:p>
          <a:p>
            <a:r>
              <a:rPr lang="en-US" dirty="0"/>
              <a:t>(Login Time Anomaly)</a:t>
            </a:r>
          </a:p>
          <a:p>
            <a:r>
              <a:rPr lang="en-US" dirty="0"/>
              <a:t>(Trustworthiness of IP Address)</a:t>
            </a:r>
          </a:p>
          <a:p>
            <a:r>
              <a:rPr lang="en-US" dirty="0"/>
              <a:t>(User’s Browser)</a:t>
            </a:r>
          </a:p>
          <a:p>
            <a:endParaRPr lang="en-US" dirty="0"/>
          </a:p>
        </p:txBody>
      </p:sp>
    </p:spTree>
    <p:extLst>
      <p:ext uri="{BB962C8B-B14F-4D97-AF65-F5344CB8AC3E}">
        <p14:creationId xmlns:p14="http://schemas.microsoft.com/office/powerpoint/2010/main" val="165917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200" dirty="0"/>
              <a:t>These are the methods to load and process the NN Victim Model.</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The processed dataset was using  80/20 split to validate and train via 10 epochs to limit overfitting. </a:t>
            </a:r>
          </a:p>
          <a:p>
            <a:pPr marL="285750" indent="-285750">
              <a:buFont typeface="Arial" panose="020B0604020202020204" pitchFamily="34" charset="0"/>
              <a:buChar char="•"/>
            </a:pPr>
            <a:endParaRPr lang="en-US" sz="12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Data normalization was applied to both Train and Test Datasets by scaling inputs and preventing any feature from dominating</a:t>
            </a:r>
            <a:endParaRPr lang="en-US" sz="1200" dirty="0"/>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The Feature Engineering focuses on </a:t>
            </a:r>
            <a:r>
              <a:rPr lang="en-US" sz="1200" dirty="0" err="1"/>
              <a:t>login_attempt_rate</a:t>
            </a:r>
            <a:r>
              <a:rPr lang="en-US" sz="1200" dirty="0"/>
              <a:t>, </a:t>
            </a:r>
            <a:r>
              <a:rPr lang="en-US" sz="1200" dirty="0" err="1"/>
              <a:t>login_attempts</a:t>
            </a:r>
            <a:r>
              <a:rPr lang="en-US" sz="1200" dirty="0"/>
              <a:t>, session_duration, </a:t>
            </a:r>
            <a:r>
              <a:rPr lang="en-US" sz="1200" dirty="0" err="1"/>
              <a:t>failed_login_ratio,and</a:t>
            </a:r>
            <a:r>
              <a:rPr lang="en-US" sz="1200" dirty="0"/>
              <a:t>  </a:t>
            </a:r>
            <a:r>
              <a:rPr lang="en-US" sz="1200" dirty="0" err="1"/>
              <a:t>failed_logins</a:t>
            </a:r>
            <a:endParaRPr lang="en-US" sz="1200" dirty="0"/>
          </a:p>
          <a:p>
            <a:pPr marL="0" indent="0">
              <a:buFont typeface="Arial" panose="020B0604020202020204" pitchFamily="34" charset="0"/>
              <a:buNone/>
            </a:pPr>
            <a:endParaRPr lang="en-US" sz="1200" dirty="0"/>
          </a:p>
          <a:p>
            <a:pPr marL="171450" indent="-171450">
              <a:buFont typeface="Arial" panose="020B0604020202020204" pitchFamily="34" charset="0"/>
              <a:buChar char="•"/>
            </a:pPr>
            <a:r>
              <a:rPr lang="en-US" sz="1200" dirty="0"/>
              <a:t>These features were improved the model because: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Source Sans Pro"/>
                <a:ea typeface="+mn-ea"/>
                <a:cs typeface="+mn-cs"/>
              </a:rPr>
              <a:t>High login attempts indicate brute-force attacks and high failed attempts indicate credential stuffing or dictionary attacks.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Source Sans Pro"/>
                <a:ea typeface="+mn-ea"/>
                <a:cs typeface="+mn-cs"/>
              </a:rPr>
              <a:t>Typical users have 1–3 login attempts, and many failed attempts followed by a successful login could suggest an account was compromised.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Source Sans Pro"/>
                <a:ea typeface="+mn-ea"/>
                <a:cs typeface="+mn-cs"/>
              </a:rPr>
              <a:t>Very long sessions might indicate unauthorized access or persistence by an attacker.</a:t>
            </a:r>
            <a:endParaRPr lang="en-US" sz="1200" dirty="0"/>
          </a:p>
          <a:p>
            <a:endParaRPr lang="en-US" dirty="0"/>
          </a:p>
        </p:txBody>
      </p:sp>
    </p:spTree>
    <p:extLst>
      <p:ext uri="{BB962C8B-B14F-4D97-AF65-F5344CB8AC3E}">
        <p14:creationId xmlns:p14="http://schemas.microsoft.com/office/powerpoint/2010/main" val="3218984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Model definition is a simple feedforward neural network using </a:t>
            </a:r>
            <a:r>
              <a:rPr lang="en-US" sz="1200" dirty="0" err="1"/>
              <a:t>PyTorch</a:t>
            </a:r>
            <a:r>
              <a:rPr lang="en-US" sz="1200" dirty="0"/>
              <a:t> for binary classification.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The model consists of three fully connected layers with </a:t>
            </a:r>
            <a:r>
              <a:rPr lang="en-US" sz="1200" dirty="0" err="1"/>
              <a:t>ReLU</a:t>
            </a:r>
            <a:r>
              <a:rPr lang="en-US" sz="1200" dirty="0"/>
              <a:t> activation functions, designed to map an input vector to a two-dimensional output of class probabilities. This supports limited model capacity and prevents over complexity with 128 and 64 neurons.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It was trained using cross-entropy loss and an Adam optimizer, which is a basic multi-layer program that learns to classify data into categories based on the input features. </a:t>
            </a:r>
            <a:endParaRPr lang="en-US" dirty="0"/>
          </a:p>
        </p:txBody>
      </p:sp>
    </p:spTree>
    <p:extLst>
      <p:ext uri="{BB962C8B-B14F-4D97-AF65-F5344CB8AC3E}">
        <p14:creationId xmlns:p14="http://schemas.microsoft.com/office/powerpoint/2010/main" val="2138902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6D10-2E35-C945-0290-928C630CDD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BA44C-638D-8D70-9E6A-AB34C8E541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C04D0C-27FB-0A50-DF33-6E73D04C5438}"/>
              </a:ext>
            </a:extLst>
          </p:cNvPr>
          <p:cNvSpPr>
            <a:spLocks noGrp="1"/>
          </p:cNvSpPr>
          <p:nvPr>
            <p:ph type="body" idx="1"/>
          </p:nvPr>
        </p:nvSpPr>
        <p:spPr/>
        <p:txBody>
          <a:bodyPr/>
          <a:lstStyle/>
          <a:p>
            <a:pPr marL="171450" indent="-171450">
              <a:buFont typeface="Arial" panose="020B0604020202020204" pitchFamily="34" charset="0"/>
              <a:buChar char="•"/>
            </a:pPr>
            <a:r>
              <a:rPr lang="en-US" dirty="0">
                <a:solidFill>
                  <a:srgbClr val="BCBEC4"/>
                </a:solidFill>
                <a:effectLst/>
              </a:rPr>
              <a:t>Model training evaluates the performance on a validation set after each epoch. </a:t>
            </a:r>
          </a:p>
          <a:p>
            <a:pPr marL="171450" indent="-171450">
              <a:buFont typeface="Arial" panose="020B0604020202020204" pitchFamily="34" charset="0"/>
              <a:buChar char="•"/>
            </a:pPr>
            <a:endParaRPr lang="en-US" dirty="0">
              <a:solidFill>
                <a:srgbClr val="BCBEC4"/>
              </a:solidFill>
              <a:effectLst/>
            </a:endParaRPr>
          </a:p>
          <a:p>
            <a:pPr marL="171450" indent="-171450">
              <a:buFont typeface="Arial" panose="020B0604020202020204" pitchFamily="34" charset="0"/>
              <a:buChar char="•"/>
            </a:pPr>
            <a:r>
              <a:rPr lang="en-US" dirty="0">
                <a:solidFill>
                  <a:srgbClr val="BCBEC4"/>
                </a:solidFill>
                <a:effectLst/>
              </a:rPr>
              <a:t>The training loop iterates through batches of the training data, calculates the loss, performs backpropagation, and updates the model's weights, while the evaluation step computes the accuracy to monitor the model's learning.</a:t>
            </a:r>
          </a:p>
          <a:p>
            <a:pPr marL="0" indent="0">
              <a:buFont typeface="Arial" panose="020B0604020202020204" pitchFamily="34" charset="0"/>
              <a:buNone/>
            </a:pPr>
            <a:endParaRPr lang="en-US" dirty="0">
              <a:solidFill>
                <a:srgbClr val="BCBEC4"/>
              </a:solidFill>
              <a:effectLst/>
            </a:endParaRPr>
          </a:p>
          <a:p>
            <a:pPr marL="171450" indent="-171450">
              <a:buFont typeface="Arial" panose="020B0604020202020204" pitchFamily="34" charset="0"/>
              <a:buChar char="•"/>
            </a:pPr>
            <a:r>
              <a:rPr lang="en-US" dirty="0">
                <a:solidFill>
                  <a:srgbClr val="BCBEC4"/>
                </a:solidFill>
                <a:effectLst/>
              </a:rPr>
              <a:t>Its important to note that m</a:t>
            </a:r>
            <a:r>
              <a:rPr lang="en-US" dirty="0"/>
              <a:t>ini-batch size of 32 adds noise to training updates, aiding generalization</a:t>
            </a:r>
            <a:endParaRPr lang="en-US" dirty="0">
              <a:solidFill>
                <a:srgbClr val="BCBEC4"/>
              </a:solidFill>
              <a:effectLst/>
            </a:endParaRPr>
          </a:p>
          <a:p>
            <a:pPr marL="0" indent="0">
              <a:buFont typeface="Arial" panose="020B0604020202020204" pitchFamily="34" charset="0"/>
              <a:buNone/>
            </a:pPr>
            <a:endParaRPr lang="en-US" dirty="0">
              <a:solidFill>
                <a:srgbClr val="BCBEC4"/>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BCBEC4"/>
                </a:solidFill>
                <a:effectLst/>
              </a:rPr>
              <a:t>The output shows the model improving accuracy over 10 epochs, with loss dropping from 0.85 to 0.89.</a:t>
            </a:r>
            <a:br>
              <a:rPr lang="en-US" dirty="0">
                <a:solidFill>
                  <a:srgbClr val="BCBEC4"/>
                </a:solidFill>
                <a:effectLst/>
              </a:rPr>
            </a:br>
            <a:endParaRPr lang="en-US" dirty="0">
              <a:solidFill>
                <a:srgbClr val="BCBEC4"/>
              </a:solidFill>
              <a:effectLst/>
            </a:endParaRPr>
          </a:p>
          <a:p>
            <a:br>
              <a:rPr lang="en-US" dirty="0">
                <a:solidFill>
                  <a:srgbClr val="BCBEC4"/>
                </a:solidFill>
                <a:effectLst/>
              </a:rPr>
            </a:br>
            <a:endParaRPr lang="en-US" dirty="0">
              <a:solidFill>
                <a:srgbClr val="BCBEC4"/>
              </a:solidFill>
              <a:effectLst/>
            </a:endParaRPr>
          </a:p>
        </p:txBody>
      </p:sp>
    </p:spTree>
    <p:extLst>
      <p:ext uri="{BB962C8B-B14F-4D97-AF65-F5344CB8AC3E}">
        <p14:creationId xmlns:p14="http://schemas.microsoft.com/office/powerpoint/2010/main" val="214328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BDD93-D1A9-E389-5EB0-1EE1C427A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3568C-781B-A552-7F53-45F8BD738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DE69F-F8CA-66CE-BB49-55B1A8D3CD26}"/>
              </a:ext>
            </a:extLst>
          </p:cNvPr>
          <p:cNvSpPr>
            <a:spLocks noGrp="1"/>
          </p:cNvSpPr>
          <p:nvPr>
            <p:ph type="body" idx="1"/>
          </p:nvPr>
        </p:nvSpPr>
        <p:spPr/>
        <p:txBody>
          <a:bodyPr/>
          <a:lstStyle/>
          <a:p>
            <a:pPr marL="171450" indent="-171450">
              <a:buFont typeface="Arial" panose="020B0604020202020204" pitchFamily="34" charset="0"/>
              <a:buChar char="•"/>
            </a:pPr>
            <a:r>
              <a:rPr lang="en-US" dirty="0">
                <a:effectLst/>
              </a:rPr>
              <a:t>Evaluation is performed by setting the evaluation function and loading the test data into a batch using </a:t>
            </a:r>
            <a:r>
              <a:rPr lang="en-US" dirty="0" err="1">
                <a:effectLst/>
              </a:rPr>
              <a:t>DataLoader</a:t>
            </a:r>
            <a:r>
              <a:rPr lang="en-US" dirty="0">
                <a:effectLst/>
              </a:rPr>
              <a:t>. </a:t>
            </a:r>
          </a:p>
          <a:p>
            <a:pPr marL="171450" indent="-171450">
              <a:buFont typeface="Arial" panose="020B0604020202020204" pitchFamily="34" charset="0"/>
              <a:buChar char="•"/>
            </a:pPr>
            <a:endParaRPr lang="en-US" dirty="0">
              <a:effectLst/>
            </a:endParaRPr>
          </a:p>
          <a:p>
            <a:pPr marL="171450" indent="-171450">
              <a:buFont typeface="Arial" panose="020B0604020202020204" pitchFamily="34" charset="0"/>
              <a:buChar char="•"/>
            </a:pPr>
            <a:r>
              <a:rPr lang="en-US" dirty="0">
                <a:effectLst/>
              </a:rPr>
              <a:t>The model generates predictions from the input data with </a:t>
            </a:r>
            <a:r>
              <a:rPr lang="en-US" dirty="0" err="1">
                <a:effectLst/>
              </a:rPr>
              <a:t>PyTorch</a:t>
            </a:r>
            <a:r>
              <a:rPr lang="en-US" dirty="0">
                <a:effectLst/>
              </a:rPr>
              <a:t> and uses </a:t>
            </a:r>
            <a:r>
              <a:rPr lang="en-US" dirty="0" err="1">
                <a:effectLst/>
              </a:rPr>
              <a:t>torch.max</a:t>
            </a:r>
            <a:r>
              <a:rPr lang="en-US" dirty="0">
                <a:effectLst/>
              </a:rPr>
              <a:t> to determine the predicted class labels. </a:t>
            </a:r>
          </a:p>
          <a:p>
            <a:pPr marL="171450" indent="-171450">
              <a:buFont typeface="Arial" panose="020B0604020202020204" pitchFamily="34" charset="0"/>
              <a:buChar char="•"/>
            </a:pPr>
            <a:endParaRPr lang="en-US" dirty="0">
              <a:effectLst/>
            </a:endParaRPr>
          </a:p>
          <a:p>
            <a:pPr marL="171450" indent="-171450">
              <a:buFont typeface="Arial" panose="020B0604020202020204" pitchFamily="34" charset="0"/>
              <a:buChar char="•"/>
            </a:pPr>
            <a:r>
              <a:rPr lang="en-US" dirty="0">
                <a:effectLst/>
              </a:rPr>
              <a:t>The accuracy calculates by comparing these predictions to the true records and computes the proportion of correct predictions.</a:t>
            </a:r>
          </a:p>
          <a:p>
            <a:pPr marL="171450" indent="-171450">
              <a:buFont typeface="Arial" panose="020B0604020202020204" pitchFamily="34" charset="0"/>
              <a:buChar char="•"/>
            </a:pPr>
            <a:endParaRPr lang="en-US" dirty="0">
              <a:solidFill>
                <a:srgbClr val="BCBEC4"/>
              </a:solidFill>
              <a:effectLst/>
            </a:endParaRPr>
          </a:p>
          <a:p>
            <a:pPr marL="171450" indent="-171450">
              <a:buFont typeface="Arial" panose="020B0604020202020204" pitchFamily="34" charset="0"/>
              <a:buChar char="•"/>
            </a:pPr>
            <a:r>
              <a:rPr lang="en-US" dirty="0"/>
              <a:t>The final accuracy = 0.8905 showing </a:t>
            </a:r>
            <a:r>
              <a:rPr lang="en-US" dirty="0">
                <a:effectLst/>
              </a:rPr>
              <a:t>strong ability of the IDS model to distinguish between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BCBEC4"/>
              </a:solidFill>
              <a:effectLst/>
            </a:endParaRPr>
          </a:p>
          <a:p>
            <a:br>
              <a:rPr lang="en-US" dirty="0">
                <a:solidFill>
                  <a:srgbClr val="BCBEC4"/>
                </a:solidFill>
                <a:effectLst/>
              </a:rPr>
            </a:br>
            <a:endParaRPr lang="en-US" dirty="0">
              <a:solidFill>
                <a:srgbClr val="BCBEC4"/>
              </a:solidFill>
              <a:effectLst/>
            </a:endParaRPr>
          </a:p>
        </p:txBody>
      </p:sp>
    </p:spTree>
    <p:extLst>
      <p:ext uri="{BB962C8B-B14F-4D97-AF65-F5344CB8AC3E}">
        <p14:creationId xmlns:p14="http://schemas.microsoft.com/office/powerpoint/2010/main" val="3563984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BCBEC4"/>
                </a:solidFill>
                <a:effectLst/>
              </a:rPr>
              <a:t>The ROC curve shows the relationship between the True Positive rate and the False Positive rate.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BCBEC4"/>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BCBEC4"/>
                </a:solidFill>
                <a:effectLst/>
              </a:rPr>
              <a:t>Area Under the Curve is 0.89, which indicates that the model has good performance can correctly detect potential attacks or intrusions on the victim system.</a:t>
            </a:r>
            <a:br>
              <a:rPr lang="en-US" dirty="0">
                <a:solidFill>
                  <a:srgbClr val="BCBEC4"/>
                </a:solidFill>
                <a:effectLst/>
              </a:rPr>
            </a:br>
            <a:endParaRPr lang="en-US" dirty="0">
              <a:solidFill>
                <a:srgbClr val="BCBEC4"/>
              </a:solidFill>
              <a:effectLst/>
            </a:endParaRPr>
          </a:p>
          <a:p>
            <a:endParaRPr lang="en-US" dirty="0"/>
          </a:p>
        </p:txBody>
      </p:sp>
    </p:spTree>
    <p:extLst>
      <p:ext uri="{BB962C8B-B14F-4D97-AF65-F5344CB8AC3E}">
        <p14:creationId xmlns:p14="http://schemas.microsoft.com/office/powerpoint/2010/main" val="125826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B0AF4-8BC3-61AF-EB5F-79B8C15D0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E6F6F-C42A-1DAE-5637-94C2EF5AC9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3F61B-2897-7BE1-87A4-779338D96EE2}"/>
              </a:ext>
            </a:extLst>
          </p:cNvPr>
          <p:cNvSpPr>
            <a:spLocks noGrp="1"/>
          </p:cNvSpPr>
          <p:nvPr>
            <p:ph type="body" idx="1"/>
          </p:nvPr>
        </p:nvSpPr>
        <p:spPr/>
        <p:txBody>
          <a:bodyPr/>
          <a:lstStyle/>
          <a:p>
            <a:pPr marL="171450" indent="-171450">
              <a:buFont typeface="Arial" panose="020B0604020202020204" pitchFamily="34" charset="0"/>
              <a:buChar char="•"/>
            </a:pPr>
            <a:r>
              <a:rPr lang="en-US" dirty="0"/>
              <a:t>With the Intrusion Detection System in place, we can now programmatically apply FGSM</a:t>
            </a:r>
          </a:p>
          <a:p>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Fast Gradient Sign Method (FGSM) is an adversarial attack to generate adversarial examples through small, controlled perturbations of the input data, causing misclassification by models like neural network.</a:t>
            </a:r>
          </a:p>
          <a:p>
            <a:endParaRPr lang="en-US" dirty="0"/>
          </a:p>
        </p:txBody>
      </p:sp>
    </p:spTree>
    <p:extLst>
      <p:ext uri="{BB962C8B-B14F-4D97-AF65-F5344CB8AC3E}">
        <p14:creationId xmlns:p14="http://schemas.microsoft.com/office/powerpoint/2010/main" val="1391855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CFFE3-78E7-E903-6586-5C11B54FF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7357D-9167-88A8-004E-9B94A73FD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E3722-2206-ED6A-016D-3F8A6EE9F540}"/>
              </a:ext>
            </a:extLst>
          </p:cNvPr>
          <p:cNvSpPr>
            <a:spLocks noGrp="1"/>
          </p:cNvSpPr>
          <p:nvPr>
            <p:ph type="body" idx="1"/>
          </p:nvPr>
        </p:nvSpPr>
        <p:spPr/>
        <p:txBody>
          <a:bodyPr/>
          <a:lstStyle/>
          <a:p>
            <a:pPr marL="171450" indent="-171450">
              <a:buFont typeface="Arial" panose="020B0604020202020204" pitchFamily="34" charset="0"/>
              <a:buChar char="•"/>
            </a:pPr>
            <a:r>
              <a:rPr lang="en-US" dirty="0">
                <a:solidFill>
                  <a:srgbClr val="BCBEC4"/>
                </a:solidFill>
                <a:effectLst/>
              </a:rPr>
              <a:t>To Define the FGSM Attack Model is simple.</a:t>
            </a:r>
          </a:p>
          <a:p>
            <a:endParaRPr lang="en-US" dirty="0">
              <a:solidFill>
                <a:srgbClr val="BCBEC4"/>
              </a:solidFill>
              <a:effectLst/>
            </a:endParaRPr>
          </a:p>
          <a:p>
            <a:pPr marL="285750" indent="-285750">
              <a:buFont typeface="Arial" panose="020B0604020202020204" pitchFamily="34" charset="0"/>
              <a:buChar char="•"/>
            </a:pPr>
            <a:r>
              <a:rPr lang="en-US" sz="1200" dirty="0">
                <a:effectLst/>
              </a:rPr>
              <a:t>Input data x is set up so that adversary program can track how changes will affect the model and the l</a:t>
            </a:r>
            <a:r>
              <a:rPr lang="en-US" dirty="0"/>
              <a:t>oss function makes predictions on x and compares to y.</a:t>
            </a:r>
          </a:p>
          <a:p>
            <a:pPr marL="0" indent="0">
              <a:buFont typeface="Arial" panose="020B0604020202020204" pitchFamily="34" charset="0"/>
              <a:buNone/>
            </a:pPr>
            <a:endParaRPr lang="en-US" dirty="0"/>
          </a:p>
          <a:p>
            <a:pPr marL="285750" indent="-285750">
              <a:buFont typeface="Arial" panose="020B0604020202020204" pitchFamily="34" charset="0"/>
              <a:buChar char="•"/>
            </a:pPr>
            <a:r>
              <a:rPr lang="en-US" dirty="0">
                <a:effectLst/>
              </a:rPr>
              <a:t>Back</a:t>
            </a:r>
            <a:r>
              <a:rPr lang="en-US" dirty="0"/>
              <a:t>propagation allows the program to figure out which direction it needs change x in order to increase the loss for the attack.</a:t>
            </a:r>
          </a:p>
          <a:p>
            <a:pPr marL="0" indent="0">
              <a:buFont typeface="Arial" panose="020B0604020202020204" pitchFamily="34" charset="0"/>
              <a:buNone/>
            </a:pPr>
            <a:endParaRPr lang="en-US" dirty="0"/>
          </a:p>
          <a:p>
            <a:pPr marL="285750" indent="-285750">
              <a:buFont typeface="Arial" panose="020B0604020202020204" pitchFamily="34" charset="0"/>
              <a:buChar char="•"/>
            </a:pPr>
            <a:r>
              <a:rPr lang="en-US" dirty="0">
                <a:effectLst/>
              </a:rPr>
              <a:t>The changes in x are called perturbations. These are multiplied to the sign of the loss gradient and also multiplied by small </a:t>
            </a:r>
            <a:r>
              <a:rPr lang="en-US" dirty="0"/>
              <a:t>numbers called </a:t>
            </a:r>
            <a:r>
              <a:rPr lang="en-US" dirty="0">
                <a:effectLst/>
              </a:rPr>
              <a:t>epsilon which subtly alter input to the victim model. </a:t>
            </a:r>
          </a:p>
          <a:p>
            <a:endParaRPr lang="en-US" dirty="0">
              <a:solidFill>
                <a:srgbClr val="BCBEC4"/>
              </a:solidFill>
              <a:effectLst/>
            </a:endParaRPr>
          </a:p>
        </p:txBody>
      </p:sp>
    </p:spTree>
    <p:extLst>
      <p:ext uri="{BB962C8B-B14F-4D97-AF65-F5344CB8AC3E}">
        <p14:creationId xmlns:p14="http://schemas.microsoft.com/office/powerpoint/2010/main" val="1779411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33563-50AF-05CA-84C4-970BCB286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E8A47-475A-331E-9372-696A66CA49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9F09C5-EBAE-A25A-ECC8-50719ECB7E32}"/>
              </a:ext>
            </a:extLst>
          </p:cNvPr>
          <p:cNvSpPr>
            <a:spLocks noGrp="1"/>
          </p:cNvSpPr>
          <p:nvPr>
            <p:ph type="body" idx="1"/>
          </p:nvPr>
        </p:nvSpPr>
        <p:spPr/>
        <p:txBody>
          <a:bodyPr/>
          <a:lstStyle/>
          <a:p>
            <a:pPr marL="285750" indent="-285750">
              <a:buFont typeface="Arial" panose="020B0604020202020204" pitchFamily="34" charset="0"/>
              <a:buChar char="•"/>
            </a:pPr>
            <a:r>
              <a:rPr lang="en-US" sz="1200" dirty="0">
                <a:effectLst/>
              </a:rPr>
              <a:t>Evaluation tries multiple values of epsilon from 0.1 to 0.5</a:t>
            </a:r>
          </a:p>
          <a:p>
            <a:pPr marL="285750" indent="-285750">
              <a:buFont typeface="Arial" panose="020B0604020202020204" pitchFamily="34" charset="0"/>
              <a:buChar char="•"/>
            </a:pPr>
            <a:endParaRPr lang="en-US" sz="1200" dirty="0">
              <a:effectLst/>
            </a:endParaRPr>
          </a:p>
          <a:p>
            <a:pPr marL="285750" indent="-285750">
              <a:buFont typeface="Arial" panose="020B0604020202020204" pitchFamily="34" charset="0"/>
              <a:buChar char="•"/>
            </a:pPr>
            <a:r>
              <a:rPr lang="en-US" dirty="0"/>
              <a:t>The adversary program predicts labels as a baseline and then uses </a:t>
            </a:r>
            <a:r>
              <a:rPr lang="en-US" dirty="0" err="1"/>
              <a:t>fgsm_attack</a:t>
            </a:r>
            <a:r>
              <a:rPr lang="en-US" dirty="0"/>
              <a:t> to create small adversarial examples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effectLst/>
              </a:rPr>
              <a:t>This confuses the victim model and t</a:t>
            </a:r>
            <a:r>
              <a:rPr lang="en-US" dirty="0"/>
              <a:t>he damage is measured by checking the accuracy and the attack success rate</a:t>
            </a:r>
          </a:p>
          <a:p>
            <a:pPr marL="0" indent="0">
              <a:buFont typeface="Arial" panose="020B0604020202020204" pitchFamily="34" charset="0"/>
              <a:buNone/>
            </a:pPr>
            <a:endParaRPr lang="en-US" sz="1600" dirty="0"/>
          </a:p>
          <a:p>
            <a:pPr marL="285750" indent="-285750">
              <a:buFont typeface="Arial" panose="020B0604020202020204" pitchFamily="34" charset="0"/>
              <a:buChar char="•"/>
            </a:pPr>
            <a:r>
              <a:rPr lang="en-US" dirty="0"/>
              <a:t>The results show that increasing epsilon also increases the Attack Success Rate and False Negative with rates increasing from 0.16 and 0.20 to 0.66 and 0.42 respectively</a:t>
            </a:r>
            <a:endParaRPr lang="en-US" dirty="0">
              <a:solidFill>
                <a:srgbClr val="BCBEC4"/>
              </a:solidFill>
              <a:effectLst/>
            </a:endParaRPr>
          </a:p>
        </p:txBody>
      </p:sp>
    </p:spTree>
    <p:extLst>
      <p:ext uri="{BB962C8B-B14F-4D97-AF65-F5344CB8AC3E}">
        <p14:creationId xmlns:p14="http://schemas.microsoft.com/office/powerpoint/2010/main" val="3104256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C8349-E460-B006-20B5-A1699D62D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35699-6A89-04B6-6AAE-22ABFD37F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F0F3C-C48C-EE30-FAB6-28F6A8A36F48}"/>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BCBEC4"/>
                </a:solidFill>
                <a:effectLst/>
              </a:rPr>
              <a:t>Here, increasing the epsilon value of the Attack model leads to a decrease in accuracy of the IDS Victim Model.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contrast, </a:t>
            </a:r>
            <a:r>
              <a:rPr lang="en-US" dirty="0">
                <a:solidFill>
                  <a:srgbClr val="BCBEC4"/>
                </a:solidFill>
                <a:effectLst/>
              </a:rPr>
              <a:t>the Attack Success Rate shows the attack model’s accuracy. We expect the Attack Success Rate to increase as Epsilon value increases for a successful attack.</a:t>
            </a:r>
            <a:endParaRPr lang="en-US" dirty="0"/>
          </a:p>
        </p:txBody>
      </p:sp>
    </p:spTree>
    <p:extLst>
      <p:ext uri="{BB962C8B-B14F-4D97-AF65-F5344CB8AC3E}">
        <p14:creationId xmlns:p14="http://schemas.microsoft.com/office/powerpoint/2010/main" val="672336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8CCF0-077C-38F8-8E4F-69661D25D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553F2-FDFF-AD36-78B0-26E213CE7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127A98-A57B-7BA1-B615-0C1DA4174888}"/>
              </a:ext>
            </a:extLst>
          </p:cNvPr>
          <p:cNvSpPr>
            <a:spLocks noGrp="1"/>
          </p:cNvSpPr>
          <p:nvPr>
            <p:ph type="body" idx="1"/>
          </p:nvPr>
        </p:nvSpPr>
        <p:spPr/>
        <p:txBody>
          <a:bodyPr/>
          <a:lstStyle/>
          <a:p>
            <a:pPr marL="171450" indent="-171450">
              <a:buFont typeface="Arial" panose="020B0604020202020204" pitchFamily="34" charset="0"/>
              <a:buChar char="•"/>
            </a:pPr>
            <a:r>
              <a:rPr lang="en-US" dirty="0">
                <a:solidFill>
                  <a:srgbClr val="BCBEC4"/>
                </a:solidFill>
                <a:effectLst/>
              </a:rPr>
              <a:t>The ROC Curve also suggests that as the epsilon value increases, the model's performance decreases. </a:t>
            </a:r>
          </a:p>
          <a:p>
            <a:pPr marL="171450" indent="-171450">
              <a:buFont typeface="Arial" panose="020B0604020202020204" pitchFamily="34" charset="0"/>
              <a:buChar char="•"/>
            </a:pPr>
            <a:endParaRPr lang="en-US" dirty="0">
              <a:solidFill>
                <a:srgbClr val="BCBEC4"/>
              </a:solidFill>
              <a:effectLst/>
            </a:endParaRPr>
          </a:p>
          <a:p>
            <a:pPr marL="171450" indent="-171450">
              <a:buFont typeface="Arial" panose="020B0604020202020204" pitchFamily="34" charset="0"/>
              <a:buChar char="•"/>
            </a:pPr>
            <a:r>
              <a:rPr lang="en-US" dirty="0">
                <a:solidFill>
                  <a:srgbClr val="BCBEC4"/>
                </a:solidFill>
                <a:effectLst/>
              </a:rPr>
              <a:t>The area under the curve decreases as the epsilon values increases, this shows the Victims declining performance to distinguish between true classifications.</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solidFill>
                  <a:srgbClr val="BCBEC4"/>
                </a:solidFill>
                <a:effectLst/>
              </a:rPr>
              <a:t>The Purple Line for 0.5 Epsilon suggests that the FGSM attack has significantly compromised the model's performance and so the IDS victim performs worse than random guessing. </a:t>
            </a:r>
          </a:p>
          <a:p>
            <a:pPr marL="0" indent="0">
              <a:buFont typeface="Arial" panose="020B0604020202020204" pitchFamily="34" charset="0"/>
              <a:buNone/>
            </a:pPr>
            <a:endParaRPr lang="en-US" dirty="0">
              <a:solidFill>
                <a:srgbClr val="BCBEC4"/>
              </a:solidFill>
              <a:effectLst/>
            </a:endParaRPr>
          </a:p>
          <a:p>
            <a:pPr marL="171450" indent="-171450">
              <a:buFont typeface="Arial" panose="020B0604020202020204" pitchFamily="34" charset="0"/>
              <a:buChar char="•"/>
            </a:pPr>
            <a:r>
              <a:rPr lang="en-US" dirty="0">
                <a:solidFill>
                  <a:srgbClr val="BCBEC4"/>
                </a:solidFill>
                <a:effectLst/>
              </a:rPr>
              <a:t>The attack model can generate adversarial examples that are able to fool the model, resulting in a successful attack and major inaccuracy of the victim neural network.</a:t>
            </a:r>
            <a:br>
              <a:rPr lang="en-US" dirty="0">
                <a:solidFill>
                  <a:srgbClr val="BCBEC4"/>
                </a:solidFill>
                <a:effectLst/>
              </a:rPr>
            </a:br>
            <a:endParaRPr lang="en-US" dirty="0"/>
          </a:p>
        </p:txBody>
      </p:sp>
    </p:spTree>
    <p:extLst>
      <p:ext uri="{BB962C8B-B14F-4D97-AF65-F5344CB8AC3E}">
        <p14:creationId xmlns:p14="http://schemas.microsoft.com/office/powerpoint/2010/main" val="3261175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Mitigating the Fast Gradient Sign Method (FGSM) and similar adversarial attacks involves techniques that improve a model’s robustness against malicious perturbations.  These the top 3 most effective techniques to this attack.</a:t>
            </a:r>
          </a:p>
          <a:p>
            <a:endParaRPr lang="en-US" dirty="0"/>
          </a:p>
          <a:p>
            <a:r>
              <a:rPr lang="en-US" sz="3500" dirty="0"/>
              <a:t>Adversarial Training is the Most Effective because it trains </a:t>
            </a:r>
            <a:r>
              <a:rPr lang="en-US" sz="3000" dirty="0"/>
              <a:t>the model on both clean and FGSM-generated examples, directly improving robustness.</a:t>
            </a:r>
          </a:p>
          <a:p>
            <a:pPr marL="0" lvl="0" indent="0">
              <a:buFont typeface="Arial" panose="020B0604020202020204" pitchFamily="34" charset="0"/>
              <a:buNone/>
            </a:pPr>
            <a:endParaRPr lang="en-US" sz="3500" dirty="0"/>
          </a:p>
          <a:p>
            <a:r>
              <a:rPr lang="en-US" sz="3500" dirty="0"/>
              <a:t>Input Preprocessing includes Feature Squeezing, JPEG Compression disrupts any </a:t>
            </a:r>
            <a:r>
              <a:rPr lang="en-US" sz="3000" dirty="0"/>
              <a:t>small perturbations before the model processes them and it is easy to implement.</a:t>
            </a:r>
          </a:p>
          <a:p>
            <a:pPr marL="457200" lvl="1" indent="0">
              <a:buNone/>
            </a:pPr>
            <a:endParaRPr lang="en-US" sz="3500" dirty="0"/>
          </a:p>
          <a:p>
            <a:r>
              <a:rPr lang="en-US" sz="3500" dirty="0"/>
              <a:t>Finally, using more Robust Architectures and training </a:t>
            </a:r>
            <a:r>
              <a:rPr lang="en-US" sz="3000" dirty="0"/>
              <a:t>regimes that include regularization can reduce overfitting and the mitigate the effects of perturbations in an FGSM attack</a:t>
            </a:r>
          </a:p>
          <a:p>
            <a:endParaRPr lang="en-US" dirty="0"/>
          </a:p>
        </p:txBody>
      </p:sp>
    </p:spTree>
    <p:extLst>
      <p:ext uri="{BB962C8B-B14F-4D97-AF65-F5344CB8AC3E}">
        <p14:creationId xmlns:p14="http://schemas.microsoft.com/office/powerpoint/2010/main" val="1452347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72058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1C82941B-E89F-404F-B72B-B1F638F7BE0C}" type="datetime1">
              <a:rPr lang="en-US" smtClean="0"/>
              <a:t>7/31/2025</a:t>
            </a:fld>
            <a:endParaRPr lang="en-US" dirty="0"/>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a:t>Neural Network Victim Model</a:t>
            </a:r>
            <a:endParaRPr lang="en-US" dirty="0"/>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545414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E0BDC7BC-45CF-441E-AA03-3DA132E0737B}" type="datetime1">
              <a:rPr lang="en-US" smtClean="0"/>
              <a:t>7/31/2025</a:t>
            </a:fld>
            <a:endParaRPr lang="en-US" dirty="0"/>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a:t>Neural Network Victim Model</a:t>
            </a:r>
            <a:endParaRPr lang="en-US" dirty="0"/>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36828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E02BC6F3-296A-4378-8972-83CCD67B7C13}" type="datetime1">
              <a:rPr lang="en-US" smtClean="0"/>
              <a:t>7/31/2025</a:t>
            </a:fld>
            <a:endParaRPr lang="en-US" dirty="0"/>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a:t>Neural Network Victim Model</a:t>
            </a:r>
            <a:endParaRPr lang="en-US" dirty="0"/>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003977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E33DE1F0-48CE-4061-A9EF-C8CBBF090E8B}" type="datetime1">
              <a:rPr lang="en-US" smtClean="0"/>
              <a:t>7/31/2025</a:t>
            </a:fld>
            <a:endParaRPr lang="en-US" dirty="0"/>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a:t>Neural Network Victim Model</a:t>
            </a:r>
            <a:endParaRPr lang="en-US" dirty="0"/>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48932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F3E6B3B2-B55C-4DE3-BB59-5E26C5CAC4C4}" type="datetime1">
              <a:rPr lang="en-US" smtClean="0"/>
              <a:t>7/31/2025</a:t>
            </a:fld>
            <a:endParaRPr lang="en-US" dirty="0"/>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a:t>Neural Network Victim Model</a:t>
            </a:r>
            <a:endParaRPr lang="en-US" dirty="0"/>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037693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a:t>Click to edit Master title style</a:t>
            </a:r>
            <a:endParaRPr lang="en-US" dirty="0"/>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8F2C2E64-18ED-4E6C-911D-38C45E4B16AC}" type="datetime1">
              <a:rPr lang="en-US" smtClean="0"/>
              <a:t>7/31/2025</a:t>
            </a:fld>
            <a:endParaRPr lang="en-US" dirty="0"/>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a:t>Neural Network Victim Model</a:t>
            </a:r>
            <a:endParaRPr lang="en-US" dirty="0"/>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48022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6A292D36-F51E-45E5-B03B-1928465A3A85}" type="datetime1">
              <a:rPr lang="en-US" smtClean="0"/>
              <a:t>7/31/2025</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a:t>Neural Network Victim Model</a:t>
            </a:r>
            <a:endParaRPr lang="en-US" dirty="0"/>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703644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8E0FFA1A-9090-4100-892D-577030101373}" type="datetime1">
              <a:rPr lang="en-US" smtClean="0"/>
              <a:t>7/31/2025</a:t>
            </a:fld>
            <a:endParaRPr lang="en-US" dirty="0"/>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a:t>Neural Network Victim Model</a:t>
            </a:r>
            <a:endParaRPr lang="en-US" dirty="0"/>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285644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C000BA9C-C096-4A84-A5CC-A3720937320F}" type="datetime1">
              <a:rPr lang="en-US" smtClean="0"/>
              <a:t>7/31/2025</a:t>
            </a:fld>
            <a:endParaRPr lang="en-US" dirty="0"/>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a:t>Neural Network Victim Model</a:t>
            </a:r>
            <a:endParaRPr lang="en-US" dirty="0"/>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07528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9700EE57-426E-46B0-A314-307522C4AF87}" type="datetime1">
              <a:rPr lang="en-US" smtClean="0"/>
              <a:t>7/31/2025</a:t>
            </a:fld>
            <a:endParaRPr lang="en-US" dirty="0"/>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a:t>Neural Network Victim Model</a:t>
            </a:r>
            <a:endParaRPr lang="en-US" dirty="0"/>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613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6625743B-FE94-4418-A985-408F7494224B}" type="datetime1">
              <a:rPr lang="en-US" smtClean="0"/>
              <a:t>7/31/2025</a:t>
            </a:fld>
            <a:endParaRPr lang="en-US" dirty="0"/>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a:t>Neural Network Victim Model</a:t>
            </a:r>
            <a:endParaRPr lang="en-US" dirty="0"/>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30951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D39D9321-8757-4F0F-84AC-A71099CC035F}" type="datetime1">
              <a:rPr lang="en-US" smtClean="0"/>
              <a:t>7/31/2025</a:t>
            </a:fld>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a:t>Neural Network Victim Model</a:t>
            </a:r>
            <a:endParaRPr lang="en-US" b="1" dirty="0"/>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694802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dnkumars/cybersecurity-intrusion-detection-dataset/data"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hyperlink" Target="https://arxiv.org/abs/1704.01155" TargetMode="External"/><Relationship Id="rId3" Type="http://schemas.openxmlformats.org/officeDocument/2006/relationships/hyperlink" Target="https://www.coursera.org/specializations/deep-learning" TargetMode="External"/><Relationship Id="rId7" Type="http://schemas.openxmlformats.org/officeDocument/2006/relationships/hyperlink" Target="https://arxiv.org/abs/1511.04508"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arxiv.org/abs/1706.06083" TargetMode="External"/><Relationship Id="rId5" Type="http://schemas.openxmlformats.org/officeDocument/2006/relationships/hyperlink" Target="https://github.com/cleverhans-lab/cleverhans" TargetMode="External"/><Relationship Id="rId4" Type="http://schemas.openxmlformats.org/officeDocument/2006/relationships/hyperlink" Target="https://arxiv.org/abs/1412.6572" TargetMode="External"/><Relationship Id="rId9" Type="http://schemas.openxmlformats.org/officeDocument/2006/relationships/hyperlink" Target="https://github.com/Trusted-AI/adversarial-robustness-toolbo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E61E5-35AE-D1FF-1CFA-C1CF7B80BE29}"/>
              </a:ext>
            </a:extLst>
          </p:cNvPr>
          <p:cNvSpPr>
            <a:spLocks noGrp="1"/>
          </p:cNvSpPr>
          <p:nvPr>
            <p:ph type="ctrTitle"/>
          </p:nvPr>
        </p:nvSpPr>
        <p:spPr/>
        <p:txBody>
          <a:bodyPr>
            <a:noAutofit/>
          </a:bodyPr>
          <a:lstStyle/>
          <a:p>
            <a:r>
              <a:rPr lang="en-US" sz="2800" dirty="0"/>
              <a:t> Fast Gradient Sign Method (FGSM) Adversarial Attack Against Intrusion Detection System</a:t>
            </a:r>
            <a:br>
              <a:rPr lang="en-US" sz="2800" dirty="0"/>
            </a:br>
            <a:endParaRPr lang="en-US" sz="2800" dirty="0"/>
          </a:p>
        </p:txBody>
      </p:sp>
      <p:sp>
        <p:nvSpPr>
          <p:cNvPr id="3" name="Subtitle 2">
            <a:extLst>
              <a:ext uri="{FF2B5EF4-FFF2-40B4-BE49-F238E27FC236}">
                <a16:creationId xmlns:a16="http://schemas.microsoft.com/office/drawing/2014/main" id="{B7CBE231-26F4-EB73-810C-CD08524670EE}"/>
              </a:ext>
            </a:extLst>
          </p:cNvPr>
          <p:cNvSpPr>
            <a:spLocks noGrp="1"/>
          </p:cNvSpPr>
          <p:nvPr>
            <p:ph type="subTitle" idx="1"/>
          </p:nvPr>
        </p:nvSpPr>
        <p:spPr>
          <a:xfrm>
            <a:off x="2166551" y="4006379"/>
            <a:ext cx="9144000" cy="1655762"/>
          </a:xfrm>
        </p:spPr>
        <p:txBody>
          <a:bodyPr>
            <a:normAutofit/>
          </a:bodyPr>
          <a:lstStyle/>
          <a:p>
            <a:pPr algn="l"/>
            <a:r>
              <a:rPr lang="en-US" sz="1800" dirty="0" err="1"/>
              <a:t>cyBER</a:t>
            </a:r>
            <a:r>
              <a:rPr lang="en-US" sz="1800" dirty="0"/>
              <a:t> 207 Applied Machine Learning for Cybersecurity</a:t>
            </a:r>
          </a:p>
          <a:p>
            <a:pPr algn="l"/>
            <a:r>
              <a:rPr lang="en-US" sz="1800" dirty="0"/>
              <a:t>Professor Nahid </a:t>
            </a:r>
            <a:r>
              <a:rPr lang="en-US" sz="1800" dirty="0" err="1"/>
              <a:t>ghalaty</a:t>
            </a:r>
            <a:endParaRPr lang="en-US" sz="1800" dirty="0"/>
          </a:p>
          <a:p>
            <a:pPr algn="l"/>
            <a:r>
              <a:rPr lang="en-US" sz="1800" dirty="0"/>
              <a:t>By Gregory David Mamoyac</a:t>
            </a:r>
          </a:p>
        </p:txBody>
      </p:sp>
    </p:spTree>
    <p:extLst>
      <p:ext uri="{BB962C8B-B14F-4D97-AF65-F5344CB8AC3E}">
        <p14:creationId xmlns:p14="http://schemas.microsoft.com/office/powerpoint/2010/main" val="849054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E2A54-9CB5-FA0D-836B-E5E377104814}"/>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C73A86FD-34A9-EE94-00E5-814646C546C0}"/>
              </a:ext>
            </a:extLst>
          </p:cNvPr>
          <p:cNvSpPr>
            <a:spLocks noGrp="1"/>
          </p:cNvSpPr>
          <p:nvPr>
            <p:ph idx="1"/>
          </p:nvPr>
        </p:nvSpPr>
        <p:spPr/>
        <p:txBody>
          <a:bodyPr/>
          <a:lstStyle/>
          <a:p>
            <a:r>
              <a:rPr lang="en-US" dirty="0"/>
              <a:t>The problem statement is to evaluate the vulnerability of a neural network based intrusion detection system through Fast Gradient Sign Method (FGSM) adversarial attacks. </a:t>
            </a:r>
          </a:p>
          <a:p>
            <a:endParaRPr lang="en-US" dirty="0"/>
          </a:p>
          <a:p>
            <a:r>
              <a:rPr lang="en-US" dirty="0"/>
              <a:t>The hypothesis is that the FGSM attack will be successful for evading detection against the intrusion detection system and cause failure of the victim model through small perturbations. </a:t>
            </a:r>
          </a:p>
        </p:txBody>
      </p:sp>
    </p:spTree>
    <p:extLst>
      <p:ext uri="{BB962C8B-B14F-4D97-AF65-F5344CB8AC3E}">
        <p14:creationId xmlns:p14="http://schemas.microsoft.com/office/powerpoint/2010/main" val="1650363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858FD-D89E-2531-BD2E-0662BACFFF8B}"/>
              </a:ext>
            </a:extLst>
          </p:cNvPr>
          <p:cNvSpPr>
            <a:spLocks noGrp="1"/>
          </p:cNvSpPr>
          <p:nvPr>
            <p:ph type="title"/>
          </p:nvPr>
        </p:nvSpPr>
        <p:spPr/>
        <p:txBody>
          <a:bodyPr/>
          <a:lstStyle/>
          <a:p>
            <a:r>
              <a:rPr lang="en-US" dirty="0"/>
              <a:t>Neural Network Victim Model</a:t>
            </a:r>
          </a:p>
        </p:txBody>
      </p:sp>
      <p:sp>
        <p:nvSpPr>
          <p:cNvPr id="3" name="Text Placeholder 2">
            <a:extLst>
              <a:ext uri="{FF2B5EF4-FFF2-40B4-BE49-F238E27FC236}">
                <a16:creationId xmlns:a16="http://schemas.microsoft.com/office/drawing/2014/main" id="{68AB0065-9BFA-6942-E938-CF267CABF205}"/>
              </a:ext>
            </a:extLst>
          </p:cNvPr>
          <p:cNvSpPr>
            <a:spLocks noGrp="1"/>
          </p:cNvSpPr>
          <p:nvPr>
            <p:ph type="body" idx="1"/>
          </p:nvPr>
        </p:nvSpPr>
        <p:spPr/>
        <p:txBody>
          <a:bodyPr/>
          <a:lstStyle/>
          <a:p>
            <a:r>
              <a:rPr lang="en-US" dirty="0"/>
              <a:t>The Training, Testing, and Evaluation methods of the F</a:t>
            </a:r>
            <a:r>
              <a:rPr lang="en-US" sz="2400" dirty="0"/>
              <a:t>eedforward </a:t>
            </a:r>
            <a:r>
              <a:rPr lang="en-US" dirty="0"/>
              <a:t>N</a:t>
            </a:r>
            <a:r>
              <a:rPr lang="en-US" sz="2400" dirty="0"/>
              <a:t>eural </a:t>
            </a:r>
            <a:r>
              <a:rPr lang="en-US" dirty="0"/>
              <a:t>N</a:t>
            </a:r>
            <a:r>
              <a:rPr lang="en-US" sz="2400" dirty="0"/>
              <a:t>etwork will be used as the IDS victim of FGSM adversarial attack.</a:t>
            </a:r>
            <a:endParaRPr lang="en-US" dirty="0"/>
          </a:p>
        </p:txBody>
      </p:sp>
      <p:sp>
        <p:nvSpPr>
          <p:cNvPr id="4" name="Footer Placeholder 3">
            <a:extLst>
              <a:ext uri="{FF2B5EF4-FFF2-40B4-BE49-F238E27FC236}">
                <a16:creationId xmlns:a16="http://schemas.microsoft.com/office/drawing/2014/main" id="{BE8195F0-FF99-3DC2-0FF6-2B8ED40E71BB}"/>
              </a:ext>
            </a:extLst>
          </p:cNvPr>
          <p:cNvSpPr>
            <a:spLocks noGrp="1"/>
          </p:cNvSpPr>
          <p:nvPr>
            <p:ph type="ftr" sz="quarter" idx="11"/>
          </p:nvPr>
        </p:nvSpPr>
        <p:spPr/>
        <p:txBody>
          <a:bodyPr/>
          <a:lstStyle/>
          <a:p>
            <a:r>
              <a:rPr lang="en-US" dirty="0"/>
              <a:t>Neural Network Victim Model</a:t>
            </a:r>
          </a:p>
        </p:txBody>
      </p:sp>
    </p:spTree>
    <p:extLst>
      <p:ext uri="{BB962C8B-B14F-4D97-AF65-F5344CB8AC3E}">
        <p14:creationId xmlns:p14="http://schemas.microsoft.com/office/powerpoint/2010/main" val="3787999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72F79-CDBB-EEB1-529D-EC57B438C89E}"/>
              </a:ext>
            </a:extLst>
          </p:cNvPr>
          <p:cNvSpPr>
            <a:spLocks noGrp="1"/>
          </p:cNvSpPr>
          <p:nvPr>
            <p:ph type="title"/>
          </p:nvPr>
        </p:nvSpPr>
        <p:spPr/>
        <p:txBody>
          <a:bodyPr/>
          <a:lstStyle/>
          <a:p>
            <a:r>
              <a:rPr lang="en-US" dirty="0"/>
              <a:t>Specifications</a:t>
            </a:r>
            <a:endParaRPr lang="en-US" b="1" dirty="0"/>
          </a:p>
        </p:txBody>
      </p:sp>
      <p:sp>
        <p:nvSpPr>
          <p:cNvPr id="4" name="Content Placeholder 3">
            <a:extLst>
              <a:ext uri="{FF2B5EF4-FFF2-40B4-BE49-F238E27FC236}">
                <a16:creationId xmlns:a16="http://schemas.microsoft.com/office/drawing/2014/main" id="{DD9A39E3-B069-594B-880D-A9EBE8B24985}"/>
              </a:ext>
            </a:extLst>
          </p:cNvPr>
          <p:cNvSpPr>
            <a:spLocks noGrp="1"/>
          </p:cNvSpPr>
          <p:nvPr>
            <p:ph sz="half" idx="2"/>
          </p:nvPr>
        </p:nvSpPr>
        <p:spPr>
          <a:xfrm>
            <a:off x="836612" y="1690687"/>
            <a:ext cx="7837125" cy="4802188"/>
          </a:xfrm>
        </p:spPr>
        <p:txBody>
          <a:bodyPr>
            <a:normAutofit lnSpcReduction="10000"/>
          </a:bodyPr>
          <a:lstStyle/>
          <a:p>
            <a:r>
              <a:rPr lang="en-US" sz="2800" dirty="0"/>
              <a:t>Kaggle’s Cybersecurity Intrusion Detection  Dataset</a:t>
            </a:r>
            <a:endParaRPr lang="en-US" dirty="0">
              <a:hlinkClick r:id="rId3"/>
            </a:endParaRPr>
          </a:p>
          <a:p>
            <a:pPr lvl="1"/>
            <a:r>
              <a:rPr lang="en-US" dirty="0">
                <a:hlinkClick r:id="rId3"/>
              </a:rPr>
              <a:t>https://www.kaggle.com/datasets/dnkumars/cybersecurity-intrusion-detection-dataset/data</a:t>
            </a:r>
            <a:endParaRPr lang="en-US" dirty="0"/>
          </a:p>
          <a:p>
            <a:pPr lvl="1"/>
            <a:r>
              <a:rPr lang="en-US" dirty="0"/>
              <a:t>Size 725.13 KB</a:t>
            </a:r>
          </a:p>
          <a:p>
            <a:pPr lvl="1"/>
            <a:r>
              <a:rPr lang="en-US" dirty="0"/>
              <a:t>Useful for supervised machine learning, where a model learns from labeled attack patterns.</a:t>
            </a:r>
          </a:p>
          <a:p>
            <a:r>
              <a:rPr lang="en-US" dirty="0"/>
              <a:t>Libraries</a:t>
            </a:r>
          </a:p>
          <a:p>
            <a:pPr lvl="1"/>
            <a:r>
              <a:rPr lang="en-US" dirty="0"/>
              <a:t>Pandas</a:t>
            </a:r>
          </a:p>
          <a:p>
            <a:pPr lvl="1"/>
            <a:r>
              <a:rPr lang="en-US" dirty="0" err="1"/>
              <a:t>Numpy</a:t>
            </a:r>
            <a:endParaRPr lang="en-US" dirty="0"/>
          </a:p>
          <a:p>
            <a:pPr lvl="1"/>
            <a:r>
              <a:rPr lang="en-US" dirty="0"/>
              <a:t>Torch </a:t>
            </a:r>
          </a:p>
          <a:p>
            <a:pPr lvl="1"/>
            <a:r>
              <a:rPr lang="en-US" dirty="0" err="1"/>
              <a:t>Sklearn</a:t>
            </a:r>
            <a:r>
              <a:rPr lang="en-US" dirty="0"/>
              <a:t> </a:t>
            </a:r>
          </a:p>
          <a:p>
            <a:pPr lvl="1"/>
            <a:r>
              <a:rPr lang="en-US" dirty="0"/>
              <a:t>Matplotlib</a:t>
            </a:r>
          </a:p>
        </p:txBody>
      </p:sp>
      <p:sp>
        <p:nvSpPr>
          <p:cNvPr id="3" name="Footer Placeholder 2">
            <a:extLst>
              <a:ext uri="{FF2B5EF4-FFF2-40B4-BE49-F238E27FC236}">
                <a16:creationId xmlns:a16="http://schemas.microsoft.com/office/drawing/2014/main" id="{55AA7A43-24C5-5758-617B-21012EB9E2EF}"/>
              </a:ext>
            </a:extLst>
          </p:cNvPr>
          <p:cNvSpPr>
            <a:spLocks noGrp="1"/>
          </p:cNvSpPr>
          <p:nvPr>
            <p:ph type="ftr" sz="quarter" idx="11"/>
          </p:nvPr>
        </p:nvSpPr>
        <p:spPr/>
        <p:txBody>
          <a:bodyPr/>
          <a:lstStyle/>
          <a:p>
            <a:r>
              <a:rPr lang="en-US" dirty="0"/>
              <a:t>Neural Network Victim Model</a:t>
            </a:r>
          </a:p>
        </p:txBody>
      </p:sp>
    </p:spTree>
    <p:extLst>
      <p:ext uri="{BB962C8B-B14F-4D97-AF65-F5344CB8AC3E}">
        <p14:creationId xmlns:p14="http://schemas.microsoft.com/office/powerpoint/2010/main" val="1199459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C6FBD-5753-77CD-1F64-3499988D2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D4006-9491-36D4-1217-A582693C2F6F}"/>
              </a:ext>
            </a:extLst>
          </p:cNvPr>
          <p:cNvSpPr>
            <a:spLocks noGrp="1"/>
          </p:cNvSpPr>
          <p:nvPr>
            <p:ph type="title"/>
          </p:nvPr>
        </p:nvSpPr>
        <p:spPr/>
        <p:txBody>
          <a:bodyPr/>
          <a:lstStyle/>
          <a:p>
            <a:r>
              <a:rPr lang="en-US" dirty="0"/>
              <a:t>Cybersecurity Intrusion Detection Dataset</a:t>
            </a:r>
            <a:endParaRPr lang="en-US" b="1" dirty="0"/>
          </a:p>
        </p:txBody>
      </p:sp>
      <p:sp>
        <p:nvSpPr>
          <p:cNvPr id="3" name="Text Placeholder 2">
            <a:extLst>
              <a:ext uri="{FF2B5EF4-FFF2-40B4-BE49-F238E27FC236}">
                <a16:creationId xmlns:a16="http://schemas.microsoft.com/office/drawing/2014/main" id="{48ADEE03-97F3-4034-0DDF-5AF788A7B6EB}"/>
              </a:ext>
            </a:extLst>
          </p:cNvPr>
          <p:cNvSpPr>
            <a:spLocks noGrp="1"/>
          </p:cNvSpPr>
          <p:nvPr>
            <p:ph type="body" idx="1"/>
          </p:nvPr>
        </p:nvSpPr>
        <p:spPr/>
        <p:txBody>
          <a:bodyPr>
            <a:normAutofit/>
          </a:bodyPr>
          <a:lstStyle/>
          <a:p>
            <a:r>
              <a:rPr lang="en-US" sz="2800" dirty="0"/>
              <a:t>Target Variable</a:t>
            </a:r>
          </a:p>
        </p:txBody>
      </p:sp>
      <p:sp>
        <p:nvSpPr>
          <p:cNvPr id="4" name="Content Placeholder 3">
            <a:extLst>
              <a:ext uri="{FF2B5EF4-FFF2-40B4-BE49-F238E27FC236}">
                <a16:creationId xmlns:a16="http://schemas.microsoft.com/office/drawing/2014/main" id="{D38E748B-F195-2BF3-7F71-C810681A7243}"/>
              </a:ext>
            </a:extLst>
          </p:cNvPr>
          <p:cNvSpPr>
            <a:spLocks noGrp="1"/>
          </p:cNvSpPr>
          <p:nvPr>
            <p:ph sz="half" idx="2"/>
          </p:nvPr>
        </p:nvSpPr>
        <p:spPr>
          <a:xfrm>
            <a:off x="839788" y="2505075"/>
            <a:ext cx="7442063" cy="3684588"/>
          </a:xfrm>
        </p:spPr>
        <p:txBody>
          <a:bodyPr>
            <a:normAutofit/>
          </a:bodyPr>
          <a:lstStyle/>
          <a:p>
            <a:r>
              <a:rPr lang="en-US" dirty="0"/>
              <a:t>(</a:t>
            </a:r>
            <a:r>
              <a:rPr lang="en-US" dirty="0" err="1"/>
              <a:t>attack_detected</a:t>
            </a:r>
            <a:r>
              <a:rPr lang="en-US" dirty="0"/>
              <a:t>)</a:t>
            </a:r>
          </a:p>
          <a:p>
            <a:pPr lvl="1"/>
            <a:r>
              <a:rPr lang="en-US" dirty="0"/>
              <a:t>Binary classification: 1 means an attack was detected, 0 means normal activity</a:t>
            </a:r>
          </a:p>
        </p:txBody>
      </p:sp>
      <p:sp>
        <p:nvSpPr>
          <p:cNvPr id="5" name="Footer Placeholder 4">
            <a:extLst>
              <a:ext uri="{FF2B5EF4-FFF2-40B4-BE49-F238E27FC236}">
                <a16:creationId xmlns:a16="http://schemas.microsoft.com/office/drawing/2014/main" id="{64750305-9133-0636-3FAC-C3FA3B41EA97}"/>
              </a:ext>
            </a:extLst>
          </p:cNvPr>
          <p:cNvSpPr>
            <a:spLocks noGrp="1"/>
          </p:cNvSpPr>
          <p:nvPr>
            <p:ph type="ftr" sz="quarter" idx="11"/>
          </p:nvPr>
        </p:nvSpPr>
        <p:spPr/>
        <p:txBody>
          <a:bodyPr/>
          <a:lstStyle/>
          <a:p>
            <a:r>
              <a:rPr lang="en-US"/>
              <a:t>Neural Network Victim Model</a:t>
            </a:r>
            <a:endParaRPr lang="en-US" dirty="0"/>
          </a:p>
        </p:txBody>
      </p:sp>
    </p:spTree>
    <p:extLst>
      <p:ext uri="{BB962C8B-B14F-4D97-AF65-F5344CB8AC3E}">
        <p14:creationId xmlns:p14="http://schemas.microsoft.com/office/powerpoint/2010/main" val="3410821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126AD-88BA-A510-6BB8-EA2C9E4A5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27ACE-CD5F-0574-7478-89BD3894E691}"/>
              </a:ext>
            </a:extLst>
          </p:cNvPr>
          <p:cNvSpPr>
            <a:spLocks noGrp="1"/>
          </p:cNvSpPr>
          <p:nvPr>
            <p:ph type="title"/>
          </p:nvPr>
        </p:nvSpPr>
        <p:spPr/>
        <p:txBody>
          <a:bodyPr/>
          <a:lstStyle/>
          <a:p>
            <a:r>
              <a:rPr lang="en-US" dirty="0"/>
              <a:t>Cybersecurity Intrusion Detection Dataset</a:t>
            </a:r>
            <a:endParaRPr lang="en-US" b="1" dirty="0"/>
          </a:p>
        </p:txBody>
      </p:sp>
      <p:sp>
        <p:nvSpPr>
          <p:cNvPr id="3" name="Text Placeholder 2">
            <a:extLst>
              <a:ext uri="{FF2B5EF4-FFF2-40B4-BE49-F238E27FC236}">
                <a16:creationId xmlns:a16="http://schemas.microsoft.com/office/drawing/2014/main" id="{8AE5ECB5-7767-3D10-9D3D-C0022648B37E}"/>
              </a:ext>
            </a:extLst>
          </p:cNvPr>
          <p:cNvSpPr>
            <a:spLocks noGrp="1"/>
          </p:cNvSpPr>
          <p:nvPr>
            <p:ph type="body" idx="1"/>
          </p:nvPr>
        </p:nvSpPr>
        <p:spPr/>
        <p:txBody>
          <a:bodyPr>
            <a:normAutofit/>
          </a:bodyPr>
          <a:lstStyle/>
          <a:p>
            <a:r>
              <a:rPr lang="en-US" sz="2800" dirty="0"/>
              <a:t>Network Based Features</a:t>
            </a:r>
          </a:p>
        </p:txBody>
      </p:sp>
      <p:sp>
        <p:nvSpPr>
          <p:cNvPr id="4" name="Content Placeholder 3">
            <a:extLst>
              <a:ext uri="{FF2B5EF4-FFF2-40B4-BE49-F238E27FC236}">
                <a16:creationId xmlns:a16="http://schemas.microsoft.com/office/drawing/2014/main" id="{87005EA3-EA85-DEC9-BF60-387F787376F4}"/>
              </a:ext>
            </a:extLst>
          </p:cNvPr>
          <p:cNvSpPr>
            <a:spLocks noGrp="1"/>
          </p:cNvSpPr>
          <p:nvPr>
            <p:ph sz="half" idx="2"/>
          </p:nvPr>
        </p:nvSpPr>
        <p:spPr>
          <a:xfrm>
            <a:off x="839788" y="2505075"/>
            <a:ext cx="7442063" cy="3684588"/>
          </a:xfrm>
        </p:spPr>
        <p:txBody>
          <a:bodyPr>
            <a:normAutofit/>
          </a:bodyPr>
          <a:lstStyle/>
          <a:p>
            <a:r>
              <a:rPr lang="en-US" dirty="0" err="1"/>
              <a:t>network_packet_size</a:t>
            </a:r>
            <a:r>
              <a:rPr lang="en-US" dirty="0"/>
              <a:t> (Packet Size in Bytes)</a:t>
            </a:r>
          </a:p>
          <a:p>
            <a:r>
              <a:rPr lang="en-US" dirty="0" err="1"/>
              <a:t>protocol_type</a:t>
            </a:r>
            <a:r>
              <a:rPr lang="en-US" dirty="0"/>
              <a:t> (Communication Protocol)</a:t>
            </a:r>
          </a:p>
          <a:p>
            <a:r>
              <a:rPr lang="en-US" dirty="0" err="1"/>
              <a:t>encryption_used</a:t>
            </a:r>
            <a:r>
              <a:rPr lang="en-US" dirty="0"/>
              <a:t> (Encryption Protocol)</a:t>
            </a:r>
          </a:p>
          <a:p>
            <a:endParaRPr lang="en-US" dirty="0"/>
          </a:p>
        </p:txBody>
      </p:sp>
      <p:sp>
        <p:nvSpPr>
          <p:cNvPr id="5" name="Footer Placeholder 4">
            <a:extLst>
              <a:ext uri="{FF2B5EF4-FFF2-40B4-BE49-F238E27FC236}">
                <a16:creationId xmlns:a16="http://schemas.microsoft.com/office/drawing/2014/main" id="{1FA0AB54-08A1-6A77-C36C-878DB324D87F}"/>
              </a:ext>
            </a:extLst>
          </p:cNvPr>
          <p:cNvSpPr>
            <a:spLocks noGrp="1"/>
          </p:cNvSpPr>
          <p:nvPr>
            <p:ph type="ftr" sz="quarter" idx="11"/>
          </p:nvPr>
        </p:nvSpPr>
        <p:spPr/>
        <p:txBody>
          <a:bodyPr/>
          <a:lstStyle/>
          <a:p>
            <a:r>
              <a:rPr lang="en-US"/>
              <a:t>Neural Network Victim Model</a:t>
            </a:r>
            <a:endParaRPr lang="en-US" dirty="0"/>
          </a:p>
        </p:txBody>
      </p:sp>
    </p:spTree>
    <p:extLst>
      <p:ext uri="{BB962C8B-B14F-4D97-AF65-F5344CB8AC3E}">
        <p14:creationId xmlns:p14="http://schemas.microsoft.com/office/powerpoint/2010/main" val="414766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A4A65-6B55-8F0D-0DDB-21010ED98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07ECC-E443-E0C8-9CA6-D03FEE9349D2}"/>
              </a:ext>
            </a:extLst>
          </p:cNvPr>
          <p:cNvSpPr>
            <a:spLocks noGrp="1"/>
          </p:cNvSpPr>
          <p:nvPr>
            <p:ph type="title"/>
          </p:nvPr>
        </p:nvSpPr>
        <p:spPr/>
        <p:txBody>
          <a:bodyPr/>
          <a:lstStyle/>
          <a:p>
            <a:r>
              <a:rPr lang="en-US" dirty="0"/>
              <a:t>Cybersecurity Intrusion Detection Dataset</a:t>
            </a:r>
            <a:endParaRPr lang="en-US" b="1" dirty="0"/>
          </a:p>
        </p:txBody>
      </p:sp>
      <p:sp>
        <p:nvSpPr>
          <p:cNvPr id="3" name="Text Placeholder 2">
            <a:extLst>
              <a:ext uri="{FF2B5EF4-FFF2-40B4-BE49-F238E27FC236}">
                <a16:creationId xmlns:a16="http://schemas.microsoft.com/office/drawing/2014/main" id="{880263D5-B637-59E9-2D33-41456C5A484B}"/>
              </a:ext>
            </a:extLst>
          </p:cNvPr>
          <p:cNvSpPr>
            <a:spLocks noGrp="1"/>
          </p:cNvSpPr>
          <p:nvPr>
            <p:ph type="body" idx="1"/>
          </p:nvPr>
        </p:nvSpPr>
        <p:spPr/>
        <p:txBody>
          <a:bodyPr>
            <a:normAutofit/>
          </a:bodyPr>
          <a:lstStyle/>
          <a:p>
            <a:r>
              <a:rPr lang="en-US" sz="2800" dirty="0"/>
              <a:t>User Behavior Based Features</a:t>
            </a:r>
          </a:p>
        </p:txBody>
      </p:sp>
      <p:sp>
        <p:nvSpPr>
          <p:cNvPr id="4" name="Content Placeholder 3">
            <a:extLst>
              <a:ext uri="{FF2B5EF4-FFF2-40B4-BE49-F238E27FC236}">
                <a16:creationId xmlns:a16="http://schemas.microsoft.com/office/drawing/2014/main" id="{6517A20D-ABC0-CC58-2836-0C3DD6463147}"/>
              </a:ext>
            </a:extLst>
          </p:cNvPr>
          <p:cNvSpPr>
            <a:spLocks noGrp="1"/>
          </p:cNvSpPr>
          <p:nvPr>
            <p:ph sz="half" idx="2"/>
          </p:nvPr>
        </p:nvSpPr>
        <p:spPr>
          <a:xfrm>
            <a:off x="839788" y="2505075"/>
            <a:ext cx="8630783" cy="3684588"/>
          </a:xfrm>
        </p:spPr>
        <p:txBody>
          <a:bodyPr>
            <a:normAutofit/>
          </a:bodyPr>
          <a:lstStyle/>
          <a:p>
            <a:r>
              <a:rPr lang="en-US" dirty="0" err="1"/>
              <a:t>login_attempts</a:t>
            </a:r>
            <a:r>
              <a:rPr lang="en-US" dirty="0"/>
              <a:t> (Number of Logins)</a:t>
            </a:r>
          </a:p>
          <a:p>
            <a:r>
              <a:rPr lang="en-US" dirty="0" err="1"/>
              <a:t>session_duration</a:t>
            </a:r>
            <a:r>
              <a:rPr lang="en-US" dirty="0"/>
              <a:t> (Session Length in Seconds)</a:t>
            </a:r>
          </a:p>
          <a:p>
            <a:r>
              <a:rPr lang="en-US" dirty="0" err="1"/>
              <a:t>failed_logins</a:t>
            </a:r>
            <a:r>
              <a:rPr lang="en-US" dirty="0"/>
              <a:t> (Failed Login Attempts)</a:t>
            </a:r>
          </a:p>
          <a:p>
            <a:r>
              <a:rPr lang="en-US" dirty="0" err="1"/>
              <a:t>unusual_time_access</a:t>
            </a:r>
            <a:r>
              <a:rPr lang="en-US" dirty="0"/>
              <a:t> (Login Time Anomaly)</a:t>
            </a:r>
          </a:p>
          <a:p>
            <a:r>
              <a:rPr lang="en-US" dirty="0" err="1"/>
              <a:t>ip_reputation_score</a:t>
            </a:r>
            <a:r>
              <a:rPr lang="en-US" dirty="0"/>
              <a:t> (Trustworthiness of IP Address)</a:t>
            </a:r>
          </a:p>
          <a:p>
            <a:r>
              <a:rPr lang="en-US" dirty="0" err="1"/>
              <a:t>browser_type</a:t>
            </a:r>
            <a:r>
              <a:rPr lang="en-US" dirty="0"/>
              <a:t> (User’s Browser)</a:t>
            </a:r>
          </a:p>
          <a:p>
            <a:endParaRPr lang="en-US" dirty="0"/>
          </a:p>
        </p:txBody>
      </p:sp>
      <p:sp>
        <p:nvSpPr>
          <p:cNvPr id="5" name="Footer Placeholder 4">
            <a:extLst>
              <a:ext uri="{FF2B5EF4-FFF2-40B4-BE49-F238E27FC236}">
                <a16:creationId xmlns:a16="http://schemas.microsoft.com/office/drawing/2014/main" id="{925FFFD2-2261-D579-2E28-3B1120C49300}"/>
              </a:ext>
            </a:extLst>
          </p:cNvPr>
          <p:cNvSpPr>
            <a:spLocks noGrp="1"/>
          </p:cNvSpPr>
          <p:nvPr>
            <p:ph type="ftr" sz="quarter" idx="11"/>
          </p:nvPr>
        </p:nvSpPr>
        <p:spPr/>
        <p:txBody>
          <a:bodyPr/>
          <a:lstStyle/>
          <a:p>
            <a:r>
              <a:rPr lang="en-US"/>
              <a:t>Neural Network Victim Model</a:t>
            </a:r>
            <a:endParaRPr lang="en-US" dirty="0"/>
          </a:p>
        </p:txBody>
      </p:sp>
    </p:spTree>
    <p:extLst>
      <p:ext uri="{BB962C8B-B14F-4D97-AF65-F5344CB8AC3E}">
        <p14:creationId xmlns:p14="http://schemas.microsoft.com/office/powerpoint/2010/main" val="2269250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84F5A-FF7C-A42F-FFB3-90FDF59135F2}"/>
              </a:ext>
            </a:extLst>
          </p:cNvPr>
          <p:cNvSpPr>
            <a:spLocks noGrp="1"/>
          </p:cNvSpPr>
          <p:nvPr>
            <p:ph type="title"/>
          </p:nvPr>
        </p:nvSpPr>
        <p:spPr/>
        <p:txBody>
          <a:bodyPr/>
          <a:lstStyle/>
          <a:p>
            <a:r>
              <a:rPr lang="en-US" dirty="0"/>
              <a:t>Methods to Load and Process Train and Test Dataset with Feature Engineering</a:t>
            </a:r>
          </a:p>
        </p:txBody>
      </p:sp>
      <p:sp>
        <p:nvSpPr>
          <p:cNvPr id="3" name="Text Placeholder 2">
            <a:extLst>
              <a:ext uri="{FF2B5EF4-FFF2-40B4-BE49-F238E27FC236}">
                <a16:creationId xmlns:a16="http://schemas.microsoft.com/office/drawing/2014/main" id="{2DB803CD-27E9-55C9-8816-E1FA44C0C040}"/>
              </a:ext>
            </a:extLst>
          </p:cNvPr>
          <p:cNvSpPr>
            <a:spLocks noGrp="1"/>
          </p:cNvSpPr>
          <p:nvPr>
            <p:ph type="body" idx="1"/>
          </p:nvPr>
        </p:nvSpPr>
        <p:spPr/>
        <p:txBody>
          <a:bodyPr/>
          <a:lstStyle/>
          <a:p>
            <a:r>
              <a:rPr lang="en-US" dirty="0"/>
              <a:t>Train Dataset</a:t>
            </a:r>
          </a:p>
        </p:txBody>
      </p:sp>
      <p:sp>
        <p:nvSpPr>
          <p:cNvPr id="4" name="Content Placeholder 3">
            <a:extLst>
              <a:ext uri="{FF2B5EF4-FFF2-40B4-BE49-F238E27FC236}">
                <a16:creationId xmlns:a16="http://schemas.microsoft.com/office/drawing/2014/main" id="{CE2A947F-0BC5-895D-8DFD-6D9259E5D258}"/>
              </a:ext>
            </a:extLst>
          </p:cNvPr>
          <p:cNvSpPr>
            <a:spLocks noGrp="1"/>
          </p:cNvSpPr>
          <p:nvPr>
            <p:ph sz="half" idx="2"/>
          </p:nvPr>
        </p:nvSpPr>
        <p:spPr/>
        <p:txBody>
          <a:bodyPr>
            <a:normAutofit fontScale="85000" lnSpcReduction="20000"/>
          </a:bodyPr>
          <a:lstStyle/>
          <a:p>
            <a:pPr marL="285750" indent="-285750">
              <a:buFont typeface="Arial" panose="020B0604020202020204" pitchFamily="34" charset="0"/>
              <a:buChar char="•"/>
            </a:pPr>
            <a:r>
              <a:rPr lang="en-US" sz="2800" dirty="0"/>
              <a:t>The processed dataset is split into training and validation, allocating 80% to train and 20% to validate.</a:t>
            </a:r>
          </a:p>
          <a:p>
            <a:pPr marL="285750" indent="-285750">
              <a:buFont typeface="Arial" panose="020B0604020202020204" pitchFamily="34" charset="0"/>
              <a:buChar char="•"/>
            </a:pPr>
            <a:r>
              <a:rPr lang="en-US" sz="2800" dirty="0"/>
              <a:t>The model is trained on and validated on during the 10 epochs.</a:t>
            </a:r>
          </a:p>
          <a:p>
            <a:pPr marL="285750" indent="-285750">
              <a:buFont typeface="Arial" panose="020B0604020202020204" pitchFamily="34" charset="0"/>
              <a:buChar char="•"/>
            </a:pPr>
            <a:r>
              <a:rPr lang="en-US" sz="2800" dirty="0"/>
              <a:t>This ensures the validation set is separate from the training data used to fit the model.</a:t>
            </a:r>
          </a:p>
          <a:p>
            <a:pPr marL="285750" indent="-285750">
              <a:buFont typeface="Arial" panose="020B0604020202020204" pitchFamily="34" charset="0"/>
              <a:buChar char="•"/>
            </a:pPr>
            <a:r>
              <a:rPr lang="en-US" dirty="0"/>
              <a:t>Data normalization is applied to both Train and Test Datasets by scaling inputs and preventing any feature from dominating</a:t>
            </a:r>
            <a:endParaRPr lang="en-US" sz="2800" dirty="0"/>
          </a:p>
        </p:txBody>
      </p:sp>
      <p:sp>
        <p:nvSpPr>
          <p:cNvPr id="5" name="Text Placeholder 4">
            <a:extLst>
              <a:ext uri="{FF2B5EF4-FFF2-40B4-BE49-F238E27FC236}">
                <a16:creationId xmlns:a16="http://schemas.microsoft.com/office/drawing/2014/main" id="{F011F308-A2FC-84E2-8C0D-B10AB4B57EEA}"/>
              </a:ext>
            </a:extLst>
          </p:cNvPr>
          <p:cNvSpPr>
            <a:spLocks noGrp="1"/>
          </p:cNvSpPr>
          <p:nvPr>
            <p:ph type="body" sz="quarter" idx="3"/>
          </p:nvPr>
        </p:nvSpPr>
        <p:spPr/>
        <p:txBody>
          <a:bodyPr/>
          <a:lstStyle/>
          <a:p>
            <a:r>
              <a:rPr lang="en-US" dirty="0"/>
              <a:t>Test Dataset</a:t>
            </a:r>
          </a:p>
        </p:txBody>
      </p:sp>
      <p:sp>
        <p:nvSpPr>
          <p:cNvPr id="6" name="Content Placeholder 5">
            <a:extLst>
              <a:ext uri="{FF2B5EF4-FFF2-40B4-BE49-F238E27FC236}">
                <a16:creationId xmlns:a16="http://schemas.microsoft.com/office/drawing/2014/main" id="{CE7A368E-0A97-F72E-1D9F-057B9174961B}"/>
              </a:ext>
            </a:extLst>
          </p:cNvPr>
          <p:cNvSpPr>
            <a:spLocks noGrp="1"/>
          </p:cNvSpPr>
          <p:nvPr>
            <p:ph sz="quarter" idx="4"/>
          </p:nvPr>
        </p:nvSpPr>
        <p:spPr/>
        <p:txBody>
          <a:bodyPr>
            <a:normAutofit fontScale="85000" lnSpcReduction="20000"/>
          </a:bodyPr>
          <a:lstStyle/>
          <a:p>
            <a:pPr marL="285750" indent="-285750">
              <a:buFont typeface="Arial" panose="020B0604020202020204" pitchFamily="34" charset="0"/>
              <a:buChar char="•"/>
            </a:pPr>
            <a:r>
              <a:rPr lang="en-US" sz="2800" dirty="0"/>
              <a:t>The model also creates a new test set that is distinct from the initial code used for validation. </a:t>
            </a:r>
          </a:p>
          <a:p>
            <a:pPr marL="285750" indent="-285750">
              <a:buFont typeface="Arial" panose="020B0604020202020204" pitchFamily="34" charset="0"/>
              <a:buChar char="•"/>
            </a:pPr>
            <a:r>
              <a:rPr lang="en-US" sz="2800" dirty="0"/>
              <a:t>The Feature Engineering is applied to both Datasets and focus</a:t>
            </a:r>
            <a:r>
              <a:rPr lang="en-US" dirty="0"/>
              <a:t>es</a:t>
            </a:r>
            <a:r>
              <a:rPr lang="en-US" sz="2800" dirty="0"/>
              <a:t> on </a:t>
            </a:r>
            <a:r>
              <a:rPr lang="en-US" sz="2800" dirty="0" err="1"/>
              <a:t>login_attempt_rate</a:t>
            </a:r>
            <a:r>
              <a:rPr lang="en-US" sz="2800" dirty="0"/>
              <a:t>, </a:t>
            </a:r>
            <a:r>
              <a:rPr lang="en-US" sz="2800" dirty="0" err="1"/>
              <a:t>login_attempts</a:t>
            </a:r>
            <a:r>
              <a:rPr lang="en-US" sz="2800" dirty="0"/>
              <a:t>, session_duration, </a:t>
            </a:r>
            <a:r>
              <a:rPr lang="en-US" sz="2800" dirty="0" err="1"/>
              <a:t>failed_login_ratio</a:t>
            </a:r>
            <a:r>
              <a:rPr lang="en-US" sz="2800" dirty="0"/>
              <a:t>, and  </a:t>
            </a:r>
            <a:r>
              <a:rPr lang="en-US" sz="2800" dirty="0" err="1"/>
              <a:t>failed_logins</a:t>
            </a:r>
            <a:endParaRPr lang="en-US" dirty="0"/>
          </a:p>
        </p:txBody>
      </p:sp>
      <p:sp>
        <p:nvSpPr>
          <p:cNvPr id="7" name="Footer Placeholder 6">
            <a:extLst>
              <a:ext uri="{FF2B5EF4-FFF2-40B4-BE49-F238E27FC236}">
                <a16:creationId xmlns:a16="http://schemas.microsoft.com/office/drawing/2014/main" id="{2A3A67FE-44A1-EB36-70F8-AECBE2BD05CD}"/>
              </a:ext>
            </a:extLst>
          </p:cNvPr>
          <p:cNvSpPr>
            <a:spLocks noGrp="1"/>
          </p:cNvSpPr>
          <p:nvPr>
            <p:ph type="ftr" sz="quarter" idx="11"/>
          </p:nvPr>
        </p:nvSpPr>
        <p:spPr/>
        <p:txBody>
          <a:bodyPr/>
          <a:lstStyle/>
          <a:p>
            <a:r>
              <a:rPr lang="en-US"/>
              <a:t>Neural Network Victim Model</a:t>
            </a:r>
            <a:endParaRPr lang="en-US" dirty="0"/>
          </a:p>
        </p:txBody>
      </p:sp>
    </p:spTree>
    <p:extLst>
      <p:ext uri="{BB962C8B-B14F-4D97-AF65-F5344CB8AC3E}">
        <p14:creationId xmlns:p14="http://schemas.microsoft.com/office/powerpoint/2010/main" val="3188146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E7552-934C-FE88-C8DD-5C152C9B5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3C8C6-0F91-9B4D-EE89-F07AD721DC03}"/>
              </a:ext>
            </a:extLst>
          </p:cNvPr>
          <p:cNvSpPr>
            <a:spLocks noGrp="1"/>
          </p:cNvSpPr>
          <p:nvPr>
            <p:ph type="title"/>
          </p:nvPr>
        </p:nvSpPr>
        <p:spPr/>
        <p:txBody>
          <a:bodyPr/>
          <a:lstStyle/>
          <a:p>
            <a:r>
              <a:rPr lang="en-US" dirty="0"/>
              <a:t>Define the Intrusion Detection Model</a:t>
            </a:r>
          </a:p>
        </p:txBody>
      </p:sp>
      <p:sp>
        <p:nvSpPr>
          <p:cNvPr id="4" name="Text Placeholder 3">
            <a:extLst>
              <a:ext uri="{FF2B5EF4-FFF2-40B4-BE49-F238E27FC236}">
                <a16:creationId xmlns:a16="http://schemas.microsoft.com/office/drawing/2014/main" id="{24973CA2-9C37-8FDC-FB96-D1282159FFEB}"/>
              </a:ext>
            </a:extLst>
          </p:cNvPr>
          <p:cNvSpPr>
            <a:spLocks noGrp="1"/>
          </p:cNvSpPr>
          <p:nvPr>
            <p:ph type="body" sz="half" idx="2"/>
          </p:nvPr>
        </p:nvSpPr>
        <p:spPr/>
        <p:txBody>
          <a:bodyPr>
            <a:normAutofit/>
          </a:bodyPr>
          <a:lstStyle/>
          <a:p>
            <a:endParaRPr lang="en-US" sz="1800" dirty="0"/>
          </a:p>
          <a:p>
            <a:pPr marL="285750" indent="-285750">
              <a:buFont typeface="Arial" panose="020B0604020202020204" pitchFamily="34" charset="0"/>
              <a:buChar char="•"/>
            </a:pPr>
            <a:r>
              <a:rPr lang="en-US" sz="1800" dirty="0"/>
              <a:t>Feedforward neural network using </a:t>
            </a:r>
            <a:r>
              <a:rPr lang="en-US" sz="1800" dirty="0" err="1"/>
              <a:t>PyTorch</a:t>
            </a:r>
            <a:r>
              <a:rPr lang="en-US" sz="1800" dirty="0"/>
              <a:t> for binary classification.</a:t>
            </a:r>
          </a:p>
          <a:p>
            <a:pPr marL="285750" indent="-285750">
              <a:buFont typeface="Arial" panose="020B0604020202020204" pitchFamily="34" charset="0"/>
              <a:buChar char="•"/>
            </a:pPr>
            <a:r>
              <a:rPr lang="en-US" sz="1800" dirty="0"/>
              <a:t>Model layers are designed to map an input feature vector to a two-dimensional output representing class probabilities. </a:t>
            </a:r>
          </a:p>
          <a:p>
            <a:pPr marL="285750" indent="-285750">
              <a:buFont typeface="Arial" panose="020B0604020202020204" pitchFamily="34" charset="0"/>
              <a:buChar char="•"/>
            </a:pPr>
            <a:r>
              <a:rPr lang="en-US" sz="1800" dirty="0"/>
              <a:t>Trained using cross-entropy loss and the Adam optimizer</a:t>
            </a:r>
          </a:p>
          <a:p>
            <a:pPr marL="285750" indent="-285750">
              <a:buFont typeface="Arial" panose="020B0604020202020204" pitchFamily="34" charset="0"/>
              <a:buChar char="•"/>
            </a:pPr>
            <a:r>
              <a:rPr lang="en-US" sz="1800" dirty="0"/>
              <a:t>The basic multi-layer perceptron learns to classify data into one of two categories based on the input features. </a:t>
            </a:r>
          </a:p>
        </p:txBody>
      </p:sp>
      <p:pic>
        <p:nvPicPr>
          <p:cNvPr id="7" name="Picture 6">
            <a:extLst>
              <a:ext uri="{FF2B5EF4-FFF2-40B4-BE49-F238E27FC236}">
                <a16:creationId xmlns:a16="http://schemas.microsoft.com/office/drawing/2014/main" id="{DC358587-B334-97BD-3CAC-B945CA95BD06}"/>
              </a:ext>
            </a:extLst>
          </p:cNvPr>
          <p:cNvPicPr>
            <a:picLocks noChangeAspect="1"/>
          </p:cNvPicPr>
          <p:nvPr/>
        </p:nvPicPr>
        <p:blipFill>
          <a:blip r:embed="rId3"/>
          <a:stretch>
            <a:fillRect/>
          </a:stretch>
        </p:blipFill>
        <p:spPr>
          <a:xfrm>
            <a:off x="5068390" y="324032"/>
            <a:ext cx="6458394" cy="5544956"/>
          </a:xfrm>
          <a:prstGeom prst="rect">
            <a:avLst/>
          </a:prstGeom>
        </p:spPr>
      </p:pic>
      <p:sp>
        <p:nvSpPr>
          <p:cNvPr id="3" name="Footer Placeholder 2">
            <a:extLst>
              <a:ext uri="{FF2B5EF4-FFF2-40B4-BE49-F238E27FC236}">
                <a16:creationId xmlns:a16="http://schemas.microsoft.com/office/drawing/2014/main" id="{E5405F44-A6DE-8543-985F-AD9972684D19}"/>
              </a:ext>
            </a:extLst>
          </p:cNvPr>
          <p:cNvSpPr>
            <a:spLocks noGrp="1"/>
          </p:cNvSpPr>
          <p:nvPr>
            <p:ph type="ftr" sz="quarter" idx="11"/>
          </p:nvPr>
        </p:nvSpPr>
        <p:spPr/>
        <p:txBody>
          <a:bodyPr/>
          <a:lstStyle/>
          <a:p>
            <a:r>
              <a:rPr lang="en-US"/>
              <a:t>Neural Network Victim Model</a:t>
            </a:r>
            <a:endParaRPr lang="en-US" dirty="0"/>
          </a:p>
        </p:txBody>
      </p:sp>
    </p:spTree>
    <p:extLst>
      <p:ext uri="{BB962C8B-B14F-4D97-AF65-F5344CB8AC3E}">
        <p14:creationId xmlns:p14="http://schemas.microsoft.com/office/powerpoint/2010/main" val="825568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3508B-B979-A9B0-9ECC-F5BADDE1A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31699-E08E-D12D-49A9-A943693889A0}"/>
              </a:ext>
            </a:extLst>
          </p:cNvPr>
          <p:cNvSpPr>
            <a:spLocks noGrp="1"/>
          </p:cNvSpPr>
          <p:nvPr>
            <p:ph type="title"/>
          </p:nvPr>
        </p:nvSpPr>
        <p:spPr/>
        <p:txBody>
          <a:bodyPr/>
          <a:lstStyle/>
          <a:p>
            <a:r>
              <a:rPr lang="en-US" dirty="0"/>
              <a:t>Train the Intrusion Detection Model</a:t>
            </a:r>
          </a:p>
        </p:txBody>
      </p:sp>
      <p:sp>
        <p:nvSpPr>
          <p:cNvPr id="4" name="Text Placeholder 3">
            <a:extLst>
              <a:ext uri="{FF2B5EF4-FFF2-40B4-BE49-F238E27FC236}">
                <a16:creationId xmlns:a16="http://schemas.microsoft.com/office/drawing/2014/main" id="{CB7196CB-5F08-2625-E9CF-606264E36BB0}"/>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800" dirty="0"/>
              <a:t>Training with Adam optimizer and cross-entropy loss over 10 epochs </a:t>
            </a:r>
          </a:p>
          <a:p>
            <a:pPr marL="285750" indent="-285750">
              <a:buFont typeface="Arial" panose="020B0604020202020204" pitchFamily="34" charset="0"/>
              <a:buChar char="•"/>
            </a:pPr>
            <a:r>
              <a:rPr lang="en-US" sz="1800" dirty="0"/>
              <a:t>Evaluate its performance on a validation set after each epoch. </a:t>
            </a:r>
          </a:p>
          <a:p>
            <a:pPr marL="285750" indent="-285750">
              <a:buFont typeface="Arial" panose="020B0604020202020204" pitchFamily="34" charset="0"/>
              <a:buChar char="•"/>
            </a:pPr>
            <a:r>
              <a:rPr lang="en-US" sz="1800" dirty="0"/>
              <a:t>The training loop iterates through batches of the training data, calculates the loss, performs backpropagation, and updates the model's weights.</a:t>
            </a:r>
          </a:p>
          <a:p>
            <a:pPr marL="285750" indent="-285750">
              <a:buFont typeface="Arial" panose="020B0604020202020204" pitchFamily="34" charset="0"/>
              <a:buChar char="•"/>
            </a:pPr>
            <a:r>
              <a:rPr lang="en-US" sz="1800" dirty="0"/>
              <a:t>The evaluation step computes the accuracy on the validation set to monitor the model's learning progress</a:t>
            </a:r>
          </a:p>
        </p:txBody>
      </p:sp>
      <p:pic>
        <p:nvPicPr>
          <p:cNvPr id="9" name="Picture 8">
            <a:extLst>
              <a:ext uri="{FF2B5EF4-FFF2-40B4-BE49-F238E27FC236}">
                <a16:creationId xmlns:a16="http://schemas.microsoft.com/office/drawing/2014/main" id="{E2963F25-9E02-6949-3B5B-C00335F29B9C}"/>
              </a:ext>
            </a:extLst>
          </p:cNvPr>
          <p:cNvPicPr>
            <a:picLocks noChangeAspect="1"/>
          </p:cNvPicPr>
          <p:nvPr/>
        </p:nvPicPr>
        <p:blipFill>
          <a:blip r:embed="rId3"/>
          <a:srcRect r="35245"/>
          <a:stretch/>
        </p:blipFill>
        <p:spPr>
          <a:xfrm>
            <a:off x="4939443" y="632957"/>
            <a:ext cx="4961067" cy="5592086"/>
          </a:xfrm>
          <a:prstGeom prst="rect">
            <a:avLst/>
          </a:prstGeom>
        </p:spPr>
      </p:pic>
      <p:pic>
        <p:nvPicPr>
          <p:cNvPr id="11" name="Picture 10">
            <a:extLst>
              <a:ext uri="{FF2B5EF4-FFF2-40B4-BE49-F238E27FC236}">
                <a16:creationId xmlns:a16="http://schemas.microsoft.com/office/drawing/2014/main" id="{005FD703-45F4-E878-6CDA-ABDCBDE49F95}"/>
              </a:ext>
            </a:extLst>
          </p:cNvPr>
          <p:cNvPicPr>
            <a:picLocks noChangeAspect="1"/>
          </p:cNvPicPr>
          <p:nvPr/>
        </p:nvPicPr>
        <p:blipFill>
          <a:blip r:embed="rId4"/>
          <a:stretch>
            <a:fillRect/>
          </a:stretch>
        </p:blipFill>
        <p:spPr>
          <a:xfrm>
            <a:off x="10067928" y="2195860"/>
            <a:ext cx="1888950" cy="3072217"/>
          </a:xfrm>
          <a:prstGeom prst="rect">
            <a:avLst/>
          </a:prstGeom>
        </p:spPr>
      </p:pic>
      <p:sp>
        <p:nvSpPr>
          <p:cNvPr id="3" name="Footer Placeholder 2">
            <a:extLst>
              <a:ext uri="{FF2B5EF4-FFF2-40B4-BE49-F238E27FC236}">
                <a16:creationId xmlns:a16="http://schemas.microsoft.com/office/drawing/2014/main" id="{3A5408AF-DBBE-4131-00B2-C0015286C590}"/>
              </a:ext>
            </a:extLst>
          </p:cNvPr>
          <p:cNvSpPr>
            <a:spLocks noGrp="1"/>
          </p:cNvSpPr>
          <p:nvPr>
            <p:ph type="ftr" sz="quarter" idx="11"/>
          </p:nvPr>
        </p:nvSpPr>
        <p:spPr/>
        <p:txBody>
          <a:bodyPr/>
          <a:lstStyle/>
          <a:p>
            <a:r>
              <a:rPr lang="en-US"/>
              <a:t>Neural Network Victim Model</a:t>
            </a:r>
            <a:endParaRPr lang="en-US" dirty="0"/>
          </a:p>
        </p:txBody>
      </p:sp>
    </p:spTree>
    <p:extLst>
      <p:ext uri="{BB962C8B-B14F-4D97-AF65-F5344CB8AC3E}">
        <p14:creationId xmlns:p14="http://schemas.microsoft.com/office/powerpoint/2010/main" val="777789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BE6F3-BE62-C8BA-AFCD-F5DE3EEE47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4F30C-3957-95DE-6AE3-3B1F250A01E5}"/>
              </a:ext>
            </a:extLst>
          </p:cNvPr>
          <p:cNvSpPr>
            <a:spLocks noGrp="1"/>
          </p:cNvSpPr>
          <p:nvPr>
            <p:ph type="title"/>
          </p:nvPr>
        </p:nvSpPr>
        <p:spPr/>
        <p:txBody>
          <a:bodyPr/>
          <a:lstStyle/>
          <a:p>
            <a:r>
              <a:rPr lang="en-US" dirty="0"/>
              <a:t>Evaluate the Intrusion Detection Model on Test Data</a:t>
            </a:r>
          </a:p>
        </p:txBody>
      </p:sp>
      <p:sp>
        <p:nvSpPr>
          <p:cNvPr id="4" name="Text Placeholder 3">
            <a:extLst>
              <a:ext uri="{FF2B5EF4-FFF2-40B4-BE49-F238E27FC236}">
                <a16:creationId xmlns:a16="http://schemas.microsoft.com/office/drawing/2014/main" id="{93B325D0-B298-AAD0-353D-82E2C6196E70}"/>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600" dirty="0">
                <a:effectLst/>
              </a:rPr>
              <a:t>The evaluation is performed by setting the model to evaluation mode and loading the test data into a single batch using </a:t>
            </a:r>
            <a:r>
              <a:rPr lang="en-US" sz="1600" dirty="0" err="1">
                <a:effectLst/>
              </a:rPr>
              <a:t>DataLoader</a:t>
            </a:r>
            <a:r>
              <a:rPr lang="en-US" sz="1600" dirty="0">
                <a:effectLst/>
              </a:rPr>
              <a:t>. </a:t>
            </a:r>
          </a:p>
          <a:p>
            <a:pPr marL="285750" indent="-285750">
              <a:buFont typeface="Arial" panose="020B0604020202020204" pitchFamily="34" charset="0"/>
              <a:buChar char="•"/>
            </a:pPr>
            <a:r>
              <a:rPr lang="en-US" sz="1600" dirty="0">
                <a:effectLst/>
              </a:rPr>
              <a:t>With </a:t>
            </a:r>
            <a:r>
              <a:rPr lang="en-US" sz="1600" dirty="0" err="1">
                <a:effectLst/>
              </a:rPr>
              <a:t>PyTorch</a:t>
            </a:r>
            <a:r>
              <a:rPr lang="en-US" sz="1600" dirty="0">
                <a:effectLst/>
              </a:rPr>
              <a:t>, the model generates predictions from </a:t>
            </a:r>
            <a:r>
              <a:rPr lang="en-US" sz="1600" dirty="0" err="1">
                <a:effectLst/>
              </a:rPr>
              <a:t>X_batch</a:t>
            </a:r>
            <a:r>
              <a:rPr lang="en-US" sz="1600" dirty="0">
                <a:effectLst/>
              </a:rPr>
              <a:t>, and </a:t>
            </a:r>
            <a:r>
              <a:rPr lang="en-US" sz="1600" dirty="0" err="1">
                <a:effectLst/>
              </a:rPr>
              <a:t>torch.max</a:t>
            </a:r>
            <a:r>
              <a:rPr lang="en-US" sz="1600" dirty="0">
                <a:effectLst/>
              </a:rPr>
              <a:t> determines the predicted class labels. </a:t>
            </a:r>
          </a:p>
          <a:p>
            <a:pPr marL="285750" indent="-285750">
              <a:buFont typeface="Arial" panose="020B0604020202020204" pitchFamily="34" charset="0"/>
              <a:buChar char="•"/>
            </a:pPr>
            <a:r>
              <a:rPr lang="en-US" sz="1600" dirty="0">
                <a:effectLst/>
              </a:rPr>
              <a:t>The accuracy is calculated by comparing these predictions to the true , computing the proportion of correct predictions.</a:t>
            </a:r>
          </a:p>
          <a:p>
            <a:pPr marL="285750" indent="-285750">
              <a:buFont typeface="Arial" panose="020B0604020202020204" pitchFamily="34" charset="0"/>
              <a:buChar char="•"/>
            </a:pPr>
            <a:r>
              <a:rPr lang="en-US" dirty="0"/>
              <a:t>Accuracy = 0.8905</a:t>
            </a:r>
            <a:endParaRPr lang="en-US" dirty="0">
              <a:effectLst/>
            </a:endParaRPr>
          </a:p>
          <a:p>
            <a:endParaRPr lang="en-US" sz="2000" dirty="0">
              <a:effectLst/>
            </a:endParaRPr>
          </a:p>
        </p:txBody>
      </p:sp>
      <p:pic>
        <p:nvPicPr>
          <p:cNvPr id="6" name="Picture 5">
            <a:extLst>
              <a:ext uri="{FF2B5EF4-FFF2-40B4-BE49-F238E27FC236}">
                <a16:creationId xmlns:a16="http://schemas.microsoft.com/office/drawing/2014/main" id="{A6386667-FEFD-C274-D055-B5F99C0648FC}"/>
              </a:ext>
            </a:extLst>
          </p:cNvPr>
          <p:cNvPicPr>
            <a:picLocks noChangeAspect="1"/>
          </p:cNvPicPr>
          <p:nvPr/>
        </p:nvPicPr>
        <p:blipFill>
          <a:blip r:embed="rId3"/>
          <a:stretch>
            <a:fillRect/>
          </a:stretch>
        </p:blipFill>
        <p:spPr>
          <a:xfrm>
            <a:off x="5765441" y="653142"/>
            <a:ext cx="5698899" cy="4931898"/>
          </a:xfrm>
          <a:prstGeom prst="rect">
            <a:avLst/>
          </a:prstGeom>
        </p:spPr>
      </p:pic>
      <p:sp>
        <p:nvSpPr>
          <p:cNvPr id="3" name="Footer Placeholder 2">
            <a:extLst>
              <a:ext uri="{FF2B5EF4-FFF2-40B4-BE49-F238E27FC236}">
                <a16:creationId xmlns:a16="http://schemas.microsoft.com/office/drawing/2014/main" id="{B446744B-F5BC-540F-79C9-C279C9C87A73}"/>
              </a:ext>
            </a:extLst>
          </p:cNvPr>
          <p:cNvSpPr>
            <a:spLocks noGrp="1"/>
          </p:cNvSpPr>
          <p:nvPr>
            <p:ph type="ftr" sz="quarter" idx="11"/>
          </p:nvPr>
        </p:nvSpPr>
        <p:spPr/>
        <p:txBody>
          <a:bodyPr/>
          <a:lstStyle/>
          <a:p>
            <a:r>
              <a:rPr lang="en-US"/>
              <a:t>Neural Network Victim Model</a:t>
            </a:r>
            <a:endParaRPr lang="en-US" dirty="0"/>
          </a:p>
        </p:txBody>
      </p:sp>
    </p:spTree>
    <p:extLst>
      <p:ext uri="{BB962C8B-B14F-4D97-AF65-F5344CB8AC3E}">
        <p14:creationId xmlns:p14="http://schemas.microsoft.com/office/powerpoint/2010/main" val="3909455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D5A3B-6C4C-B289-8CD1-87167634D5AC}"/>
              </a:ext>
            </a:extLst>
          </p:cNvPr>
          <p:cNvSpPr>
            <a:spLocks noGrp="1"/>
          </p:cNvSpPr>
          <p:nvPr>
            <p:ph type="title"/>
          </p:nvPr>
        </p:nvSpPr>
        <p:spPr>
          <a:xfrm>
            <a:off x="838200" y="365125"/>
            <a:ext cx="10774680" cy="1325563"/>
          </a:xfrm>
        </p:spPr>
        <p:txBody>
          <a:bodyPr/>
          <a:lstStyle/>
          <a:p>
            <a:r>
              <a:rPr lang="en-US" dirty="0"/>
              <a:t>Error Analysis -  Neural Network Victim Model</a:t>
            </a:r>
          </a:p>
        </p:txBody>
      </p:sp>
      <p:pic>
        <p:nvPicPr>
          <p:cNvPr id="5" name="Picture 4">
            <a:extLst>
              <a:ext uri="{FF2B5EF4-FFF2-40B4-BE49-F238E27FC236}">
                <a16:creationId xmlns:a16="http://schemas.microsoft.com/office/drawing/2014/main" id="{79ECDE89-A0F0-BF0B-138D-469E5B7D2E91}"/>
              </a:ext>
            </a:extLst>
          </p:cNvPr>
          <p:cNvPicPr>
            <a:picLocks noChangeAspect="1"/>
          </p:cNvPicPr>
          <p:nvPr/>
        </p:nvPicPr>
        <p:blipFill>
          <a:blip r:embed="rId3"/>
          <a:stretch>
            <a:fillRect/>
          </a:stretch>
        </p:blipFill>
        <p:spPr>
          <a:xfrm>
            <a:off x="3261667" y="1835894"/>
            <a:ext cx="5668665" cy="4323153"/>
          </a:xfrm>
          <a:prstGeom prst="rect">
            <a:avLst/>
          </a:prstGeom>
        </p:spPr>
      </p:pic>
      <p:sp>
        <p:nvSpPr>
          <p:cNvPr id="3" name="Footer Placeholder 2">
            <a:extLst>
              <a:ext uri="{FF2B5EF4-FFF2-40B4-BE49-F238E27FC236}">
                <a16:creationId xmlns:a16="http://schemas.microsoft.com/office/drawing/2014/main" id="{17129838-1717-207B-7E3F-D06514C9C4B5}"/>
              </a:ext>
            </a:extLst>
          </p:cNvPr>
          <p:cNvSpPr>
            <a:spLocks noGrp="1"/>
          </p:cNvSpPr>
          <p:nvPr>
            <p:ph type="ftr" sz="quarter" idx="11"/>
          </p:nvPr>
        </p:nvSpPr>
        <p:spPr/>
        <p:txBody>
          <a:bodyPr/>
          <a:lstStyle/>
          <a:p>
            <a:r>
              <a:rPr lang="en-US"/>
              <a:t>Neural Network Victim Model</a:t>
            </a:r>
            <a:endParaRPr lang="en-US" dirty="0"/>
          </a:p>
        </p:txBody>
      </p:sp>
    </p:spTree>
    <p:extLst>
      <p:ext uri="{BB962C8B-B14F-4D97-AF65-F5344CB8AC3E}">
        <p14:creationId xmlns:p14="http://schemas.microsoft.com/office/powerpoint/2010/main" val="1209552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201E2-5C27-AD6C-5A8A-74DF66AF5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1E2730-96CC-9EF0-9EC7-E21DAEFE099D}"/>
              </a:ext>
            </a:extLst>
          </p:cNvPr>
          <p:cNvSpPr>
            <a:spLocks noGrp="1"/>
          </p:cNvSpPr>
          <p:nvPr>
            <p:ph type="title"/>
          </p:nvPr>
        </p:nvSpPr>
        <p:spPr/>
        <p:txBody>
          <a:bodyPr/>
          <a:lstStyle/>
          <a:p>
            <a:r>
              <a:rPr lang="en-US" dirty="0"/>
              <a:t>FGSM Attack Model</a:t>
            </a:r>
          </a:p>
        </p:txBody>
      </p:sp>
      <p:sp>
        <p:nvSpPr>
          <p:cNvPr id="3" name="Text Placeholder 2">
            <a:extLst>
              <a:ext uri="{FF2B5EF4-FFF2-40B4-BE49-F238E27FC236}">
                <a16:creationId xmlns:a16="http://schemas.microsoft.com/office/drawing/2014/main" id="{1B428EE7-94BD-4F35-E1EC-17C6E053C4DD}"/>
              </a:ext>
            </a:extLst>
          </p:cNvPr>
          <p:cNvSpPr>
            <a:spLocks noGrp="1"/>
          </p:cNvSpPr>
          <p:nvPr>
            <p:ph type="body" idx="1"/>
          </p:nvPr>
        </p:nvSpPr>
        <p:spPr/>
        <p:txBody>
          <a:bodyPr/>
          <a:lstStyle/>
          <a:p>
            <a:r>
              <a:rPr lang="en-US" dirty="0"/>
              <a:t>Fast Gradient Sign Method (FGSM) is an adversarial attack technique used in machine learning to generate adversarial examples by introducing small, controlled perturbations to input data, causing misclassification by models like neural network.</a:t>
            </a:r>
          </a:p>
        </p:txBody>
      </p:sp>
      <p:sp>
        <p:nvSpPr>
          <p:cNvPr id="4" name="Footer Placeholder 3">
            <a:extLst>
              <a:ext uri="{FF2B5EF4-FFF2-40B4-BE49-F238E27FC236}">
                <a16:creationId xmlns:a16="http://schemas.microsoft.com/office/drawing/2014/main" id="{83E4FED3-8E3F-7D45-7ADE-4C7DFDF13256}"/>
              </a:ext>
            </a:extLst>
          </p:cNvPr>
          <p:cNvSpPr>
            <a:spLocks noGrp="1"/>
          </p:cNvSpPr>
          <p:nvPr>
            <p:ph type="ftr" sz="quarter" idx="11"/>
          </p:nvPr>
        </p:nvSpPr>
        <p:spPr/>
        <p:txBody>
          <a:bodyPr/>
          <a:lstStyle/>
          <a:p>
            <a:r>
              <a:rPr lang="en-US" dirty="0"/>
              <a:t>FGSM Attack Model</a:t>
            </a:r>
          </a:p>
        </p:txBody>
      </p:sp>
    </p:spTree>
    <p:extLst>
      <p:ext uri="{BB962C8B-B14F-4D97-AF65-F5344CB8AC3E}">
        <p14:creationId xmlns:p14="http://schemas.microsoft.com/office/powerpoint/2010/main" val="1685841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019DD-1711-1922-3304-D89429FD4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69590-B9ED-0B3B-A191-2A5A30342762}"/>
              </a:ext>
            </a:extLst>
          </p:cNvPr>
          <p:cNvSpPr>
            <a:spLocks noGrp="1"/>
          </p:cNvSpPr>
          <p:nvPr>
            <p:ph type="title"/>
          </p:nvPr>
        </p:nvSpPr>
        <p:spPr/>
        <p:txBody>
          <a:bodyPr/>
          <a:lstStyle/>
          <a:p>
            <a:r>
              <a:rPr lang="en-US" dirty="0"/>
              <a:t>Define the FGSM Attack Model</a:t>
            </a:r>
          </a:p>
        </p:txBody>
      </p:sp>
      <p:sp>
        <p:nvSpPr>
          <p:cNvPr id="4" name="Text Placeholder 3">
            <a:extLst>
              <a:ext uri="{FF2B5EF4-FFF2-40B4-BE49-F238E27FC236}">
                <a16:creationId xmlns:a16="http://schemas.microsoft.com/office/drawing/2014/main" id="{81A572FB-45DE-7A05-E86C-CAFE336103D3}"/>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600" dirty="0">
                <a:effectLst/>
              </a:rPr>
              <a:t>Input data x is set up so that program can track how changes will affect the model</a:t>
            </a:r>
          </a:p>
          <a:p>
            <a:pPr marL="285750" indent="-285750">
              <a:buFont typeface="Arial" panose="020B0604020202020204" pitchFamily="34" charset="0"/>
              <a:buChar char="•"/>
            </a:pPr>
            <a:r>
              <a:rPr lang="en-US" dirty="0"/>
              <a:t>Loss function makes predictions on x and compares this to y</a:t>
            </a:r>
          </a:p>
          <a:p>
            <a:pPr marL="285750" indent="-285750">
              <a:buFont typeface="Arial" panose="020B0604020202020204" pitchFamily="34" charset="0"/>
              <a:buChar char="•"/>
            </a:pPr>
            <a:r>
              <a:rPr lang="en-US" dirty="0">
                <a:effectLst/>
              </a:rPr>
              <a:t>Back</a:t>
            </a:r>
            <a:r>
              <a:rPr lang="en-US" dirty="0"/>
              <a:t>propagation allows the program to figure out which direction it needs change x in order to increase the loss for the attack.</a:t>
            </a:r>
          </a:p>
          <a:p>
            <a:pPr marL="285750" indent="-285750">
              <a:buFont typeface="Arial" panose="020B0604020202020204" pitchFamily="34" charset="0"/>
              <a:buChar char="•"/>
            </a:pPr>
            <a:r>
              <a:rPr lang="en-US" dirty="0">
                <a:effectLst/>
              </a:rPr>
              <a:t>Perturbations are created by multiplying that sign of the loss gradient and multiplying it by small </a:t>
            </a:r>
            <a:r>
              <a:rPr lang="en-US" dirty="0"/>
              <a:t>numbers called </a:t>
            </a:r>
            <a:r>
              <a:rPr lang="en-US" dirty="0">
                <a:effectLst/>
              </a:rPr>
              <a:t>epsilon to subtly alter input to the victim model </a:t>
            </a:r>
          </a:p>
          <a:p>
            <a:endParaRPr lang="en-US" sz="2000" dirty="0">
              <a:effectLst/>
            </a:endParaRPr>
          </a:p>
        </p:txBody>
      </p:sp>
      <p:pic>
        <p:nvPicPr>
          <p:cNvPr id="5" name="Picture 4">
            <a:extLst>
              <a:ext uri="{FF2B5EF4-FFF2-40B4-BE49-F238E27FC236}">
                <a16:creationId xmlns:a16="http://schemas.microsoft.com/office/drawing/2014/main" id="{A99EC77C-D22C-5379-E972-782CE70DD74F}"/>
              </a:ext>
            </a:extLst>
          </p:cNvPr>
          <p:cNvPicPr>
            <a:picLocks noChangeAspect="1"/>
          </p:cNvPicPr>
          <p:nvPr/>
        </p:nvPicPr>
        <p:blipFill>
          <a:blip r:embed="rId3"/>
          <a:stretch>
            <a:fillRect/>
          </a:stretch>
        </p:blipFill>
        <p:spPr>
          <a:xfrm>
            <a:off x="7084943" y="2640338"/>
            <a:ext cx="2943636" cy="1838582"/>
          </a:xfrm>
          <a:prstGeom prst="rect">
            <a:avLst/>
          </a:prstGeom>
        </p:spPr>
      </p:pic>
      <p:sp>
        <p:nvSpPr>
          <p:cNvPr id="6" name="Footer Placeholder 3">
            <a:extLst>
              <a:ext uri="{FF2B5EF4-FFF2-40B4-BE49-F238E27FC236}">
                <a16:creationId xmlns:a16="http://schemas.microsoft.com/office/drawing/2014/main" id="{5E2F5949-968E-D4A6-1173-4F8B4A7470BE}"/>
              </a:ext>
            </a:extLst>
          </p:cNvPr>
          <p:cNvSpPr>
            <a:spLocks noGrp="1"/>
          </p:cNvSpPr>
          <p:nvPr>
            <p:ph type="ftr" sz="quarter" idx="11"/>
          </p:nvPr>
        </p:nvSpPr>
        <p:spPr>
          <a:xfrm>
            <a:off x="4038600" y="6356350"/>
            <a:ext cx="4114800" cy="365125"/>
          </a:xfrm>
        </p:spPr>
        <p:txBody>
          <a:bodyPr/>
          <a:lstStyle/>
          <a:p>
            <a:r>
              <a:rPr lang="en-US" dirty="0"/>
              <a:t>FGSM Attack Model</a:t>
            </a:r>
          </a:p>
        </p:txBody>
      </p:sp>
    </p:spTree>
    <p:extLst>
      <p:ext uri="{BB962C8B-B14F-4D97-AF65-F5344CB8AC3E}">
        <p14:creationId xmlns:p14="http://schemas.microsoft.com/office/powerpoint/2010/main" val="723076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AC839-B501-DF90-E64D-57ED84552A6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82761E35-9339-8127-9F99-E9793148FDB2}"/>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600" dirty="0">
                <a:effectLst/>
              </a:rPr>
              <a:t>Evaluation tries multiple values of epsilon from 0.1 to 0.5</a:t>
            </a:r>
          </a:p>
          <a:p>
            <a:pPr marL="285750" indent="-285750">
              <a:buFont typeface="Arial" panose="020B0604020202020204" pitchFamily="34" charset="0"/>
              <a:buChar char="•"/>
            </a:pPr>
            <a:r>
              <a:rPr lang="en-US" dirty="0"/>
              <a:t>The program predicts labels as a baseline and then uses </a:t>
            </a:r>
            <a:r>
              <a:rPr lang="en-US" dirty="0" err="1"/>
              <a:t>fgsm_attack</a:t>
            </a:r>
            <a:r>
              <a:rPr lang="en-US" dirty="0"/>
              <a:t> to create small adversarial examples to confuse the model</a:t>
            </a:r>
          </a:p>
          <a:p>
            <a:pPr marL="285750" indent="-285750">
              <a:buFont typeface="Arial" panose="020B0604020202020204" pitchFamily="34" charset="0"/>
              <a:buChar char="•"/>
            </a:pPr>
            <a:r>
              <a:rPr lang="en-US" dirty="0">
                <a:effectLst/>
              </a:rPr>
              <a:t>T</a:t>
            </a:r>
            <a:r>
              <a:rPr lang="en-US" dirty="0"/>
              <a:t>he damage is measured by checking the accuracy and the attack success rate</a:t>
            </a:r>
            <a:endParaRPr lang="en-US" sz="2000" dirty="0"/>
          </a:p>
          <a:p>
            <a:pPr marL="285750" indent="-285750">
              <a:buFont typeface="Arial" panose="020B0604020202020204" pitchFamily="34" charset="0"/>
              <a:buChar char="•"/>
            </a:pPr>
            <a:r>
              <a:rPr lang="en-US" dirty="0"/>
              <a:t>The results show that increasing epsilon also increases the Attack Success Rate and False Negative Rate while Accuracy Decreases</a:t>
            </a:r>
          </a:p>
        </p:txBody>
      </p:sp>
      <p:sp>
        <p:nvSpPr>
          <p:cNvPr id="6" name="Title 5">
            <a:extLst>
              <a:ext uri="{FF2B5EF4-FFF2-40B4-BE49-F238E27FC236}">
                <a16:creationId xmlns:a16="http://schemas.microsoft.com/office/drawing/2014/main" id="{72F32401-8E75-1541-6AAD-06D0FA77B768}"/>
              </a:ext>
            </a:extLst>
          </p:cNvPr>
          <p:cNvSpPr>
            <a:spLocks noGrp="1"/>
          </p:cNvSpPr>
          <p:nvPr>
            <p:ph type="title"/>
          </p:nvPr>
        </p:nvSpPr>
        <p:spPr/>
        <p:txBody>
          <a:bodyPr/>
          <a:lstStyle/>
          <a:p>
            <a:r>
              <a:rPr lang="en-US" dirty="0"/>
              <a:t>Evaluate the FGSM Attack Model</a:t>
            </a:r>
          </a:p>
        </p:txBody>
      </p:sp>
      <p:pic>
        <p:nvPicPr>
          <p:cNvPr id="11" name="Picture 10">
            <a:extLst>
              <a:ext uri="{FF2B5EF4-FFF2-40B4-BE49-F238E27FC236}">
                <a16:creationId xmlns:a16="http://schemas.microsoft.com/office/drawing/2014/main" id="{AB79F7E2-8DB6-A0C1-510B-00A46C666D56}"/>
              </a:ext>
            </a:extLst>
          </p:cNvPr>
          <p:cNvPicPr>
            <a:picLocks noChangeAspect="1"/>
          </p:cNvPicPr>
          <p:nvPr/>
        </p:nvPicPr>
        <p:blipFill>
          <a:blip r:embed="rId3"/>
          <a:stretch>
            <a:fillRect/>
          </a:stretch>
        </p:blipFill>
        <p:spPr>
          <a:xfrm>
            <a:off x="6252754" y="4288719"/>
            <a:ext cx="3534268" cy="2048161"/>
          </a:xfrm>
          <a:prstGeom prst="rect">
            <a:avLst/>
          </a:prstGeom>
        </p:spPr>
      </p:pic>
      <p:pic>
        <p:nvPicPr>
          <p:cNvPr id="13" name="Picture 12">
            <a:extLst>
              <a:ext uri="{FF2B5EF4-FFF2-40B4-BE49-F238E27FC236}">
                <a16:creationId xmlns:a16="http://schemas.microsoft.com/office/drawing/2014/main" id="{286BBE2B-C55D-A35B-4C11-020A0ED58A3E}"/>
              </a:ext>
            </a:extLst>
          </p:cNvPr>
          <p:cNvPicPr>
            <a:picLocks noChangeAspect="1"/>
          </p:cNvPicPr>
          <p:nvPr/>
        </p:nvPicPr>
        <p:blipFill>
          <a:blip r:embed="rId4"/>
          <a:stretch>
            <a:fillRect/>
          </a:stretch>
        </p:blipFill>
        <p:spPr>
          <a:xfrm>
            <a:off x="5404097" y="457200"/>
            <a:ext cx="6247971" cy="3509026"/>
          </a:xfrm>
          <a:prstGeom prst="rect">
            <a:avLst/>
          </a:prstGeom>
        </p:spPr>
      </p:pic>
      <p:sp>
        <p:nvSpPr>
          <p:cNvPr id="3" name="Footer Placeholder 3">
            <a:extLst>
              <a:ext uri="{FF2B5EF4-FFF2-40B4-BE49-F238E27FC236}">
                <a16:creationId xmlns:a16="http://schemas.microsoft.com/office/drawing/2014/main" id="{E55646E4-91D9-C7BF-3FCA-570569645E68}"/>
              </a:ext>
            </a:extLst>
          </p:cNvPr>
          <p:cNvSpPr>
            <a:spLocks noGrp="1"/>
          </p:cNvSpPr>
          <p:nvPr>
            <p:ph type="ftr" sz="quarter" idx="11"/>
          </p:nvPr>
        </p:nvSpPr>
        <p:spPr>
          <a:xfrm>
            <a:off x="4038600" y="6356350"/>
            <a:ext cx="4114800" cy="365125"/>
          </a:xfrm>
        </p:spPr>
        <p:txBody>
          <a:bodyPr/>
          <a:lstStyle/>
          <a:p>
            <a:r>
              <a:rPr lang="en-US" dirty="0"/>
              <a:t>FGSM Attack Model</a:t>
            </a:r>
          </a:p>
        </p:txBody>
      </p:sp>
    </p:spTree>
    <p:extLst>
      <p:ext uri="{BB962C8B-B14F-4D97-AF65-F5344CB8AC3E}">
        <p14:creationId xmlns:p14="http://schemas.microsoft.com/office/powerpoint/2010/main" val="240489486"/>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362D5-604D-56FB-3666-08645A674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3FDA5-4BAF-B69D-4BEA-7348D2E7A969}"/>
              </a:ext>
            </a:extLst>
          </p:cNvPr>
          <p:cNvSpPr>
            <a:spLocks noGrp="1"/>
          </p:cNvSpPr>
          <p:nvPr>
            <p:ph type="title"/>
          </p:nvPr>
        </p:nvSpPr>
        <p:spPr/>
        <p:txBody>
          <a:bodyPr/>
          <a:lstStyle/>
          <a:p>
            <a:r>
              <a:rPr lang="en-US" dirty="0"/>
              <a:t>Error Analysis – FGSM Attack Model</a:t>
            </a:r>
          </a:p>
        </p:txBody>
      </p:sp>
      <p:pic>
        <p:nvPicPr>
          <p:cNvPr id="4" name="Picture 3">
            <a:extLst>
              <a:ext uri="{FF2B5EF4-FFF2-40B4-BE49-F238E27FC236}">
                <a16:creationId xmlns:a16="http://schemas.microsoft.com/office/drawing/2014/main" id="{D5B1CE7D-B920-D0A5-EAA2-16FA4D513FA5}"/>
              </a:ext>
            </a:extLst>
          </p:cNvPr>
          <p:cNvPicPr>
            <a:picLocks noChangeAspect="1"/>
          </p:cNvPicPr>
          <p:nvPr/>
        </p:nvPicPr>
        <p:blipFill>
          <a:blip r:embed="rId3"/>
          <a:stretch>
            <a:fillRect/>
          </a:stretch>
        </p:blipFill>
        <p:spPr>
          <a:xfrm>
            <a:off x="716280" y="1690688"/>
            <a:ext cx="5379720" cy="3894918"/>
          </a:xfrm>
          <a:prstGeom prst="rect">
            <a:avLst/>
          </a:prstGeom>
        </p:spPr>
      </p:pic>
      <p:pic>
        <p:nvPicPr>
          <p:cNvPr id="7" name="Picture 6">
            <a:extLst>
              <a:ext uri="{FF2B5EF4-FFF2-40B4-BE49-F238E27FC236}">
                <a16:creationId xmlns:a16="http://schemas.microsoft.com/office/drawing/2014/main" id="{A271D0BC-EB7C-7C7F-C880-BC45A69EE484}"/>
              </a:ext>
            </a:extLst>
          </p:cNvPr>
          <p:cNvPicPr>
            <a:picLocks noChangeAspect="1"/>
          </p:cNvPicPr>
          <p:nvPr/>
        </p:nvPicPr>
        <p:blipFill>
          <a:blip r:embed="rId4"/>
          <a:stretch>
            <a:fillRect/>
          </a:stretch>
        </p:blipFill>
        <p:spPr>
          <a:xfrm>
            <a:off x="6375397" y="1690688"/>
            <a:ext cx="5661973" cy="4124059"/>
          </a:xfrm>
          <a:prstGeom prst="rect">
            <a:avLst/>
          </a:prstGeom>
        </p:spPr>
      </p:pic>
      <p:sp>
        <p:nvSpPr>
          <p:cNvPr id="5" name="Footer Placeholder 3">
            <a:extLst>
              <a:ext uri="{FF2B5EF4-FFF2-40B4-BE49-F238E27FC236}">
                <a16:creationId xmlns:a16="http://schemas.microsoft.com/office/drawing/2014/main" id="{3CAF53DE-284A-5327-B205-D6599A08899D}"/>
              </a:ext>
            </a:extLst>
          </p:cNvPr>
          <p:cNvSpPr>
            <a:spLocks noGrp="1"/>
          </p:cNvSpPr>
          <p:nvPr>
            <p:ph type="ftr" sz="quarter" idx="11"/>
          </p:nvPr>
        </p:nvSpPr>
        <p:spPr>
          <a:xfrm>
            <a:off x="4038600" y="6356350"/>
            <a:ext cx="4114800" cy="365125"/>
          </a:xfrm>
        </p:spPr>
        <p:txBody>
          <a:bodyPr/>
          <a:lstStyle/>
          <a:p>
            <a:r>
              <a:rPr lang="en-US" dirty="0"/>
              <a:t>FGSM Attack Model</a:t>
            </a:r>
          </a:p>
        </p:txBody>
      </p:sp>
    </p:spTree>
    <p:extLst>
      <p:ext uri="{BB962C8B-B14F-4D97-AF65-F5344CB8AC3E}">
        <p14:creationId xmlns:p14="http://schemas.microsoft.com/office/powerpoint/2010/main" val="2718156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4D73F-4FF6-BFD7-85C6-576AF48F9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068F9-5B81-13C2-A5C8-73C84AEBD7C7}"/>
              </a:ext>
            </a:extLst>
          </p:cNvPr>
          <p:cNvSpPr>
            <a:spLocks noGrp="1"/>
          </p:cNvSpPr>
          <p:nvPr>
            <p:ph type="title"/>
          </p:nvPr>
        </p:nvSpPr>
        <p:spPr/>
        <p:txBody>
          <a:bodyPr/>
          <a:lstStyle/>
          <a:p>
            <a:r>
              <a:rPr lang="en-US" dirty="0"/>
              <a:t>Error Analysis – FGSM Attack Model</a:t>
            </a:r>
          </a:p>
        </p:txBody>
      </p:sp>
      <p:pic>
        <p:nvPicPr>
          <p:cNvPr id="5" name="Picture 4">
            <a:extLst>
              <a:ext uri="{FF2B5EF4-FFF2-40B4-BE49-F238E27FC236}">
                <a16:creationId xmlns:a16="http://schemas.microsoft.com/office/drawing/2014/main" id="{83582BB7-F729-65A9-CA25-BDA19FCF183C}"/>
              </a:ext>
            </a:extLst>
          </p:cNvPr>
          <p:cNvPicPr>
            <a:picLocks noChangeAspect="1"/>
          </p:cNvPicPr>
          <p:nvPr/>
        </p:nvPicPr>
        <p:blipFill>
          <a:blip r:embed="rId3"/>
          <a:stretch>
            <a:fillRect/>
          </a:stretch>
        </p:blipFill>
        <p:spPr>
          <a:xfrm>
            <a:off x="2613279" y="1392324"/>
            <a:ext cx="6609554" cy="4901567"/>
          </a:xfrm>
          <a:prstGeom prst="rect">
            <a:avLst/>
          </a:prstGeom>
        </p:spPr>
      </p:pic>
      <p:sp>
        <p:nvSpPr>
          <p:cNvPr id="4" name="Footer Placeholder 3">
            <a:extLst>
              <a:ext uri="{FF2B5EF4-FFF2-40B4-BE49-F238E27FC236}">
                <a16:creationId xmlns:a16="http://schemas.microsoft.com/office/drawing/2014/main" id="{4E959F63-B003-71B2-ECF2-D33D87323E7B}"/>
              </a:ext>
            </a:extLst>
          </p:cNvPr>
          <p:cNvSpPr>
            <a:spLocks noGrp="1"/>
          </p:cNvSpPr>
          <p:nvPr>
            <p:ph type="ftr" sz="quarter" idx="11"/>
          </p:nvPr>
        </p:nvSpPr>
        <p:spPr>
          <a:xfrm>
            <a:off x="4038600" y="6356350"/>
            <a:ext cx="4114800" cy="365125"/>
          </a:xfrm>
        </p:spPr>
        <p:txBody>
          <a:bodyPr/>
          <a:lstStyle/>
          <a:p>
            <a:r>
              <a:rPr lang="en-US" dirty="0"/>
              <a:t>FGSM Attack Model</a:t>
            </a:r>
          </a:p>
        </p:txBody>
      </p:sp>
    </p:spTree>
    <p:extLst>
      <p:ext uri="{BB962C8B-B14F-4D97-AF65-F5344CB8AC3E}">
        <p14:creationId xmlns:p14="http://schemas.microsoft.com/office/powerpoint/2010/main" val="3416157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0F213-48C1-C778-7A8D-FFD7CA1E88B2}"/>
              </a:ext>
            </a:extLst>
          </p:cNvPr>
          <p:cNvSpPr>
            <a:spLocks noGrp="1"/>
          </p:cNvSpPr>
          <p:nvPr>
            <p:ph type="title"/>
          </p:nvPr>
        </p:nvSpPr>
        <p:spPr/>
        <p:txBody>
          <a:bodyPr/>
          <a:lstStyle/>
          <a:p>
            <a:r>
              <a:rPr lang="en-US" dirty="0"/>
              <a:t>Mitigations Techniques</a:t>
            </a:r>
          </a:p>
        </p:txBody>
      </p:sp>
      <p:sp>
        <p:nvSpPr>
          <p:cNvPr id="3" name="Content Placeholder 2">
            <a:extLst>
              <a:ext uri="{FF2B5EF4-FFF2-40B4-BE49-F238E27FC236}">
                <a16:creationId xmlns:a16="http://schemas.microsoft.com/office/drawing/2014/main" id="{8FB6F7E3-C423-7F6A-FCA1-141B224E36E9}"/>
              </a:ext>
            </a:extLst>
          </p:cNvPr>
          <p:cNvSpPr>
            <a:spLocks noGrp="1"/>
          </p:cNvSpPr>
          <p:nvPr>
            <p:ph sz="half" idx="1"/>
          </p:nvPr>
        </p:nvSpPr>
        <p:spPr>
          <a:xfrm>
            <a:off x="838200" y="1654176"/>
            <a:ext cx="9794967" cy="4522924"/>
          </a:xfrm>
        </p:spPr>
        <p:txBody>
          <a:bodyPr>
            <a:normAutofit fontScale="70000" lnSpcReduction="20000"/>
          </a:bodyPr>
          <a:lstStyle/>
          <a:p>
            <a:pPr marL="0" indent="0">
              <a:buNone/>
            </a:pPr>
            <a:r>
              <a:rPr lang="en-US" sz="4000" dirty="0"/>
              <a:t>These are the most effective techniques to mitigate FGSM Attack</a:t>
            </a:r>
            <a:endParaRPr lang="en-US" sz="3500" dirty="0"/>
          </a:p>
          <a:p>
            <a:r>
              <a:rPr lang="en-US" sz="3500" dirty="0"/>
              <a:t>Adversarial Training (Most Effective)</a:t>
            </a:r>
          </a:p>
          <a:p>
            <a:pPr lvl="1"/>
            <a:r>
              <a:rPr lang="en-US" sz="3000" dirty="0"/>
              <a:t>Why: Trains the model on both clean and FGSM-generated examples, directly improving robustness.</a:t>
            </a:r>
          </a:p>
          <a:p>
            <a:pPr lvl="1"/>
            <a:r>
              <a:rPr lang="en-US" sz="3000" dirty="0"/>
              <a:t>Pros: Proven to significantly increase resistance to FGSM and related attacks.</a:t>
            </a:r>
          </a:p>
          <a:p>
            <a:pPr marL="457200" lvl="1" indent="0">
              <a:buNone/>
            </a:pPr>
            <a:endParaRPr lang="en-US" sz="3500" dirty="0"/>
          </a:p>
          <a:p>
            <a:r>
              <a:rPr lang="en-US" sz="3500" dirty="0"/>
              <a:t>Input Preprocessing (Feature Squeezing, JPEG Compression)</a:t>
            </a:r>
          </a:p>
          <a:p>
            <a:pPr lvl="1"/>
            <a:r>
              <a:rPr lang="en-US" sz="3000" dirty="0"/>
              <a:t>Why: Disrupts small perturbations before the model processes them.</a:t>
            </a:r>
          </a:p>
          <a:p>
            <a:pPr lvl="1"/>
            <a:r>
              <a:rPr lang="en-US" sz="3000" dirty="0"/>
              <a:t>Pros: Easy to implement; works as a plug-in step.</a:t>
            </a:r>
          </a:p>
          <a:p>
            <a:pPr marL="457200" lvl="1" indent="0">
              <a:buNone/>
            </a:pPr>
            <a:endParaRPr lang="en-US" sz="3500" dirty="0"/>
          </a:p>
          <a:p>
            <a:r>
              <a:rPr lang="en-US" sz="3500" dirty="0"/>
              <a:t>Robust Architectures with Regularization</a:t>
            </a:r>
          </a:p>
          <a:p>
            <a:pPr lvl="1"/>
            <a:r>
              <a:rPr lang="en-US" sz="3000" dirty="0"/>
              <a:t>Why: Some models and training regimes are naturally more robust (dropout, weight decay, or robust loss functions).</a:t>
            </a:r>
          </a:p>
          <a:p>
            <a:pPr lvl="1"/>
            <a:r>
              <a:rPr lang="en-US" sz="3000" dirty="0"/>
              <a:t>Pros: Improves general robustness and can reduce overfitting.</a:t>
            </a:r>
          </a:p>
        </p:txBody>
      </p:sp>
      <p:sp>
        <p:nvSpPr>
          <p:cNvPr id="5" name="Footer Placeholder 3">
            <a:extLst>
              <a:ext uri="{FF2B5EF4-FFF2-40B4-BE49-F238E27FC236}">
                <a16:creationId xmlns:a16="http://schemas.microsoft.com/office/drawing/2014/main" id="{4EE67466-1F7A-CF10-B2C7-E5F20A513B7E}"/>
              </a:ext>
            </a:extLst>
          </p:cNvPr>
          <p:cNvSpPr>
            <a:spLocks noGrp="1"/>
          </p:cNvSpPr>
          <p:nvPr>
            <p:ph type="ftr" sz="quarter" idx="11"/>
          </p:nvPr>
        </p:nvSpPr>
        <p:spPr>
          <a:xfrm>
            <a:off x="4038600" y="6356350"/>
            <a:ext cx="4114800" cy="365125"/>
          </a:xfrm>
        </p:spPr>
        <p:txBody>
          <a:bodyPr/>
          <a:lstStyle/>
          <a:p>
            <a:r>
              <a:rPr lang="en-US" dirty="0"/>
              <a:t>FGSM Attack Model</a:t>
            </a:r>
          </a:p>
        </p:txBody>
      </p:sp>
    </p:spTree>
    <p:extLst>
      <p:ext uri="{BB962C8B-B14F-4D97-AF65-F5344CB8AC3E}">
        <p14:creationId xmlns:p14="http://schemas.microsoft.com/office/powerpoint/2010/main" val="2852987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348B9-8C60-D733-0F9D-2CACDF499C5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97CAFD6-4CB5-5E6E-5B62-D458E758B52B}"/>
              </a:ext>
            </a:extLst>
          </p:cNvPr>
          <p:cNvSpPr>
            <a:spLocks noGrp="1"/>
          </p:cNvSpPr>
          <p:nvPr>
            <p:ph idx="1"/>
          </p:nvPr>
        </p:nvSpPr>
        <p:spPr/>
        <p:txBody>
          <a:bodyPr>
            <a:normAutofit fontScale="47500" lnSpcReduction="20000"/>
          </a:bodyPr>
          <a:lstStyle/>
          <a:p>
            <a:pPr>
              <a:buNone/>
            </a:pPr>
            <a:r>
              <a:rPr lang="en-US" dirty="0"/>
              <a:t>[1] A. Ng, "Deep Learning Specialization," </a:t>
            </a:r>
            <a:r>
              <a:rPr lang="en-US" i="1" dirty="0"/>
              <a:t>Coursera</a:t>
            </a:r>
            <a:r>
              <a:rPr lang="en-US" dirty="0"/>
              <a:t>, 2017. [Online]. Available: </a:t>
            </a:r>
            <a:r>
              <a:rPr lang="en-US" dirty="0">
                <a:hlinkClick r:id="rId3"/>
              </a:rPr>
              <a:t>https://www.coursera.org/specializations/deep-learning</a:t>
            </a:r>
            <a:endParaRPr lang="en-US" dirty="0"/>
          </a:p>
          <a:p>
            <a:pPr>
              <a:buNone/>
            </a:pPr>
            <a:r>
              <a:rPr lang="en-US" dirty="0"/>
              <a:t>[2] </a:t>
            </a:r>
            <a:r>
              <a:rPr lang="en-US" dirty="0" err="1"/>
              <a:t>PyTorch</a:t>
            </a:r>
            <a:r>
              <a:rPr lang="en-US" dirty="0"/>
              <a:t>, "Learning </a:t>
            </a:r>
            <a:r>
              <a:rPr lang="en-US" dirty="0" err="1"/>
              <a:t>PyTorch</a:t>
            </a:r>
            <a:r>
              <a:rPr lang="en-US" dirty="0"/>
              <a:t> with Examples," </a:t>
            </a:r>
            <a:r>
              <a:rPr lang="en-US" i="1" dirty="0" err="1"/>
              <a:t>PyTorch</a:t>
            </a:r>
            <a:r>
              <a:rPr lang="en-US" i="1" dirty="0"/>
              <a:t> Tutorials</a:t>
            </a:r>
            <a:r>
              <a:rPr lang="en-US" dirty="0"/>
              <a:t>, 2023. [Online]. Available: https://pytorch.org/tutorials/beginner/blitz/neural_networks_tutorial.html</a:t>
            </a:r>
          </a:p>
          <a:p>
            <a:pPr marL="0" indent="0">
              <a:buNone/>
            </a:pPr>
            <a:r>
              <a:rPr lang="en-US" dirty="0"/>
              <a:t>[3] TensorFlow, "</a:t>
            </a:r>
            <a:r>
              <a:rPr lang="en-US" dirty="0" err="1"/>
              <a:t>Keras</a:t>
            </a:r>
            <a:r>
              <a:rPr lang="en-US" dirty="0"/>
              <a:t> Sequential API," </a:t>
            </a:r>
            <a:r>
              <a:rPr lang="en-US" i="1" dirty="0"/>
              <a:t>TensorFlow Guide</a:t>
            </a:r>
            <a:r>
              <a:rPr lang="en-US" dirty="0"/>
              <a:t>, 2023. [Online]. Available: https://www.tensorflow.org/guide/keras/sequential_model</a:t>
            </a:r>
          </a:p>
          <a:p>
            <a:pPr>
              <a:buNone/>
            </a:pPr>
            <a:r>
              <a:rPr lang="en-US" dirty="0"/>
              <a:t>[4] I. J. Goodfellow, J. </a:t>
            </a:r>
            <a:r>
              <a:rPr lang="en-US" dirty="0" err="1"/>
              <a:t>Shlens</a:t>
            </a:r>
            <a:r>
              <a:rPr lang="en-US" dirty="0"/>
              <a:t>, and C. Szegedy, "Explaining and Harnessing Adversarial Examples," </a:t>
            </a:r>
            <a:r>
              <a:rPr lang="en-US" i="1" dirty="0" err="1"/>
              <a:t>arXiv</a:t>
            </a:r>
            <a:r>
              <a:rPr lang="en-US" i="1" dirty="0"/>
              <a:t> preprint arXiv:1412.6572</a:t>
            </a:r>
            <a:r>
              <a:rPr lang="en-US" dirty="0"/>
              <a:t>, 2014. [Online]. Available: </a:t>
            </a:r>
            <a:r>
              <a:rPr lang="en-US" dirty="0">
                <a:hlinkClick r:id="rId4"/>
              </a:rPr>
              <a:t>https://arxiv.org/abs/1412.6572</a:t>
            </a:r>
            <a:endParaRPr lang="en-US" dirty="0"/>
          </a:p>
          <a:p>
            <a:pPr>
              <a:buNone/>
            </a:pPr>
            <a:r>
              <a:rPr lang="en-US" dirty="0"/>
              <a:t>[5] </a:t>
            </a:r>
            <a:r>
              <a:rPr lang="en-US" dirty="0" err="1"/>
              <a:t>PyTorch</a:t>
            </a:r>
            <a:r>
              <a:rPr lang="en-US" dirty="0"/>
              <a:t>, "Adversarial Example Generation," </a:t>
            </a:r>
            <a:r>
              <a:rPr lang="en-US" i="1" dirty="0" err="1"/>
              <a:t>PyTorch</a:t>
            </a:r>
            <a:r>
              <a:rPr lang="en-US" i="1" dirty="0"/>
              <a:t> Tutorials</a:t>
            </a:r>
            <a:r>
              <a:rPr lang="en-US" dirty="0"/>
              <a:t>, 2023. [Online]. Available: https://pytorch.org/tutorials/beginner/fgsm_tutorial.html</a:t>
            </a:r>
          </a:p>
          <a:p>
            <a:pPr>
              <a:buNone/>
            </a:pPr>
            <a:r>
              <a:rPr lang="en-US" dirty="0"/>
              <a:t>[6] TensorFlow, "Adversarial Examples using FGSM," </a:t>
            </a:r>
            <a:r>
              <a:rPr lang="en-US" i="1" dirty="0"/>
              <a:t>TensorFlow Tutorials</a:t>
            </a:r>
            <a:r>
              <a:rPr lang="en-US" dirty="0"/>
              <a:t>, 2023. [Online]. Available: https://www.tensorflow.org/tutorials/generative/adversarial_fgsm</a:t>
            </a:r>
          </a:p>
          <a:p>
            <a:pPr marL="0" indent="0">
              <a:buNone/>
            </a:pPr>
            <a:r>
              <a:rPr lang="en-US" dirty="0"/>
              <a:t>[7] N. </a:t>
            </a:r>
            <a:r>
              <a:rPr lang="en-US" dirty="0" err="1"/>
              <a:t>Papernot</a:t>
            </a:r>
            <a:r>
              <a:rPr lang="en-US" dirty="0"/>
              <a:t> et al., "</a:t>
            </a:r>
            <a:r>
              <a:rPr lang="en-US" dirty="0" err="1"/>
              <a:t>CleverHans</a:t>
            </a:r>
            <a:r>
              <a:rPr lang="en-US" dirty="0"/>
              <a:t>: An adversarial example library for constructing attacks and defenses," </a:t>
            </a:r>
            <a:r>
              <a:rPr lang="en-US" i="1" dirty="0"/>
              <a:t>GitHub Repository</a:t>
            </a:r>
            <a:r>
              <a:rPr lang="en-US" dirty="0"/>
              <a:t>, 2017. [Online]. Available: </a:t>
            </a:r>
            <a:r>
              <a:rPr lang="en-US" dirty="0">
                <a:hlinkClick r:id="rId5"/>
              </a:rPr>
              <a:t>https://github.com/cleverhans-lab/cleverhans</a:t>
            </a:r>
            <a:endParaRPr lang="en-US" dirty="0"/>
          </a:p>
          <a:p>
            <a:pPr>
              <a:buNone/>
            </a:pPr>
            <a:r>
              <a:rPr lang="en-US" dirty="0"/>
              <a:t>[8] A. Madry, A. </a:t>
            </a:r>
            <a:r>
              <a:rPr lang="en-US" dirty="0" err="1"/>
              <a:t>Makelov</a:t>
            </a:r>
            <a:r>
              <a:rPr lang="en-US" dirty="0"/>
              <a:t>, L. Schmidt, D. Tsipras, and A. Vladu, "Towards Deep Learning Models Resistant to Adversarial Attacks," </a:t>
            </a:r>
            <a:r>
              <a:rPr lang="en-US" i="1" dirty="0" err="1"/>
              <a:t>arXiv</a:t>
            </a:r>
            <a:r>
              <a:rPr lang="en-US" i="1" dirty="0"/>
              <a:t> preprint arXiv:1706.06083</a:t>
            </a:r>
            <a:r>
              <a:rPr lang="en-US" dirty="0"/>
              <a:t>, 2018. [Online]. Available: </a:t>
            </a:r>
            <a:r>
              <a:rPr lang="en-US" dirty="0">
                <a:hlinkClick r:id="rId6"/>
              </a:rPr>
              <a:t>https://arxiv.org/abs/1706.06083</a:t>
            </a:r>
            <a:endParaRPr lang="en-US" dirty="0"/>
          </a:p>
          <a:p>
            <a:pPr>
              <a:buNone/>
            </a:pPr>
            <a:r>
              <a:rPr lang="en-US" dirty="0"/>
              <a:t>[9] N. </a:t>
            </a:r>
            <a:r>
              <a:rPr lang="en-US" dirty="0" err="1"/>
              <a:t>Papernot</a:t>
            </a:r>
            <a:r>
              <a:rPr lang="en-US" dirty="0"/>
              <a:t>, P. McDaniel, X. Wu, S. Jha, and A. Swami, "Distillation as a Defense to Adversarial Perturbations Against Deep Neural Networks," </a:t>
            </a:r>
            <a:r>
              <a:rPr lang="en-US" i="1" dirty="0" err="1"/>
              <a:t>arXiv</a:t>
            </a:r>
            <a:r>
              <a:rPr lang="en-US" i="1" dirty="0"/>
              <a:t> preprint arXiv:1511.04508</a:t>
            </a:r>
            <a:r>
              <a:rPr lang="en-US" dirty="0"/>
              <a:t>, 2016. [Online]. Available: </a:t>
            </a:r>
            <a:r>
              <a:rPr lang="en-US" dirty="0">
                <a:hlinkClick r:id="rId7"/>
              </a:rPr>
              <a:t>https://arxiv.org/abs/1511.04508</a:t>
            </a:r>
            <a:endParaRPr lang="en-US" dirty="0"/>
          </a:p>
          <a:p>
            <a:pPr>
              <a:buNone/>
            </a:pPr>
            <a:r>
              <a:rPr lang="en-US" dirty="0"/>
              <a:t>[10] W. Xu, D. Evans, and Y. Qi, "Feature Squeezing: Detecting Adversarial Examples in Deep Neural Networks," </a:t>
            </a:r>
            <a:r>
              <a:rPr lang="en-US" i="1" dirty="0" err="1"/>
              <a:t>arXiv</a:t>
            </a:r>
            <a:r>
              <a:rPr lang="en-US" i="1" dirty="0"/>
              <a:t> preprint arXiv:1704.01155</a:t>
            </a:r>
            <a:r>
              <a:rPr lang="en-US" dirty="0"/>
              <a:t>, 2017. [Online]. Available: </a:t>
            </a:r>
            <a:r>
              <a:rPr lang="en-US" dirty="0">
                <a:hlinkClick r:id="rId8"/>
              </a:rPr>
              <a:t>https://arxiv.org/abs/1704.01155</a:t>
            </a:r>
            <a:endParaRPr lang="en-US" dirty="0"/>
          </a:p>
          <a:p>
            <a:pPr marL="0" indent="0">
              <a:buNone/>
            </a:pPr>
            <a:r>
              <a:rPr lang="en-US" dirty="0"/>
              <a:t>[11] IBM, "Adversarial Robustness Toolbox (ART)," </a:t>
            </a:r>
            <a:r>
              <a:rPr lang="en-US" i="1" dirty="0"/>
              <a:t>Trusted AI GitHub Repository</a:t>
            </a:r>
            <a:r>
              <a:rPr lang="en-US" dirty="0"/>
              <a:t>, 2023. [Online]. Available: </a:t>
            </a:r>
            <a:r>
              <a:rPr lang="en-US" dirty="0">
                <a:hlinkClick r:id="rId9"/>
              </a:rPr>
              <a:t>https://github.com/Trusted-AI/adversarial-robustness-toolbox</a:t>
            </a:r>
            <a:endParaRPr lang="en-US" dirty="0"/>
          </a:p>
          <a:p>
            <a:pPr marL="0" indent="0">
              <a:buNone/>
            </a:pPr>
            <a:endParaRPr lang="en-US" dirty="0"/>
          </a:p>
        </p:txBody>
      </p:sp>
      <p:sp>
        <p:nvSpPr>
          <p:cNvPr id="5" name="Footer Placeholder 3">
            <a:extLst>
              <a:ext uri="{FF2B5EF4-FFF2-40B4-BE49-F238E27FC236}">
                <a16:creationId xmlns:a16="http://schemas.microsoft.com/office/drawing/2014/main" id="{990AB89C-2D5D-AE12-5C04-790F4A9D3DCE}"/>
              </a:ext>
            </a:extLst>
          </p:cNvPr>
          <p:cNvSpPr>
            <a:spLocks noGrp="1"/>
          </p:cNvSpPr>
          <p:nvPr>
            <p:ph type="ftr" sz="quarter" idx="11"/>
          </p:nvPr>
        </p:nvSpPr>
        <p:spPr>
          <a:xfrm>
            <a:off x="4038600" y="6356350"/>
            <a:ext cx="4114800" cy="365125"/>
          </a:xfrm>
        </p:spPr>
        <p:txBody>
          <a:bodyPr/>
          <a:lstStyle/>
          <a:p>
            <a:r>
              <a:rPr lang="en-US" dirty="0"/>
              <a:t>FGSM Attack Model</a:t>
            </a:r>
          </a:p>
        </p:txBody>
      </p:sp>
    </p:spTree>
    <p:extLst>
      <p:ext uri="{BB962C8B-B14F-4D97-AF65-F5344CB8AC3E}">
        <p14:creationId xmlns:p14="http://schemas.microsoft.com/office/powerpoint/2010/main" val="1961882113"/>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Funky shapes dark</Template>
  <TotalTime>18827</TotalTime>
  <Words>2681</Words>
  <Application>Microsoft Office PowerPoint</Application>
  <PresentationFormat>Widescreen</PresentationFormat>
  <Paragraphs>225</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Source Sans Pro</vt:lpstr>
      <vt:lpstr>FunkyShapesDarkVTI</vt:lpstr>
      <vt:lpstr> Fast Gradient Sign Method (FGSM) Adversarial Attack Against Intrusion Detection System </vt:lpstr>
      <vt:lpstr>Problem Statement</vt:lpstr>
      <vt:lpstr>Neural Network Victim Model</vt:lpstr>
      <vt:lpstr>Specifications</vt:lpstr>
      <vt:lpstr>Cybersecurity Intrusion Detection Dataset</vt:lpstr>
      <vt:lpstr>Cybersecurity Intrusion Detection Dataset</vt:lpstr>
      <vt:lpstr>Cybersecurity Intrusion Detection Dataset</vt:lpstr>
      <vt:lpstr>Methods to Load and Process Train and Test Dataset with Feature Engineering</vt:lpstr>
      <vt:lpstr>Define the Intrusion Detection Model</vt:lpstr>
      <vt:lpstr>Train the Intrusion Detection Model</vt:lpstr>
      <vt:lpstr>Evaluate the Intrusion Detection Model on Test Data</vt:lpstr>
      <vt:lpstr>Error Analysis -  Neural Network Victim Model</vt:lpstr>
      <vt:lpstr>FGSM Attack Model</vt:lpstr>
      <vt:lpstr>Define the FGSM Attack Model</vt:lpstr>
      <vt:lpstr>Evaluate the FGSM Attack Model</vt:lpstr>
      <vt:lpstr>Error Analysis – FGSM Attack Model</vt:lpstr>
      <vt:lpstr>Error Analysis – FGSM Attack Model</vt:lpstr>
      <vt:lpstr>Mitigations Techniques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Gregory Mamoyac</dc:creator>
  <cp:lastModifiedBy>Gregory Mamoyac</cp:lastModifiedBy>
  <cp:revision>15</cp:revision>
  <dcterms:created xsi:type="dcterms:W3CDTF">2025-07-01T18:30:37Z</dcterms:created>
  <dcterms:modified xsi:type="dcterms:W3CDTF">2025-08-05T23:43:22Z</dcterms:modified>
</cp:coreProperties>
</file>