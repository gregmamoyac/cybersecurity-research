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7" r:id="rId6"/>
    <p:sldId id="289" r:id="rId7"/>
    <p:sldId id="266" r:id="rId8"/>
    <p:sldId id="290" r:id="rId9"/>
    <p:sldId id="295" r:id="rId10"/>
    <p:sldId id="282" r:id="rId11"/>
    <p:sldId id="261" r:id="rId12"/>
    <p:sldId id="26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145" autoAdjust="0"/>
  </p:normalViewPr>
  <p:slideViewPr>
    <p:cSldViewPr snapToGrid="0">
      <p:cViewPr varScale="1">
        <p:scale>
          <a:sx n="70" d="100"/>
          <a:sy n="70" d="100"/>
        </p:scale>
        <p:origin x="84" y="13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Segoe Pro" panose="020B05020405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12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559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430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Segoe Pro" panose="020B05020405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28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575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Segoe Pro" panose="020B05020405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118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879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99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Analysis and Explanation of CVE-2021-44228 Log4j Remote Code Execution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5713" y="4464687"/>
            <a:ext cx="4941771" cy="1122202"/>
          </a:xfrm>
        </p:spPr>
        <p:txBody>
          <a:bodyPr/>
          <a:lstStyle/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1204" y="5595014"/>
            <a:ext cx="4941770" cy="10078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Gregory Mamoyac </a:t>
            </a:r>
          </a:p>
          <a:p>
            <a:r>
              <a:rPr lang="en-US" dirty="0"/>
              <a:t>Cyber 204 Software Security</a:t>
            </a:r>
          </a:p>
          <a:p>
            <a:r>
              <a:rPr lang="en-US" dirty="0"/>
              <a:t>Professor Jennia Hizvver 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75" y="376671"/>
            <a:ext cx="5831130" cy="1325563"/>
          </a:xfrm>
        </p:spPr>
        <p:txBody>
          <a:bodyPr>
            <a:normAutofit/>
          </a:bodyPr>
          <a:lstStyle/>
          <a:p>
            <a:r>
              <a:rPr lang="en-US" dirty="0"/>
              <a:t>Background of apache log4j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670" y="2302626"/>
            <a:ext cx="5598500" cy="247722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Apache Log4j is an open-source logging framework written in 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Apache Log4j is used to log security and performance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Apache Log4j includes rich set of components such as Appenders, Layouts, Filters, and Lookups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Apache Log4j is very broadly used in a variety of consumer and enterprise services, websites, and applications—as well as in operational technology products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DF4A0B1-3526-4BDC-9EB4-6EE1981F2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385" y="2838156"/>
            <a:ext cx="2858920" cy="1181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87" y="4920749"/>
            <a:ext cx="4864331" cy="1325563"/>
          </a:xfrm>
        </p:spPr>
        <p:txBody>
          <a:bodyPr>
            <a:normAutofit/>
          </a:bodyPr>
          <a:lstStyle/>
          <a:p>
            <a:r>
              <a:rPr lang="en-US" dirty="0"/>
              <a:t>Summary of Exploitation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C5F11A7E-6682-F2E2-8101-882358E37B2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984676" y="951778"/>
            <a:ext cx="5598500" cy="24772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Apache Log4j involves an exploit where an attacker could control log messages or log parameters to enable arbitrary execution and further remote code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Pro" panose="020B05020405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Apache Log4j versions through 2.15.0 contained JNDI features used in configuration, log messages, and parameters did not protect against attacker-controlled LDAP and other JNDI related endpoints.</a:t>
            </a:r>
          </a:p>
          <a:p>
            <a:endParaRPr lang="en-US" sz="2000" dirty="0">
              <a:latin typeface="Segoe Pro" panose="020B05020405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No authentication was required for access into backend and the widespread prevalence in public-facing systems justified that Log4j CVE-2021-44228 was given the highest CVSS base score of 10.0 Critical</a:t>
            </a:r>
          </a:p>
        </p:txBody>
      </p:sp>
      <p:pic>
        <p:nvPicPr>
          <p:cNvPr id="1026" name="Picture 2" descr="Log4J: A Look into Threat Actors Exploitation Attempts | Cato Networks">
            <a:extLst>
              <a:ext uri="{FF2B5EF4-FFF2-40B4-BE49-F238E27FC236}">
                <a16:creationId xmlns:a16="http://schemas.microsoft.com/office/drawing/2014/main" id="{A9420292-079F-17C6-5725-3EACE67A7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541" y="2286659"/>
            <a:ext cx="3452936" cy="2284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008" y="215444"/>
            <a:ext cx="8421688" cy="1325563"/>
          </a:xfrm>
        </p:spPr>
        <p:txBody>
          <a:bodyPr/>
          <a:lstStyle/>
          <a:p>
            <a:r>
              <a:rPr lang="en-US" dirty="0"/>
              <a:t>Proof of concept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7904" y="817529"/>
            <a:ext cx="7070902" cy="823912"/>
          </a:xfrm>
        </p:spPr>
        <p:txBody>
          <a:bodyPr/>
          <a:lstStyle/>
          <a:p>
            <a:r>
              <a:rPr lang="en-US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CWE-502: Deserialization of Untrusted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7120" y="1716347"/>
            <a:ext cx="9805896" cy="22426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Segoe Pro" panose="020B0502040504020203" pitchFamily="34" charset="0"/>
                <a:cs typeface="Segoe UI" panose="020B0502040204020203" pitchFamily="34" charset="0"/>
              </a:rPr>
              <a:t>The attacker can exploit the systems that process and deserialize user inputs without validation.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Segoe Pro" panose="020B0502040504020203" pitchFamily="34" charset="0"/>
                <a:cs typeface="Segoe UI" panose="020B0502040204020203" pitchFamily="34" charset="0"/>
              </a:rPr>
              <a:t>Log4j servers would deserialize any log events received from other applications through TCP or UDP – to promote flexible user experience.</a:t>
            </a:r>
          </a:p>
          <a:p>
            <a:endParaRPr lang="en-US" noProof="1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5AB67F-A5C7-0D6B-92EC-A941C8A48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04" y="3485352"/>
            <a:ext cx="6609870" cy="18691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1F3592-5AB0-7F88-2540-9C96ACD3C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965" y="3501281"/>
            <a:ext cx="5050494" cy="1532466"/>
          </a:xfrm>
          <a:prstGeom prst="rect">
            <a:avLst/>
          </a:prstGeom>
        </p:spPr>
      </p:pic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1AB19688-B697-4665-01CE-F58AAC7F61CA}"/>
              </a:ext>
            </a:extLst>
          </p:cNvPr>
          <p:cNvSpPr txBox="1">
            <a:spLocks/>
          </p:cNvSpPr>
          <p:nvPr/>
        </p:nvSpPr>
        <p:spPr>
          <a:xfrm>
            <a:off x="2499000" y="5714449"/>
            <a:ext cx="794569" cy="28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EXPLOIT</a:t>
            </a:r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08E47A58-268E-B3A0-178F-660541FB16DB}"/>
              </a:ext>
            </a:extLst>
          </p:cNvPr>
          <p:cNvSpPr txBox="1">
            <a:spLocks/>
          </p:cNvSpPr>
          <p:nvPr/>
        </p:nvSpPr>
        <p:spPr>
          <a:xfrm>
            <a:off x="8898433" y="5714448"/>
            <a:ext cx="1000107" cy="28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REMEDIATION</a:t>
            </a: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D8A4DC-ECAA-4D59-BE12-EBEDDE9E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FC0B64-8F13-426F-B6C5-9C9427AC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DE260101-3C16-986B-CF23-41F4EEEDC55A}"/>
              </a:ext>
            </a:extLst>
          </p:cNvPr>
          <p:cNvSpPr txBox="1">
            <a:spLocks/>
          </p:cNvSpPr>
          <p:nvPr/>
        </p:nvSpPr>
        <p:spPr>
          <a:xfrm>
            <a:off x="1539698" y="1269669"/>
            <a:ext cx="7070902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cap="all" spc="150" dirty="0">
                <a:latin typeface="Segoe Pro" panose="020B0502040504020203" pitchFamily="34" charset="0"/>
                <a:cs typeface="Segoe UI" panose="020B0502040204020203" pitchFamily="34" charset="0"/>
              </a:rPr>
              <a:t>CWE-20: Improper Input Validation</a:t>
            </a:r>
          </a:p>
        </p:txBody>
      </p:sp>
      <p:sp>
        <p:nvSpPr>
          <p:cNvPr id="65" name="Content Placeholder 6">
            <a:extLst>
              <a:ext uri="{FF2B5EF4-FFF2-40B4-BE49-F238E27FC236}">
                <a16:creationId xmlns:a16="http://schemas.microsoft.com/office/drawing/2014/main" id="{C3CB4B14-2C81-C4F4-02A6-9BA50A87A2C7}"/>
              </a:ext>
            </a:extLst>
          </p:cNvPr>
          <p:cNvSpPr txBox="1">
            <a:spLocks/>
          </p:cNvSpPr>
          <p:nvPr/>
        </p:nvSpPr>
        <p:spPr>
          <a:xfrm>
            <a:off x="1207120" y="1710971"/>
            <a:ext cx="9974708" cy="14971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</a:pPr>
            <a:r>
              <a:rPr lang="en-US" sz="1800" spc="50" dirty="0">
                <a:latin typeface="Segoe Pro" panose="020B0502040504020203" pitchFamily="34" charset="0"/>
                <a:cs typeface="Segoe UI" panose="020B0502040204020203" pitchFamily="34" charset="0"/>
              </a:rPr>
              <a:t>The attacker can exploit any application that does not validate or incorrectly validates the input for the correct and safe properties</a:t>
            </a:r>
          </a:p>
          <a:p>
            <a:pPr marL="285750" indent="-285750">
              <a:lnSpc>
                <a:spcPct val="120000"/>
              </a:lnSpc>
            </a:pPr>
            <a:r>
              <a:rPr lang="en-US" sz="1800" spc="50" dirty="0">
                <a:latin typeface="Segoe Pro" panose="020B0502040504020203" pitchFamily="34" charset="0"/>
                <a:cs typeface="Segoe UI" panose="020B0502040204020203" pitchFamily="34" charset="0"/>
              </a:rPr>
              <a:t> Log4j is a general-purpose logging product that needs to accept log messages with arbitrary contents since the messages will vary widely</a:t>
            </a:r>
          </a:p>
          <a:p>
            <a:pPr marL="285750" indent="-285750">
              <a:lnSpc>
                <a:spcPct val="120000"/>
              </a:lnSpc>
            </a:pPr>
            <a:r>
              <a:rPr lang="en-US" sz="1800" spc="50" dirty="0">
                <a:latin typeface="Segoe Pro" panose="020B0502040504020203" pitchFamily="34" charset="0"/>
                <a:cs typeface="Segoe UI" panose="020B0502040204020203" pitchFamily="34" charset="0"/>
              </a:rPr>
              <a:t>Metacharacters such as $, [ ], { } were able to trick the Log4j system into executing functions</a:t>
            </a:r>
          </a:p>
          <a:p>
            <a:pPr marL="0" indent="0">
              <a:buNone/>
            </a:pPr>
            <a:endParaRPr lang="en-US" sz="1800" dirty="0">
              <a:latin typeface="Segoe Pro" panose="020B05020405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52014CC3-C4A0-52C8-15CC-34B6350B1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95" y="4147826"/>
            <a:ext cx="6200046" cy="1497141"/>
          </a:xfrm>
          <a:prstGeom prst="rect">
            <a:avLst/>
          </a:prstGeom>
        </p:spPr>
      </p:pic>
      <p:sp>
        <p:nvSpPr>
          <p:cNvPr id="68" name="Text Placeholder 24">
            <a:extLst>
              <a:ext uri="{FF2B5EF4-FFF2-40B4-BE49-F238E27FC236}">
                <a16:creationId xmlns:a16="http://schemas.microsoft.com/office/drawing/2014/main" id="{916D2CD8-BF6D-F606-8EBB-D839DFA848BD}"/>
              </a:ext>
            </a:extLst>
          </p:cNvPr>
          <p:cNvSpPr txBox="1">
            <a:spLocks/>
          </p:cNvSpPr>
          <p:nvPr/>
        </p:nvSpPr>
        <p:spPr>
          <a:xfrm>
            <a:off x="2652017" y="6073576"/>
            <a:ext cx="794569" cy="28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EXPLOIT</a:t>
            </a:r>
          </a:p>
        </p:txBody>
      </p:sp>
      <p:sp>
        <p:nvSpPr>
          <p:cNvPr id="69" name="Text Placeholder 24">
            <a:extLst>
              <a:ext uri="{FF2B5EF4-FFF2-40B4-BE49-F238E27FC236}">
                <a16:creationId xmlns:a16="http://schemas.microsoft.com/office/drawing/2014/main" id="{8E830009-675B-4BA6-BD75-6D5222D89C32}"/>
              </a:ext>
            </a:extLst>
          </p:cNvPr>
          <p:cNvSpPr txBox="1">
            <a:spLocks/>
          </p:cNvSpPr>
          <p:nvPr/>
        </p:nvSpPr>
        <p:spPr>
          <a:xfrm>
            <a:off x="8855484" y="6074409"/>
            <a:ext cx="1000107" cy="28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REMEDIATION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9537A867-9C41-A4C6-7930-6726DFD32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008" y="215444"/>
            <a:ext cx="8421688" cy="1325563"/>
          </a:xfrm>
        </p:spPr>
        <p:txBody>
          <a:bodyPr/>
          <a:lstStyle/>
          <a:p>
            <a:r>
              <a:rPr lang="en-US" dirty="0"/>
              <a:t>Proof of concept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0C2A2F5-9BC4-6878-BC3E-080D611D3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041" y="4147826"/>
            <a:ext cx="5364991" cy="153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2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467AF63-14FA-3357-55C0-523C45E1A4F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3995219" y="6398553"/>
            <a:ext cx="4216112" cy="365125"/>
          </a:xfrm>
        </p:spPr>
        <p:txBody>
          <a:bodyPr/>
          <a:lstStyle/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11BC8FE-1DD6-5303-EE26-9DF765D8649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740" y="284299"/>
            <a:ext cx="5431971" cy="846301"/>
          </a:xfrm>
        </p:spPr>
        <p:txBody>
          <a:bodyPr/>
          <a:lstStyle/>
          <a:p>
            <a:r>
              <a:rPr lang="en-US" dirty="0"/>
              <a:t>Proof of concept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3883EC-F4D8-9E3A-7868-6B2DAB971D5F}"/>
              </a:ext>
            </a:extLst>
          </p:cNvPr>
          <p:cNvSpPr txBox="1">
            <a:spLocks/>
          </p:cNvSpPr>
          <p:nvPr/>
        </p:nvSpPr>
        <p:spPr>
          <a:xfrm>
            <a:off x="2617422" y="1263494"/>
            <a:ext cx="8572485" cy="4702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cap="all" spc="150" dirty="0">
                <a:latin typeface="Segoe Pro" panose="020B0502040504020203" pitchFamily="34" charset="0"/>
                <a:cs typeface="Segoe UI" panose="020B0502040204020203" pitchFamily="34" charset="0"/>
              </a:rPr>
              <a:t>CWE-917: Improper Neutralization of Special Elements used in an Expression Language Statement</a:t>
            </a:r>
          </a:p>
        </p:txBody>
      </p: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4D1BF266-C247-A35E-2B21-FB4881A8CD74}"/>
              </a:ext>
            </a:extLst>
          </p:cNvPr>
          <p:cNvSpPr txBox="1">
            <a:spLocks/>
          </p:cNvSpPr>
          <p:nvPr/>
        </p:nvSpPr>
        <p:spPr>
          <a:xfrm>
            <a:off x="2569127" y="1943289"/>
            <a:ext cx="7456448" cy="219260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attacker can inject executable expressions using the “${xyz}” style format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Should these characters be made available, the JNDI method lookup can be called to find strings for the characters ${ } and those corresponding values</a:t>
            </a:r>
          </a:p>
          <a:p>
            <a:endParaRPr lang="en-US" noProof="1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28511FE-449D-D128-F446-0CD41FF73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153" y="4588034"/>
            <a:ext cx="5688618" cy="1152332"/>
          </a:xfrm>
          <a:prstGeom prst="rect">
            <a:avLst/>
          </a:prstGeom>
        </p:spPr>
      </p:pic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B6DB7557-AFD6-6E69-B2FE-67A194510CAA}"/>
              </a:ext>
            </a:extLst>
          </p:cNvPr>
          <p:cNvSpPr txBox="1">
            <a:spLocks/>
          </p:cNvSpPr>
          <p:nvPr/>
        </p:nvSpPr>
        <p:spPr>
          <a:xfrm>
            <a:off x="5943603" y="5809843"/>
            <a:ext cx="794569" cy="28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EXPLOIT</a:t>
            </a:r>
          </a:p>
        </p:txBody>
      </p:sp>
    </p:spTree>
    <p:extLst>
      <p:ext uri="{BB962C8B-B14F-4D97-AF65-F5344CB8AC3E}">
        <p14:creationId xmlns:p14="http://schemas.microsoft.com/office/powerpoint/2010/main" val="626610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08A03-6EC3-48BE-9D18-5A746D09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68410-BE8A-4C98-9C72-20D0A2A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E388151A-7413-6525-2F58-9C8AFD0614A6}"/>
              </a:ext>
            </a:extLst>
          </p:cNvPr>
          <p:cNvSpPr txBox="1">
            <a:spLocks/>
          </p:cNvSpPr>
          <p:nvPr/>
        </p:nvSpPr>
        <p:spPr>
          <a:xfrm>
            <a:off x="1485900" y="1281879"/>
            <a:ext cx="7433502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cap="all" spc="150" dirty="0">
                <a:latin typeface="Segoe Pro" panose="020B0502040504020203" pitchFamily="34" charset="0"/>
                <a:cs typeface="Segoe UI" panose="020B0502040204020203" pitchFamily="34" charset="0"/>
              </a:rPr>
              <a:t>CWE-400: Uncontrolled Resource Consumption </a:t>
            </a:r>
          </a:p>
        </p:txBody>
      </p:sp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1CA5ACB7-71FC-F2AE-28B4-4033F531E3C5}"/>
              </a:ext>
            </a:extLst>
          </p:cNvPr>
          <p:cNvSpPr txBox="1">
            <a:spLocks/>
          </p:cNvSpPr>
          <p:nvPr/>
        </p:nvSpPr>
        <p:spPr>
          <a:xfrm>
            <a:off x="1195755" y="1701344"/>
            <a:ext cx="10462625" cy="14971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40000"/>
              </a:lnSpc>
            </a:pPr>
            <a:r>
              <a:rPr lang="en-US" sz="1900" dirty="0">
                <a:latin typeface="Segoe Pro" panose="020B0502040504020203" pitchFamily="34" charset="0"/>
                <a:cs typeface="Segoe UI" panose="020B0502040204020203" pitchFamily="34" charset="0"/>
              </a:rPr>
              <a:t>The attacker can influence the amount of resources consumed, eventually leading to the exhaustion of available resources</a:t>
            </a:r>
          </a:p>
          <a:p>
            <a:pPr marL="285750" indent="-285750">
              <a:lnSpc>
                <a:spcPct val="140000"/>
              </a:lnSpc>
            </a:pPr>
            <a:r>
              <a:rPr lang="en-US" sz="1900" dirty="0">
                <a:latin typeface="Segoe Pro" panose="020B0502040504020203" pitchFamily="34" charset="0"/>
                <a:cs typeface="Segoe UI" panose="020B0502040204020203" pitchFamily="34" charset="0"/>
              </a:rPr>
              <a:t>JNDI is used to fetch resources and the consumption limits and resource allocation were not set by default</a:t>
            </a:r>
          </a:p>
          <a:p>
            <a:pPr marL="0" indent="0">
              <a:buNone/>
            </a:pPr>
            <a:endParaRPr lang="en-US" sz="1800" dirty="0">
              <a:latin typeface="Segoe Pro" panose="020B05020405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C057375-C9EA-5339-DC6A-FB90076CA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658" y="3847783"/>
            <a:ext cx="6352206" cy="181569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1A346BF-EC77-D202-A5B5-76E682CE0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02" y="3795678"/>
            <a:ext cx="5536137" cy="1189018"/>
          </a:xfrm>
          <a:prstGeom prst="rect">
            <a:avLst/>
          </a:prstGeom>
        </p:spPr>
      </p:pic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59257937-0C68-75A7-8D72-BBF435D23081}"/>
              </a:ext>
            </a:extLst>
          </p:cNvPr>
          <p:cNvSpPr txBox="1">
            <a:spLocks/>
          </p:cNvSpPr>
          <p:nvPr/>
        </p:nvSpPr>
        <p:spPr>
          <a:xfrm>
            <a:off x="2497269" y="5904762"/>
            <a:ext cx="794569" cy="28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EXPLOIT</a:t>
            </a:r>
          </a:p>
        </p:txBody>
      </p:sp>
      <p:sp>
        <p:nvSpPr>
          <p:cNvPr id="49" name="Text Placeholder 24">
            <a:extLst>
              <a:ext uri="{FF2B5EF4-FFF2-40B4-BE49-F238E27FC236}">
                <a16:creationId xmlns:a16="http://schemas.microsoft.com/office/drawing/2014/main" id="{5EEF29BF-A549-F6E6-940C-B64A40B038B2}"/>
              </a:ext>
            </a:extLst>
          </p:cNvPr>
          <p:cNvSpPr txBox="1">
            <a:spLocks/>
          </p:cNvSpPr>
          <p:nvPr/>
        </p:nvSpPr>
        <p:spPr>
          <a:xfrm>
            <a:off x="8700736" y="5905595"/>
            <a:ext cx="1000107" cy="28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REMEDIATION</a:t>
            </a: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A7621ECA-3C0B-8575-C0A9-6ED2ACC0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029" y="201015"/>
            <a:ext cx="8421688" cy="1325563"/>
          </a:xfrm>
        </p:spPr>
        <p:txBody>
          <a:bodyPr/>
          <a:lstStyle/>
          <a:p>
            <a:pPr algn="ctr"/>
            <a:r>
              <a:rPr lang="en-US" dirty="0"/>
              <a:t>Proof of concept</a:t>
            </a:r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504" y="576789"/>
            <a:ext cx="4082142" cy="585788"/>
          </a:xfrm>
        </p:spPr>
        <p:txBody>
          <a:bodyPr>
            <a:normAutofit fontScale="90000"/>
          </a:bodyPr>
          <a:lstStyle/>
          <a:p>
            <a:r>
              <a:rPr lang="en-US" dirty="0"/>
              <a:t>Remediation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3" y="1232917"/>
            <a:ext cx="3898447" cy="12014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CWE-502: Deserialization of Untrusted Data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>
            <a:normAutofit/>
          </a:bodyPr>
          <a:lstStyle/>
          <a:p>
            <a:pPr marL="457200" lvl="1" indent="0">
              <a:spcAft>
                <a:spcPts val="1000"/>
              </a:spcAft>
              <a:buNone/>
            </a:pPr>
            <a:r>
              <a:rPr lang="en-US" sz="16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Hash-based message authentication code (HMAC) could be used to ensure that data has not been modified.</a:t>
            </a:r>
          </a:p>
          <a:p>
            <a:endParaRPr lang="en-US" sz="1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/>
          <a:lstStyle/>
          <a:p>
            <a:r>
              <a:rPr lang="en-US" sz="1600" dirty="0"/>
              <a:t>Assume all input is malicious. Use a list of acceptable inputs that strictly conform to specifications 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>
            <a:normAutofit/>
          </a:bodyPr>
          <a:lstStyle/>
          <a:p>
            <a:r>
              <a:rPr lang="en-US" sz="1600" dirty="0"/>
              <a:t>Validate and encode the user input in a way that ensures it is not evaluated as an expression.</a:t>
            </a:r>
          </a:p>
          <a:p>
            <a:endParaRPr lang="en-US" sz="16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/>
          <a:lstStyle/>
          <a:p>
            <a:r>
              <a:rPr lang="en-US" sz="1600" dirty="0"/>
              <a:t>Implement Throttling for number of resources to limit the amount of resources that can be expended</a:t>
            </a:r>
          </a:p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0480" y="6356350"/>
            <a:ext cx="4124055" cy="365125"/>
          </a:xfrm>
        </p:spPr>
        <p:txBody>
          <a:bodyPr/>
          <a:lstStyle/>
          <a:p>
            <a:pPr algn="ctr"/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3246283-8BD3-54CB-F773-346DEF96BE1C}"/>
              </a:ext>
            </a:extLst>
          </p:cNvPr>
          <p:cNvSpPr txBox="1">
            <a:spLocks/>
          </p:cNvSpPr>
          <p:nvPr/>
        </p:nvSpPr>
        <p:spPr>
          <a:xfrm>
            <a:off x="148314" y="2487895"/>
            <a:ext cx="3898447" cy="820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CWE-502: Improper input validation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A087D88-E23F-1247-1436-BD84F91037E3}"/>
              </a:ext>
            </a:extLst>
          </p:cNvPr>
          <p:cNvSpPr txBox="1">
            <a:spLocks/>
          </p:cNvSpPr>
          <p:nvPr/>
        </p:nvSpPr>
        <p:spPr>
          <a:xfrm>
            <a:off x="148312" y="3496496"/>
            <a:ext cx="4578433" cy="983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CWE-917: Improper Neutralization of Special Elements used in an Expression Language Statement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BB3E259-94F3-89A5-292A-89B0BAC627C2}"/>
              </a:ext>
            </a:extLst>
          </p:cNvPr>
          <p:cNvSpPr txBox="1">
            <a:spLocks/>
          </p:cNvSpPr>
          <p:nvPr/>
        </p:nvSpPr>
        <p:spPr>
          <a:xfrm>
            <a:off x="162381" y="4644610"/>
            <a:ext cx="4564364" cy="820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latin typeface="Segoe Pro" panose="020B05020405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CWE-400: UNCONTROLLED RESOURCE CONSUMPTION</a:t>
            </a:r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40" y="0"/>
            <a:ext cx="7359895" cy="1204912"/>
          </a:xfrm>
        </p:spPr>
        <p:txBody>
          <a:bodyPr>
            <a:normAutofit/>
          </a:bodyPr>
          <a:lstStyle/>
          <a:p>
            <a:r>
              <a:rPr lang="en-US" dirty="0"/>
              <a:t>Closing Remarks for cve-2021-44228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640" y="1826870"/>
            <a:ext cx="7359895" cy="27822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Pro" panose="020B0502040504020203" pitchFamily="34" charset="0"/>
                <a:cs typeface="Segoe UI" panose="020B0502040204020203" pitchFamily="34" charset="0"/>
              </a:rPr>
              <a:t>Implement strong authentication and access control models in code can prevent unauthorized attacks and huge losses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Pro" panose="020B0502040504020203" pitchFamily="34" charset="0"/>
                <a:cs typeface="Segoe UI" panose="020B0502040204020203" pitchFamily="34" charset="0"/>
              </a:rPr>
              <a:t>Apache Log4j had released fixes for the known exploit which were adopted by OS venders and Application developers using the tool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Pro" panose="020B0502040504020203" pitchFamily="34" charset="0"/>
                <a:cs typeface="Segoe UI" panose="020B0502040204020203" pitchFamily="34" charset="0"/>
              </a:rPr>
              <a:t>Patch/Update </a:t>
            </a:r>
          </a:p>
          <a:p>
            <a:pPr marL="742950" lvl="2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Pro" panose="020B0502040504020203" pitchFamily="34" charset="0"/>
                <a:cs typeface="Segoe UI" panose="020B0502040204020203" pitchFamily="34" charset="0"/>
              </a:rPr>
              <a:t>Log4j 2.15.0 disables JNDI features </a:t>
            </a:r>
          </a:p>
          <a:p>
            <a:pPr marL="742950" lvl="2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Pro" panose="020B0502040504020203" pitchFamily="34" charset="0"/>
                <a:cs typeface="Segoe UI" panose="020B0502040204020203" pitchFamily="34" charset="0"/>
              </a:rPr>
              <a:t>Log4j 2.16.0 and on removes JNDI features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11">
            <a:extLst>
              <a:ext uri="{FF2B5EF4-FFF2-40B4-BE49-F238E27FC236}">
                <a16:creationId xmlns:a16="http://schemas.microsoft.com/office/drawing/2014/main" id="{27511224-093B-96B6-4926-C9D36E3326E1}"/>
              </a:ext>
            </a:extLst>
          </p:cNvPr>
          <p:cNvSpPr txBox="1">
            <a:spLocks/>
          </p:cNvSpPr>
          <p:nvPr/>
        </p:nvSpPr>
        <p:spPr>
          <a:xfrm>
            <a:off x="3840480" y="6356350"/>
            <a:ext cx="41240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Analysis and Explanation of CVE-2021-44228 Log4j Remote Code Execution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317587B-1D24-306F-244E-CEEAE3F2A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300" y="3812896"/>
            <a:ext cx="3852600" cy="159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306" y="183870"/>
            <a:ext cx="8421688" cy="1325563"/>
          </a:xfrm>
        </p:spPr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49820" y="1296185"/>
            <a:ext cx="9271197" cy="506016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CLASP, “CWE - CWE-400: Uncontrolled Resource Consumption (3.4.1),” </a:t>
            </a:r>
            <a:r>
              <a:rPr lang="en-US" i="1" dirty="0">
                <a:effectLst/>
              </a:rPr>
              <a:t>Mitre.org</a:t>
            </a:r>
            <a:r>
              <a:rPr lang="en-US" dirty="0">
                <a:effectLst/>
              </a:rPr>
              <a:t>, Jul. 19, 2006. https://cwe.mitre.org/data/definitions/400.html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CWE Program, “Neutralizing Your Inputs: A Log4Shell Weakness Story,” </a:t>
            </a:r>
            <a:r>
              <a:rPr lang="en-US" i="1" dirty="0">
                <a:effectLst/>
              </a:rPr>
              <a:t>Medium</a:t>
            </a:r>
            <a:r>
              <a:rPr lang="en-US" dirty="0">
                <a:effectLst/>
              </a:rPr>
              <a:t>, Dec. 17, 2021. https://medium.com/@CWE_CAPEC/neutralizing-your-inputs-a-log4shell-weakness-story-89954c8b25c9 (accessed Sep. 11, 2024).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D. Amodio and D. Wichers, “CWE - CWE-917: Improper Neutralization of Special Elements used in an Expression Language Statement (‘Expression Language Injection’) (4.13),” </a:t>
            </a:r>
            <a:r>
              <a:rPr lang="en-US" i="1" dirty="0">
                <a:effectLst/>
              </a:rPr>
              <a:t>cwe.mitre.org</a:t>
            </a:r>
            <a:r>
              <a:rPr lang="en-US" dirty="0">
                <a:effectLst/>
              </a:rPr>
              <a:t>, Feb. 15, 2013. https://cwe.mitre.org/data/definitions/917.html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E. Dalci, “CWE - CWE-502: Deserialization of Untrusted Data (4.5),” </a:t>
            </a:r>
            <a:r>
              <a:rPr lang="en-US" i="1" dirty="0">
                <a:effectLst/>
              </a:rPr>
              <a:t>cwe.mitre.org</a:t>
            </a:r>
            <a:r>
              <a:rPr lang="en-US" dirty="0">
                <a:effectLst/>
              </a:rPr>
              <a:t>, Jul. 19, 2006. https://cwe.mitre.org/data/definitions/502.html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E. Dalci, “CWE - CWE-20: Improper Input Validation (3.4.1),” </a:t>
            </a:r>
            <a:r>
              <a:rPr lang="en-US" i="1" dirty="0">
                <a:effectLst/>
              </a:rPr>
              <a:t>Mitre.org</a:t>
            </a:r>
            <a:r>
              <a:rPr lang="en-US" dirty="0">
                <a:effectLst/>
              </a:rPr>
              <a:t>, Jul. 19, 2006. https://cwe.mitre.org/data/definitions/20.html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Debricked Editorial Team, “Detect, fix and prevent Log4Shell in Log4j | Debricked,” </a:t>
            </a:r>
            <a:r>
              <a:rPr lang="en-US" i="1" dirty="0">
                <a:effectLst/>
              </a:rPr>
              <a:t>Debricked</a:t>
            </a:r>
            <a:r>
              <a:rPr lang="en-US" dirty="0">
                <a:effectLst/>
              </a:rPr>
              <a:t>, Mar. 2022. https://debricked.com/blog/how-to-fix-the-log4shell-vulnerability-in-log4j/ (accessed Sep. 11, 2024).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National Vulnerability Database, “NVD - CVE-2021-44228,” </a:t>
            </a:r>
            <a:r>
              <a:rPr lang="en-US" b="0" i="1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nvd.nist.gov</a:t>
            </a:r>
            <a:r>
              <a:rPr lang="en-US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, Dec. 10, 2021. https://nvd.nist.gov/vuln/detail/CVE-2021-44228</a:t>
            </a:r>
            <a:endParaRPr lang="en-US" dirty="0">
              <a:effectLst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T. Yan </a:t>
            </a:r>
            <a:r>
              <a:rPr lang="en-US" i="1" dirty="0">
                <a:effectLst/>
              </a:rPr>
              <a:t>et al.</a:t>
            </a:r>
            <a:r>
              <a:rPr lang="en-US" dirty="0">
                <a:effectLst/>
              </a:rPr>
              <a:t>, “Apache log4j Vulnerability CVE-2021-44228: Analysis and Mitigations,” </a:t>
            </a:r>
            <a:r>
              <a:rPr lang="en-US" i="1" dirty="0">
                <a:effectLst/>
              </a:rPr>
              <a:t>Unit42</a:t>
            </a:r>
            <a:r>
              <a:rPr lang="en-US" dirty="0">
                <a:effectLst/>
              </a:rPr>
              <a:t>, Dec. 10, 2021. https://unit42.paloaltonetworks.com/apache-log4j-vulnerability-cve-2021-44228/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4A37AA9-0BEE-42AC-8CC0-AE5B8663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Analysis and Explanation of CVE-2021-44228 Log4j Remote Code Execution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116</TotalTime>
  <Words>977</Words>
  <Application>Microsoft Office PowerPoint</Application>
  <PresentationFormat>Widescreen</PresentationFormat>
  <Paragraphs>89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Pro</vt:lpstr>
      <vt:lpstr>Tenorite</vt:lpstr>
      <vt:lpstr>Monoline</vt:lpstr>
      <vt:lpstr>Analysis and explanation of cve-2021-44228 Log4j Remote Code Execution</vt:lpstr>
      <vt:lpstr>Background of apache log4j</vt:lpstr>
      <vt:lpstr>Summary of Exploitation</vt:lpstr>
      <vt:lpstr>Proof of concept</vt:lpstr>
      <vt:lpstr>Proof of concept</vt:lpstr>
      <vt:lpstr>Proof of concept</vt:lpstr>
      <vt:lpstr>Proof of concept</vt:lpstr>
      <vt:lpstr>Remediation overview</vt:lpstr>
      <vt:lpstr>Closing Remarks for cve-2021-44228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Mamoyac</dc:creator>
  <cp:lastModifiedBy>Gregory Mamoyac</cp:lastModifiedBy>
  <cp:revision>5</cp:revision>
  <dcterms:created xsi:type="dcterms:W3CDTF">2024-09-19T00:13:31Z</dcterms:created>
  <dcterms:modified xsi:type="dcterms:W3CDTF">2024-09-19T02:19:27Z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